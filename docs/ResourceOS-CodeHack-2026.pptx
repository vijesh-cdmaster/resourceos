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hook, not the category: an institution can prove what it bought and cannot prove how it was used.
Introduce the three of you by what you built, in one clause each. Judges scoring 'team' are really asking whether one person did everything.
Say the data caveat once, early: the tenant on screen is synthetic and labelled. Getting ahead of it costs nothing; being caught costs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thirty seconds: the failure is not that facilities lack a calendar, it is that nobody can answer a capital question with evidence.
The four needs on the right are the real design constraint. The facility manager carries the admin burden, the researcher wants access, the technician absorbs the consequences of a booking nobody checked, and leadership signs the cheque without data.
That is why the product must make the facility manager's day easier first — otherwise nothing else gets adopted.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one-line pitch. Say it once, slowly, then let the three layers below carry the detail.
The strategic trick is in the third layer: the operations data is not only for the facility manager, it is the raw material for a capital decision the Dean can sign. The ops tool pays for itself by producing the capital argument.
Do not oversell: 'safe, calibrated, maintained and properly stocked' is the direction of travel. Today three of those six checks are enforced; the rest are on the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all ten steps. Point at the two that differentiate: eligibility is checked against the scheduled start time, not the request date; and the last two steps are generated from the first eight with no separate reporting data to maintain.
If asked what happens when something breaks mid-flight: maintenance blocks availability and notifies affected users, incidents keep the asset 'under review', and every override carries a written reason into an append-only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two or three of these rather than listing them. The report page and the capital page are the two that prove depth.
The claim that matters: every item here is enforced server-side and covered by a test or a browser walkthrough. Nothing on this slide is a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a judge who has run a lab will ask 'what about calibration? what about filament?' before you finish the demo.
Do not defend the gaps. Name them, give the priority, and explain the principle: a resource is not available because its calendar is free. That principle is the wedge on the next slide.
If time is short, say the four bucket headings and move on — the detail is in the repo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Judges reward sequencing more than ambition. Everything here is ordered by what blocks a real facility from switching off Excel, not by what demos well.
The rejects matter as much as the priorities: hardware power control, a public marketplace and AI penalties are all things a competitor will proudly announce. Explain why they are wrong for this buyer — safety liability, four-sided cold start, and irreversible decisions made by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single idea in the deck, so land it clearly: a free calendar is not permission to use an instrument.
Read the six gates slowly. Three are enforced today (maintenance, training, open incidents). Calibration, stock and staff support are the next build — the roadmap slide says so, and saying so is what makes the claim credible.
The example on the right is the line that stays with a judge: the 3D printer is free, but there is no filament, so the booking is blocked with a reason instead of failing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because 'AI for labs' is not novel and half the room will claim it.
The strongest claim is the decision record: frozen evidence, five options, stated assumptions, a named human, and a database that refuses deletion. Analytics persuade; a record is accountable.
Second strongest is refusal as a feature: the system prints what it does not know and lowers its own confidence. Test it live if asked — the capital page lists the missing evidence per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imaging instrument, not the portfolio total. One crore of avoided duplicate purchase is the story; 26% is the context.
Say the caveat in the same breath: synthetic tenant, workflow evidence, not guaranteed savings. Then the credible part — the page prints the formula and lists the data it is missing.
These numbers are read off /capital in the running app, so if challenged, show the screen instead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stack aloud; judges can. Make three points.
1) The conflict guarantee is a database exclusion constraint: eight simultaneous requests, exactly one wins, no read-then-write window.
2) Isolation is three independent layers, and the suite connects as the non-superuser role — RLS that is never exercised is decoration.
3) The exclusions are design decisions: no IoT control, no marketplace, no payments, no autonomous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asymmetry, not the price list: one avoided duplicate instrument pays for about a decade of subscription. That is the whole commercial argument.
Be explicit that these are modelled figures with a hypothesis price, and that cash is the only thing counted — avoided capex is never booked as revenue.
Gross margin stays above 85% because there is no per-seat dependency and no inference bill: one small VPS per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competitor question before it is asked. I-STEM owns national discovery; enterprise suites own the calendar for funded core facilities; Skedda owns generic room booking at $99–349 per space per month.
None produces a capital decision record, and none is priced or scoped for a single Indian department. Say the last row slowly — it is the only row that is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seconds: the next spend is on validation, not features. The success criteria are written down and measurable, and if they fail the answer is no.
That willingness to stop is unusual in a hackathon final and it is what makes the plan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roadmap from a wish list. Every step is gated on the previous one, and the gate is stated.
The 2028 telemetry item is worth a sentence: read-only by design, because a system that can unlock a machine is a safety and warranty problem, not a feature.
Forecasting is deliberately late: it needs twelve months of clean tenant data. Predictions on synthetic data are the fastest way to lose a technical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sentence, not on 'thank you'. Then stop and let questions start — the three honesty chips exist so the first question is not 'what is not real?'.
The ask is deliberately small and concrete: three facilities, 90 days. It is the only thing a judge could actually give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a:t>
            </a:r>
            <a:endParaRPr lang="en-US" sz="850" dirty="0"/>
          </a:p>
        </p:txBody>
      </p:sp>
      <p:sp>
        <p:nvSpPr>
          <p:cNvPr id="15" name="Text 13"/>
          <p:cNvSpPr/>
          <p:nvPr/>
        </p:nvSpPr>
        <p:spPr>
          <a:xfrm>
            <a:off x="777240" y="914400"/>
            <a:ext cx="8229600" cy="256032"/>
          </a:xfrm>
          <a:prstGeom prst="rect">
            <a:avLst/>
          </a:prstGeom>
          <a:noFill/>
          <a:ln/>
        </p:spPr>
        <p:txBody>
          <a:bodyPr wrap="square" rtlCol="0" anchor="ctr"/>
          <a:lstStyle/>
          <a:p>
            <a:pPr indent="0" marL="0">
              <a:buNone/>
            </a:pPr>
            <a:r>
              <a:rPr lang="en-US" sz="1000" b="1" spc="190" kern="0" dirty="0">
                <a:solidFill>
                  <a:srgbClr val="8FE0D2"/>
                </a:solidFill>
                <a:latin typeface="Segoe UI" pitchFamily="34" charset="0"/>
                <a:ea typeface="Segoe UI" pitchFamily="34" charset="-122"/>
                <a:cs typeface="Segoe UI" pitchFamily="34" charset="-120"/>
              </a:rPr>
              <a:t>CODEHACK INDIA 2026   ·   LIVE PROTOTYPE</a:t>
            </a:r>
            <a:endParaRPr lang="en-US" sz="1000" dirty="0"/>
          </a:p>
        </p:txBody>
      </p:sp>
      <p:sp>
        <p:nvSpPr>
          <p:cNvPr id="16" name="Text 14"/>
          <p:cNvSpPr/>
          <p:nvPr/>
        </p:nvSpPr>
        <p:spPr>
          <a:xfrm>
            <a:off x="777240" y="1225296"/>
            <a:ext cx="8686800" cy="960120"/>
          </a:xfrm>
          <a:prstGeom prst="rect">
            <a:avLst/>
          </a:prstGeom>
          <a:noFill/>
          <a:ln/>
        </p:spPr>
        <p:txBody>
          <a:bodyPr wrap="square"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ResourceOS</a:t>
            </a:r>
            <a:endParaRPr lang="en-US" sz="5400" dirty="0"/>
          </a:p>
        </p:txBody>
      </p:sp>
      <p:sp>
        <p:nvSpPr>
          <p:cNvPr id="17" name="Text 15"/>
          <p:cNvSpPr/>
          <p:nvPr/>
        </p:nvSpPr>
        <p:spPr>
          <a:xfrm>
            <a:off x="777240" y="2212848"/>
            <a:ext cx="8595360" cy="384048"/>
          </a:xfrm>
          <a:prstGeom prst="rect">
            <a:avLst/>
          </a:prstGeom>
          <a:noFill/>
          <a:ln/>
        </p:spPr>
        <p:txBody>
          <a:bodyPr wrap="square" rtlCol="0" anchor="ctr"/>
          <a:lstStyle/>
          <a:p>
            <a:pPr indent="0" marL="0">
              <a:buNone/>
            </a:pPr>
            <a:r>
              <a:rPr lang="en-US" sz="1700" dirty="0">
                <a:solidFill>
                  <a:srgbClr val="8FE0D2"/>
                </a:solidFill>
                <a:latin typeface="Segoe UI" pitchFamily="34" charset="0"/>
                <a:ea typeface="Segoe UI" pitchFamily="34" charset="-122"/>
                <a:cs typeface="Segoe UI" pitchFamily="34" charset="-120"/>
              </a:rPr>
              <a:t>Equipment decision OS for shared labs, instruments and maker spaces</a:t>
            </a:r>
            <a:endParaRPr lang="en-US" sz="1700" dirty="0"/>
          </a:p>
        </p:txBody>
      </p:sp>
      <p:sp>
        <p:nvSpPr>
          <p:cNvPr id="18" name="Text 16"/>
          <p:cNvSpPr/>
          <p:nvPr/>
        </p:nvSpPr>
        <p:spPr>
          <a:xfrm>
            <a:off x="777240" y="2651760"/>
            <a:ext cx="7863840" cy="731520"/>
          </a:xfrm>
          <a:prstGeom prst="rect">
            <a:avLst/>
          </a:prstGeom>
          <a:noFill/>
          <a:ln/>
        </p:spPr>
        <p:txBody>
          <a:bodyPr wrap="square" rtlCol="0" anchor="ctr"/>
          <a:lstStyle/>
          <a:p>
            <a:pPr indent="0" marL="0">
              <a:lnSpc>
                <a:spcPct val="115000"/>
              </a:lnSpc>
              <a:buNone/>
            </a:pPr>
            <a:r>
              <a:rPr lang="en-US" sz="1250" dirty="0">
                <a:solidFill>
                  <a:srgbClr val="CFE2E1"/>
                </a:solidFill>
                <a:latin typeface="Segoe UI" pitchFamily="34" charset="0"/>
                <a:ea typeface="Segoe UI" pitchFamily="34" charset="-122"/>
                <a:cs typeface="Segoe UI" pitchFamily="34" charset="-120"/>
              </a:rPr>
              <a:t>Who booked it, who approved it, who used it, what it cost to keep alive — and the evidence behind the next ₹1 crore decision.</a:t>
            </a:r>
            <a:endParaRPr lang="en-US" sz="1250" dirty="0"/>
          </a:p>
        </p:txBody>
      </p:sp>
      <p:sp>
        <p:nvSpPr>
          <p:cNvPr id="19" name="Shape 17"/>
          <p:cNvSpPr/>
          <p:nvPr/>
        </p:nvSpPr>
        <p:spPr>
          <a:xfrm>
            <a:off x="777240" y="4206240"/>
            <a:ext cx="3423818" cy="1298448"/>
          </a:xfrm>
          <a:prstGeom prst="roundRect">
            <a:avLst>
              <a:gd name="adj" fmla="val 2817"/>
            </a:avLst>
          </a:prstGeom>
          <a:solidFill>
            <a:srgbClr val="0A3135"/>
          </a:solidFill>
          <a:ln w="12700">
            <a:solidFill>
              <a:srgbClr val="1C5A5F"/>
            </a:solidFill>
            <a:prstDash val="solid"/>
          </a:ln>
        </p:spPr>
      </p:sp>
      <p:sp>
        <p:nvSpPr>
          <p:cNvPr id="20" name="Text 18"/>
          <p:cNvSpPr/>
          <p:nvPr/>
        </p:nvSpPr>
        <p:spPr>
          <a:xfrm>
            <a:off x="996696" y="4334256"/>
            <a:ext cx="2984906" cy="256032"/>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Vijesh S</a:t>
            </a:r>
            <a:endParaRPr lang="en-US" sz="1250" dirty="0"/>
          </a:p>
        </p:txBody>
      </p:sp>
      <p:sp>
        <p:nvSpPr>
          <p:cNvPr id="21" name="Text 19"/>
          <p:cNvSpPr/>
          <p:nvPr/>
        </p:nvSpPr>
        <p:spPr>
          <a:xfrm>
            <a:off x="996696" y="4599432"/>
            <a:ext cx="2984906"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BACKEND &amp; DATA</a:t>
            </a:r>
            <a:endParaRPr lang="en-US" sz="850" dirty="0"/>
          </a:p>
        </p:txBody>
      </p:sp>
      <p:sp>
        <p:nvSpPr>
          <p:cNvPr id="22" name="Text 20"/>
          <p:cNvSpPr/>
          <p:nvPr/>
        </p:nvSpPr>
        <p:spPr>
          <a:xfrm>
            <a:off x="996696" y="4846320"/>
            <a:ext cx="2984906" cy="566928"/>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Schema, row-level security, booking engine, sync engine, test suite</a:t>
            </a:r>
            <a:endParaRPr lang="en-US" sz="850" dirty="0"/>
          </a:p>
        </p:txBody>
      </p:sp>
      <p:sp>
        <p:nvSpPr>
          <p:cNvPr id="23" name="Shape 21"/>
          <p:cNvSpPr/>
          <p:nvPr/>
        </p:nvSpPr>
        <p:spPr>
          <a:xfrm>
            <a:off x="4383938" y="4206240"/>
            <a:ext cx="3423818" cy="1298448"/>
          </a:xfrm>
          <a:prstGeom prst="roundRect">
            <a:avLst>
              <a:gd name="adj" fmla="val 2817"/>
            </a:avLst>
          </a:prstGeom>
          <a:solidFill>
            <a:srgbClr val="0A3135"/>
          </a:solidFill>
          <a:ln w="12700">
            <a:solidFill>
              <a:srgbClr val="1C5A5F"/>
            </a:solidFill>
            <a:prstDash val="solid"/>
          </a:ln>
        </p:spPr>
      </p:sp>
      <p:sp>
        <p:nvSpPr>
          <p:cNvPr id="24" name="Text 22"/>
          <p:cNvSpPr/>
          <p:nvPr/>
        </p:nvSpPr>
        <p:spPr>
          <a:xfrm>
            <a:off x="4603394" y="4334256"/>
            <a:ext cx="2984906" cy="256032"/>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Nisha M</a:t>
            </a:r>
            <a:endParaRPr lang="en-US" sz="1250" dirty="0"/>
          </a:p>
        </p:txBody>
      </p:sp>
      <p:sp>
        <p:nvSpPr>
          <p:cNvPr id="25" name="Text 23"/>
          <p:cNvSpPr/>
          <p:nvPr/>
        </p:nvSpPr>
        <p:spPr>
          <a:xfrm>
            <a:off x="4603394" y="4599432"/>
            <a:ext cx="2984906"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PRODUCT &amp; RESEARCH</a:t>
            </a:r>
            <a:endParaRPr lang="en-US" sz="850" dirty="0"/>
          </a:p>
        </p:txBody>
      </p:sp>
      <p:sp>
        <p:nvSpPr>
          <p:cNvPr id="26" name="Text 24"/>
          <p:cNvSpPr/>
          <p:nvPr/>
        </p:nvSpPr>
        <p:spPr>
          <a:xfrm>
            <a:off x="4603394" y="4846320"/>
            <a:ext cx="2984906" cy="566928"/>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Problem discovery, five-option capital model, pricing, docs</a:t>
            </a:r>
            <a:endParaRPr lang="en-US" sz="850" dirty="0"/>
          </a:p>
        </p:txBody>
      </p:sp>
      <p:sp>
        <p:nvSpPr>
          <p:cNvPr id="27" name="Shape 25"/>
          <p:cNvSpPr/>
          <p:nvPr/>
        </p:nvSpPr>
        <p:spPr>
          <a:xfrm>
            <a:off x="7990637" y="4206240"/>
            <a:ext cx="3423818" cy="1298448"/>
          </a:xfrm>
          <a:prstGeom prst="roundRect">
            <a:avLst>
              <a:gd name="adj" fmla="val 2817"/>
            </a:avLst>
          </a:prstGeom>
          <a:solidFill>
            <a:srgbClr val="0A3135"/>
          </a:solidFill>
          <a:ln w="12700">
            <a:solidFill>
              <a:srgbClr val="1C5A5F"/>
            </a:solidFill>
            <a:prstDash val="solid"/>
          </a:ln>
        </p:spPr>
      </p:sp>
      <p:sp>
        <p:nvSpPr>
          <p:cNvPr id="28" name="Text 26"/>
          <p:cNvSpPr/>
          <p:nvPr/>
        </p:nvSpPr>
        <p:spPr>
          <a:xfrm>
            <a:off x="8210093" y="4334256"/>
            <a:ext cx="2984906" cy="256032"/>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Sanjay S</a:t>
            </a:r>
            <a:endParaRPr lang="en-US" sz="1250" dirty="0"/>
          </a:p>
        </p:txBody>
      </p:sp>
      <p:sp>
        <p:nvSpPr>
          <p:cNvPr id="29" name="Text 27"/>
          <p:cNvSpPr/>
          <p:nvPr/>
        </p:nvSpPr>
        <p:spPr>
          <a:xfrm>
            <a:off x="8210093" y="4599432"/>
            <a:ext cx="2984906"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FRONTEND &amp; DEMO</a:t>
            </a:r>
            <a:endParaRPr lang="en-US" sz="850" dirty="0"/>
          </a:p>
        </p:txBody>
      </p:sp>
      <p:sp>
        <p:nvSpPr>
          <p:cNvPr id="30" name="Text 28"/>
          <p:cNvSpPr/>
          <p:nvPr/>
        </p:nvSpPr>
        <p:spPr>
          <a:xfrm>
            <a:off x="8210093" y="4846320"/>
            <a:ext cx="2984906" cy="566928"/>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UI, synthetic tenant, browser verification, deck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2</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PROBLEM STATEMENT</a:t>
            </a:r>
            <a:endParaRPr lang="en-US" sz="950" dirty="0"/>
          </a:p>
        </p:txBody>
      </p:sp>
      <p:sp>
        <p:nvSpPr>
          <p:cNvPr id="16" name="Text 14"/>
          <p:cNvSpPr/>
          <p:nvPr/>
        </p:nvSpPr>
        <p:spPr>
          <a:xfrm>
            <a:off x="777240" y="749808"/>
            <a:ext cx="9692640" cy="960120"/>
          </a:xfrm>
          <a:prstGeom prst="rect">
            <a:avLst/>
          </a:prstGeom>
          <a:noFill/>
          <a:ln/>
        </p:spPr>
        <p:txBody>
          <a:bodyPr wrap="square" rtlCol="0" anchor="t"/>
          <a:lstStyle/>
          <a:p>
            <a:pPr indent="0" marL="0">
              <a:lnSpc>
                <a:spcPct val="95000"/>
              </a:lnSpc>
              <a:buNone/>
            </a:pPr>
            <a:r>
              <a:rPr lang="en-US" sz="2600" b="1" dirty="0">
                <a:solidFill>
                  <a:srgbClr val="FFFFFF"/>
                </a:solidFill>
                <a:latin typeface="Georgia" pitchFamily="34" charset="0"/>
                <a:ea typeface="Georgia" pitchFamily="34" charset="-122"/>
                <a:cs typeface="Georgia" pitchFamily="34" charset="-120"/>
              </a:rPr>
              <a:t>Shared equipment is expensive — and nobody can prove how it is used</a:t>
            </a:r>
            <a:endParaRPr lang="en-US" sz="2600" dirty="0"/>
          </a:p>
        </p:txBody>
      </p:sp>
      <p:sp>
        <p:nvSpPr>
          <p:cNvPr id="18" name="Text 15"/>
          <p:cNvSpPr/>
          <p:nvPr/>
        </p:nvSpPr>
        <p:spPr>
          <a:xfrm>
            <a:off x="777240" y="1810512"/>
            <a:ext cx="5989320" cy="1005840"/>
          </a:xfrm>
          <a:prstGeom prst="rect">
            <a:avLst/>
          </a:prstGeom>
          <a:noFill/>
          <a:ln/>
        </p:spPr>
        <p:txBody>
          <a:bodyPr wrap="square" rtlCol="0" anchor="t"/>
          <a:lstStyle/>
          <a:p>
            <a:pPr indent="0" marL="0">
              <a:lnSpc>
                <a:spcPct val="118000"/>
              </a:lnSpc>
              <a:buNone/>
            </a:pPr>
            <a:r>
              <a:rPr lang="en-US" sz="1200" dirty="0">
                <a:solidFill>
                  <a:srgbClr val="CFE2E1"/>
                </a:solidFill>
                <a:latin typeface="Segoe UI" pitchFamily="34" charset="0"/>
                <a:ea typeface="Segoe UI" pitchFamily="34" charset="-122"/>
                <a:cs typeface="Segoe UI" pitchFamily="34" charset="-120"/>
              </a:rPr>
              <a:t>Booking runs on WhatsApp, approvals on email, usage on paper and cost on a purchase file. The result is a facility that cannot say which instrument is busy, which is dead, or which should never have been bought.</a:t>
            </a:r>
            <a:endParaRPr lang="en-US" sz="1200" dirty="0"/>
          </a:p>
        </p:txBody>
      </p:sp>
      <p:sp>
        <p:nvSpPr>
          <p:cNvPr id="19" name="Text 16"/>
          <p:cNvSpPr/>
          <p:nvPr/>
        </p:nvSpPr>
        <p:spPr>
          <a:xfrm>
            <a:off x="777240" y="2907792"/>
            <a:ext cx="5989320" cy="2834640"/>
          </a:xfrm>
          <a:prstGeom prst="rect">
            <a:avLst/>
          </a:prstGeom>
          <a:noFill/>
          <a:ln/>
        </p:spPr>
        <p:txBody>
          <a:bodyPr wrap="square" rtlCol="0" anchor="t"/>
          <a:lstStyle/>
          <a:p>
            <a:pPr marL="342900" indent="-342900">
              <a:lnSpc>
                <a:spcPct val="110000"/>
              </a:lnSpc>
              <a:spcAft>
                <a:spcPts val="800"/>
              </a:spcAft>
              <a:buSzPct val="100000"/>
              <a:buChar char="•"/>
            </a:pPr>
            <a:r>
              <a:rPr lang="en-US" sz="1100" dirty="0">
                <a:solidFill>
                  <a:srgbClr val="CFE2E1"/>
                </a:solidFill>
                <a:latin typeface="Segoe UI" pitchFamily="34" charset="0"/>
                <a:ea typeface="Segoe UI" pitchFamily="34" charset="-122"/>
                <a:cs typeface="Segoe UI" pitchFamily="34" charset="-120"/>
              </a:rPr>
              <a:t>Double bookings, because nothing prevents two people confirming the same slot.</a:t>
            </a:r>
            <a:endParaRPr lang="en-US" sz="1100" dirty="0"/>
          </a:p>
          <a:p>
            <a:pPr marL="342900" indent="-342900">
              <a:lnSpc>
                <a:spcPct val="110000"/>
              </a:lnSpc>
              <a:spcAft>
                <a:spcPts val="800"/>
              </a:spcAft>
              <a:buSzPct val="100000"/>
              <a:buChar char="•"/>
            </a:pPr>
            <a:r>
              <a:rPr lang="en-US" sz="1100" dirty="0">
                <a:solidFill>
                  <a:srgbClr val="CFE2E1"/>
                </a:solidFill>
                <a:latin typeface="Segoe UI" pitchFamily="34" charset="0"/>
                <a:ea typeface="Segoe UI" pitchFamily="34" charset="-122"/>
                <a:cs typeface="Segoe UI" pitchFamily="34" charset="-120"/>
              </a:rPr>
              <a:t>Approvals lost in threads, so access depends on who is persuasive.</a:t>
            </a:r>
            <a:endParaRPr lang="en-US" sz="1100" dirty="0"/>
          </a:p>
          <a:p>
            <a:pPr marL="342900" indent="-342900">
              <a:lnSpc>
                <a:spcPct val="110000"/>
              </a:lnSpc>
              <a:spcAft>
                <a:spcPts val="800"/>
              </a:spcAft>
              <a:buSzPct val="100000"/>
              <a:buChar char="•"/>
            </a:pPr>
            <a:r>
              <a:rPr lang="en-US" sz="1100" dirty="0">
                <a:solidFill>
                  <a:srgbClr val="CFE2E1"/>
                </a:solidFill>
                <a:latin typeface="Segoe UI" pitchFamily="34" charset="0"/>
                <a:ea typeface="Segoe UI" pitchFamily="34" charset="-122"/>
                <a:cs typeface="Segoe UI" pitchFamily="34" charset="-120"/>
              </a:rPr>
              <a:t>No-shows and overruns that nobody records, so the loss is invisible.</a:t>
            </a:r>
            <a:endParaRPr lang="en-US" sz="1100" dirty="0"/>
          </a:p>
          <a:p>
            <a:pPr marL="342900" indent="-342900">
              <a:lnSpc>
                <a:spcPct val="110000"/>
              </a:lnSpc>
              <a:spcAft>
                <a:spcPts val="800"/>
              </a:spcAft>
              <a:buSzPct val="100000"/>
              <a:buChar char="•"/>
            </a:pPr>
            <a:r>
              <a:rPr lang="en-US" sz="1100" dirty="0">
                <a:solidFill>
                  <a:srgbClr val="CFE2E1"/>
                </a:solidFill>
                <a:latin typeface="Segoe UI" pitchFamily="34" charset="0"/>
                <a:ea typeface="Segoe UI" pitchFamily="34" charset="-122"/>
                <a:cs typeface="Segoe UI" pitchFamily="34" charset="-120"/>
              </a:rPr>
              <a:t>Damage disputes settled by memory, because condition is never captured.</a:t>
            </a:r>
            <a:endParaRPr lang="en-US" sz="1100" dirty="0"/>
          </a:p>
          <a:p>
            <a:pPr marL="342900" indent="-342900">
              <a:lnSpc>
                <a:spcPct val="110000"/>
              </a:lnSpc>
              <a:spcAft>
                <a:spcPts val="800"/>
              </a:spcAft>
              <a:buSzPct val="100000"/>
              <a:buChar char="•"/>
            </a:pPr>
            <a:r>
              <a:rPr lang="en-US" sz="1100" dirty="0">
                <a:solidFill>
                  <a:srgbClr val="CFE2E1"/>
                </a:solidFill>
                <a:latin typeface="Segoe UI" pitchFamily="34" charset="0"/>
                <a:ea typeface="Segoe UI" pitchFamily="34" charset="-122"/>
                <a:cs typeface="Segoe UI" pitchFamily="34" charset="-120"/>
              </a:rPr>
              <a:t>Unmet demand never counted, so the same instrument is bought twice.</a:t>
            </a:r>
            <a:endParaRPr lang="en-US" sz="1100" dirty="0"/>
          </a:p>
          <a:p>
            <a:pPr marL="342900" indent="-342900">
              <a:lnSpc>
                <a:spcPct val="110000"/>
              </a:lnSpc>
              <a:spcAft>
                <a:spcPts val="800"/>
              </a:spcAft>
              <a:buSzPct val="100000"/>
              <a:buChar char="•"/>
            </a:pPr>
            <a:r>
              <a:rPr lang="en-US" sz="1100" dirty="0">
                <a:solidFill>
                  <a:srgbClr val="CFE2E1"/>
                </a:solidFill>
                <a:latin typeface="Segoe UI" pitchFamily="34" charset="0"/>
                <a:ea typeface="Segoe UI" pitchFamily="34" charset="-122"/>
                <a:cs typeface="Segoe UI" pitchFamily="34" charset="-120"/>
              </a:rPr>
              <a:t>Calibration, warranty and stock status that no booking view knows about.</a:t>
            </a:r>
            <a:endParaRPr lang="en-US" sz="1100" dirty="0"/>
          </a:p>
        </p:txBody>
      </p:sp>
      <p:sp>
        <p:nvSpPr>
          <p:cNvPr id="20" name="Shape 17"/>
          <p:cNvSpPr/>
          <p:nvPr/>
        </p:nvSpPr>
        <p:spPr>
          <a:xfrm>
            <a:off x="7086600" y="1783080"/>
            <a:ext cx="4325112" cy="3931920"/>
          </a:xfrm>
          <a:prstGeom prst="roundRect">
            <a:avLst>
              <a:gd name="adj" fmla="val 930"/>
            </a:avLst>
          </a:prstGeom>
          <a:solidFill>
            <a:srgbClr val="0A3135"/>
          </a:solidFill>
          <a:ln w="12700">
            <a:solidFill>
              <a:srgbClr val="1C5A5F"/>
            </a:solidFill>
            <a:prstDash val="solid"/>
          </a:ln>
        </p:spPr>
      </p:sp>
      <p:sp>
        <p:nvSpPr>
          <p:cNvPr id="21" name="Text 18"/>
          <p:cNvSpPr/>
          <p:nvPr/>
        </p:nvSpPr>
        <p:spPr>
          <a:xfrm>
            <a:off x="7315200" y="1938528"/>
            <a:ext cx="3886200" cy="274320"/>
          </a:xfrm>
          <a:prstGeom prst="rect">
            <a:avLst/>
          </a:prstGeom>
          <a:noFill/>
          <a:ln/>
        </p:spPr>
        <p:txBody>
          <a:bodyPr wrap="square" rtlCol="0" anchor="ctr"/>
          <a:lstStyle/>
          <a:p>
            <a:pPr indent="0" marL="0">
              <a:buNone/>
            </a:pPr>
            <a:r>
              <a:rPr lang="en-US" sz="1050" b="1" dirty="0">
                <a:solidFill>
                  <a:srgbClr val="8FE0D2"/>
                </a:solidFill>
                <a:latin typeface="Segoe UI" pitchFamily="34" charset="0"/>
                <a:ea typeface="Segoe UI" pitchFamily="34" charset="-122"/>
                <a:cs typeface="Segoe UI" pitchFamily="34" charset="-120"/>
              </a:rPr>
              <a:t>Four people need four different things</a:t>
            </a:r>
            <a:endParaRPr lang="en-US" sz="1050" dirty="0"/>
          </a:p>
        </p:txBody>
      </p:sp>
      <p:sp>
        <p:nvSpPr>
          <p:cNvPr id="22" name="Text 19"/>
          <p:cNvSpPr/>
          <p:nvPr/>
        </p:nvSpPr>
        <p:spPr>
          <a:xfrm>
            <a:off x="7315200" y="2304288"/>
            <a:ext cx="3840480" cy="219456"/>
          </a:xfrm>
          <a:prstGeom prst="rect">
            <a:avLst/>
          </a:prstGeom>
          <a:noFill/>
          <a:ln/>
        </p:spPr>
        <p:txBody>
          <a:bodyPr wrap="square" rtlCol="0" anchor="ctr"/>
          <a:lstStyle/>
          <a:p>
            <a:pPr indent="0" marL="0">
              <a:buNone/>
            </a:pPr>
            <a:r>
              <a:rPr lang="en-US" sz="900" b="1" spc="80" kern="0" dirty="0">
                <a:solidFill>
                  <a:srgbClr val="FFFFFF"/>
                </a:solidFill>
                <a:latin typeface="Segoe UI" pitchFamily="34" charset="0"/>
                <a:ea typeface="Segoe UI" pitchFamily="34" charset="-122"/>
                <a:cs typeface="Segoe UI" pitchFamily="34" charset="-120"/>
              </a:rPr>
              <a:t>Facility manager</a:t>
            </a:r>
            <a:endParaRPr lang="en-US" sz="900" dirty="0"/>
          </a:p>
        </p:txBody>
      </p:sp>
      <p:sp>
        <p:nvSpPr>
          <p:cNvPr id="23" name="Text 20"/>
          <p:cNvSpPr/>
          <p:nvPr/>
        </p:nvSpPr>
        <p:spPr>
          <a:xfrm>
            <a:off x="7315200" y="2523744"/>
            <a:ext cx="3840480" cy="566928"/>
          </a:xfrm>
          <a:prstGeom prst="rect">
            <a:avLst/>
          </a:prstGeom>
          <a:noFill/>
          <a:ln/>
        </p:spPr>
        <p:txBody>
          <a:bodyPr wrap="square" rtlCol="0" anchor="t"/>
          <a:lstStyle/>
          <a:p>
            <a:pPr indent="0" marL="0">
              <a:lnSpc>
                <a:spcPct val="108000"/>
              </a:lnSpc>
              <a:buNone/>
            </a:pPr>
            <a:r>
              <a:rPr lang="en-US" sz="950" dirty="0">
                <a:solidFill>
                  <a:srgbClr val="8FB6B8"/>
                </a:solidFill>
                <a:latin typeface="Segoe UI" pitchFamily="34" charset="0"/>
                <a:ea typeface="Segoe UI" pitchFamily="34" charset="-122"/>
                <a:cs typeface="Segoe UI" pitchFamily="34" charset="-120"/>
              </a:rPr>
              <a:t>Less chasing, one record, no spreadsheet reconciliation.</a:t>
            </a:r>
            <a:endParaRPr lang="en-US" sz="950" dirty="0"/>
          </a:p>
        </p:txBody>
      </p:sp>
      <p:sp>
        <p:nvSpPr>
          <p:cNvPr id="24" name="Text 21"/>
          <p:cNvSpPr/>
          <p:nvPr/>
        </p:nvSpPr>
        <p:spPr>
          <a:xfrm>
            <a:off x="7315200" y="3127248"/>
            <a:ext cx="3840480" cy="219456"/>
          </a:xfrm>
          <a:prstGeom prst="rect">
            <a:avLst/>
          </a:prstGeom>
          <a:noFill/>
          <a:ln/>
        </p:spPr>
        <p:txBody>
          <a:bodyPr wrap="square" rtlCol="0" anchor="ctr"/>
          <a:lstStyle/>
          <a:p>
            <a:pPr indent="0" marL="0">
              <a:buNone/>
            </a:pPr>
            <a:r>
              <a:rPr lang="en-US" sz="900" b="1" spc="80" kern="0" dirty="0">
                <a:solidFill>
                  <a:srgbClr val="FFFFFF"/>
                </a:solidFill>
                <a:latin typeface="Segoe UI" pitchFamily="34" charset="0"/>
                <a:ea typeface="Segoe UI" pitchFamily="34" charset="-122"/>
                <a:cs typeface="Segoe UI" pitchFamily="34" charset="-120"/>
              </a:rPr>
              <a:t>Researcher / student</a:t>
            </a:r>
            <a:endParaRPr lang="en-US" sz="900" dirty="0"/>
          </a:p>
        </p:txBody>
      </p:sp>
      <p:sp>
        <p:nvSpPr>
          <p:cNvPr id="25" name="Text 22"/>
          <p:cNvSpPr/>
          <p:nvPr/>
        </p:nvSpPr>
        <p:spPr>
          <a:xfrm>
            <a:off x="7315200" y="3346704"/>
            <a:ext cx="3840480" cy="566928"/>
          </a:xfrm>
          <a:prstGeom prst="rect">
            <a:avLst/>
          </a:prstGeom>
          <a:noFill/>
          <a:ln/>
        </p:spPr>
        <p:txBody>
          <a:bodyPr wrap="square" rtlCol="0" anchor="t"/>
          <a:lstStyle/>
          <a:p>
            <a:pPr indent="0" marL="0">
              <a:lnSpc>
                <a:spcPct val="108000"/>
              </a:lnSpc>
              <a:buNone/>
            </a:pPr>
            <a:r>
              <a:rPr lang="en-US" sz="950" dirty="0">
                <a:solidFill>
                  <a:srgbClr val="8FB6B8"/>
                </a:solidFill>
                <a:latin typeface="Segoe UI" pitchFamily="34" charset="0"/>
                <a:ea typeface="Segoe UI" pitchFamily="34" charset="-122"/>
                <a:cs typeface="Segoe UI" pitchFamily="34" charset="-120"/>
              </a:rPr>
              <a:t>Fast, fair access without a WhatsApp negotiation.</a:t>
            </a:r>
            <a:endParaRPr lang="en-US" sz="950" dirty="0"/>
          </a:p>
        </p:txBody>
      </p:sp>
      <p:sp>
        <p:nvSpPr>
          <p:cNvPr id="26" name="Text 23"/>
          <p:cNvSpPr/>
          <p:nvPr/>
        </p:nvSpPr>
        <p:spPr>
          <a:xfrm>
            <a:off x="7315200" y="3950208"/>
            <a:ext cx="3840480" cy="219456"/>
          </a:xfrm>
          <a:prstGeom prst="rect">
            <a:avLst/>
          </a:prstGeom>
          <a:noFill/>
          <a:ln/>
        </p:spPr>
        <p:txBody>
          <a:bodyPr wrap="square" rtlCol="0" anchor="ctr"/>
          <a:lstStyle/>
          <a:p>
            <a:pPr indent="0" marL="0">
              <a:buNone/>
            </a:pPr>
            <a:r>
              <a:rPr lang="en-US" sz="900" b="1" spc="80" kern="0" dirty="0">
                <a:solidFill>
                  <a:srgbClr val="FFFFFF"/>
                </a:solidFill>
                <a:latin typeface="Segoe UI" pitchFamily="34" charset="0"/>
                <a:ea typeface="Segoe UI" pitchFamily="34" charset="-122"/>
                <a:cs typeface="Segoe UI" pitchFamily="34" charset="-120"/>
              </a:rPr>
              <a:t>Technician</a:t>
            </a:r>
            <a:endParaRPr lang="en-US" sz="900" dirty="0"/>
          </a:p>
        </p:txBody>
      </p:sp>
      <p:sp>
        <p:nvSpPr>
          <p:cNvPr id="27" name="Text 24"/>
          <p:cNvSpPr/>
          <p:nvPr/>
        </p:nvSpPr>
        <p:spPr>
          <a:xfrm>
            <a:off x="7315200" y="4169664"/>
            <a:ext cx="3840480" cy="566928"/>
          </a:xfrm>
          <a:prstGeom prst="rect">
            <a:avLst/>
          </a:prstGeom>
          <a:noFill/>
          <a:ln/>
        </p:spPr>
        <p:txBody>
          <a:bodyPr wrap="square" rtlCol="0" anchor="t"/>
          <a:lstStyle/>
          <a:p>
            <a:pPr indent="0" marL="0">
              <a:lnSpc>
                <a:spcPct val="108000"/>
              </a:lnSpc>
              <a:buNone/>
            </a:pPr>
            <a:r>
              <a:rPr lang="en-US" sz="950" dirty="0">
                <a:solidFill>
                  <a:srgbClr val="8FB6B8"/>
                </a:solidFill>
                <a:latin typeface="Segoe UI" pitchFamily="34" charset="0"/>
                <a:ea typeface="Segoe UI" pitchFamily="34" charset="-122"/>
                <a:cs typeface="Segoe UI" pitchFamily="34" charset="-120"/>
              </a:rPr>
              <a:t>No surprise bookings on an instrument that is down.</a:t>
            </a:r>
            <a:endParaRPr lang="en-US" sz="950" dirty="0"/>
          </a:p>
        </p:txBody>
      </p:sp>
      <p:sp>
        <p:nvSpPr>
          <p:cNvPr id="28" name="Text 25"/>
          <p:cNvSpPr/>
          <p:nvPr/>
        </p:nvSpPr>
        <p:spPr>
          <a:xfrm>
            <a:off x="7315200" y="4773168"/>
            <a:ext cx="3840480" cy="219456"/>
          </a:xfrm>
          <a:prstGeom prst="rect">
            <a:avLst/>
          </a:prstGeom>
          <a:noFill/>
          <a:ln/>
        </p:spPr>
        <p:txBody>
          <a:bodyPr wrap="square" rtlCol="0" anchor="ctr"/>
          <a:lstStyle/>
          <a:p>
            <a:pPr indent="0" marL="0">
              <a:buNone/>
            </a:pPr>
            <a:r>
              <a:rPr lang="en-US" sz="900" b="1" spc="80" kern="0" dirty="0">
                <a:solidFill>
                  <a:srgbClr val="FFFFFF"/>
                </a:solidFill>
                <a:latin typeface="Segoe UI" pitchFamily="34" charset="0"/>
                <a:ea typeface="Segoe UI" pitchFamily="34" charset="-122"/>
                <a:cs typeface="Segoe UI" pitchFamily="34" charset="-120"/>
              </a:rPr>
              <a:t>Leadership &amp; finance</a:t>
            </a:r>
            <a:endParaRPr lang="en-US" sz="900" dirty="0"/>
          </a:p>
        </p:txBody>
      </p:sp>
      <p:sp>
        <p:nvSpPr>
          <p:cNvPr id="29" name="Text 26"/>
          <p:cNvSpPr/>
          <p:nvPr/>
        </p:nvSpPr>
        <p:spPr>
          <a:xfrm>
            <a:off x="7315200" y="4992624"/>
            <a:ext cx="3840480" cy="566928"/>
          </a:xfrm>
          <a:prstGeom prst="rect">
            <a:avLst/>
          </a:prstGeom>
          <a:noFill/>
          <a:ln/>
        </p:spPr>
        <p:txBody>
          <a:bodyPr wrap="square" rtlCol="0" anchor="t"/>
          <a:lstStyle/>
          <a:p>
            <a:pPr indent="0" marL="0">
              <a:lnSpc>
                <a:spcPct val="108000"/>
              </a:lnSpc>
              <a:buNone/>
            </a:pPr>
            <a:r>
              <a:rPr lang="en-US" sz="950" dirty="0">
                <a:solidFill>
                  <a:srgbClr val="8FB6B8"/>
                </a:solidFill>
                <a:latin typeface="Segoe UI" pitchFamily="34" charset="0"/>
                <a:ea typeface="Segoe UI" pitchFamily="34" charset="-122"/>
                <a:cs typeface="Segoe UI" pitchFamily="34" charset="-120"/>
              </a:rPr>
              <a:t>Evidence before buying, repairing, sharing or retiring.</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3</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PROPOSED SOLUTION</a:t>
            </a:r>
            <a:endParaRPr lang="en-US" sz="950" dirty="0"/>
          </a:p>
        </p:txBody>
      </p:sp>
      <p:sp>
        <p:nvSpPr>
          <p:cNvPr id="16" name="Text 14"/>
          <p:cNvSpPr/>
          <p:nvPr/>
        </p:nvSpPr>
        <p:spPr>
          <a:xfrm>
            <a:off x="777240" y="749808"/>
            <a:ext cx="9875520" cy="960120"/>
          </a:xfrm>
          <a:prstGeom prst="rect">
            <a:avLst/>
          </a:prstGeom>
          <a:noFill/>
          <a:ln/>
        </p:spPr>
        <p:txBody>
          <a:bodyPr wrap="square" rtlCol="0" anchor="t"/>
          <a:lstStyle/>
          <a:p>
            <a:pPr indent="0" marL="0">
              <a:lnSpc>
                <a:spcPct val="95000"/>
              </a:lnSpc>
              <a:buNone/>
            </a:pPr>
            <a:r>
              <a:rPr lang="en-US" sz="2600" b="1" dirty="0">
                <a:solidFill>
                  <a:srgbClr val="FFFFFF"/>
                </a:solidFill>
                <a:latin typeface="Georgia" pitchFamily="34" charset="0"/>
                <a:ea typeface="Georgia" pitchFamily="34" charset="-122"/>
                <a:cs typeface="Georgia" pitchFamily="34" charset="-120"/>
              </a:rPr>
              <a:t>Not just booking time — proving the resource was safe, ready and used</a:t>
            </a:r>
            <a:endParaRPr lang="en-US" sz="2600" dirty="0"/>
          </a:p>
        </p:txBody>
      </p:sp>
      <p:sp>
        <p:nvSpPr>
          <p:cNvPr id="18" name="Text 15"/>
          <p:cNvSpPr/>
          <p:nvPr/>
        </p:nvSpPr>
        <p:spPr>
          <a:xfrm>
            <a:off x="777240" y="1783080"/>
            <a:ext cx="9692640" cy="914400"/>
          </a:xfrm>
          <a:prstGeom prst="rect">
            <a:avLst/>
          </a:prstGeom>
          <a:noFill/>
          <a:ln/>
        </p:spPr>
        <p:txBody>
          <a:bodyPr wrap="square" rtlCol="0" anchor="t"/>
          <a:lstStyle/>
          <a:p>
            <a:pPr indent="0" marL="0">
              <a:lnSpc>
                <a:spcPct val="116000"/>
              </a:lnSpc>
              <a:buNone/>
            </a:pPr>
            <a:r>
              <a:rPr lang="en-US" sz="1500" i="1" dirty="0">
                <a:solidFill>
                  <a:srgbClr val="FFFFFF"/>
                </a:solidFill>
                <a:latin typeface="Georgia" pitchFamily="34" charset="0"/>
                <a:ea typeface="Georgia" pitchFamily="34" charset="-122"/>
                <a:cs typeface="Georgia" pitchFamily="34" charset="-120"/>
              </a:rPr>
              <a:t>“ResourceOS helps an institution manage shared equipment not by booking time, but by ensuring the right trained user can actually use a safe, calibrated, maintained and properly stocked resource.”</a:t>
            </a:r>
            <a:endParaRPr lang="en-US" sz="1500" dirty="0"/>
          </a:p>
        </p:txBody>
      </p:sp>
      <p:sp>
        <p:nvSpPr>
          <p:cNvPr id="19" name="Shape 16"/>
          <p:cNvSpPr/>
          <p:nvPr/>
        </p:nvSpPr>
        <p:spPr>
          <a:xfrm>
            <a:off x="777240" y="2880360"/>
            <a:ext cx="3436010" cy="1920240"/>
          </a:xfrm>
          <a:prstGeom prst="roundRect">
            <a:avLst>
              <a:gd name="adj" fmla="val 1905"/>
            </a:avLst>
          </a:prstGeom>
          <a:solidFill>
            <a:srgbClr val="0F474D"/>
          </a:solidFill>
          <a:ln w="12700">
            <a:solidFill>
              <a:srgbClr val="1C5A5F"/>
            </a:solidFill>
            <a:prstDash val="solid"/>
          </a:ln>
        </p:spPr>
      </p:sp>
      <p:sp>
        <p:nvSpPr>
          <p:cNvPr id="20" name="Text 17"/>
          <p:cNvSpPr/>
          <p:nvPr/>
        </p:nvSpPr>
        <p:spPr>
          <a:xfrm>
            <a:off x="978408" y="3017520"/>
            <a:ext cx="303367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01 · BOOKING CONTROL</a:t>
            </a:r>
            <a:endParaRPr lang="en-US" sz="850" dirty="0"/>
          </a:p>
        </p:txBody>
      </p:sp>
      <p:sp>
        <p:nvSpPr>
          <p:cNvPr id="21" name="Text 18"/>
          <p:cNvSpPr/>
          <p:nvPr/>
        </p:nvSpPr>
        <p:spPr>
          <a:xfrm>
            <a:off x="978408" y="3273552"/>
            <a:ext cx="3033674" cy="292608"/>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loop that runs daily</a:t>
            </a:r>
            <a:endParaRPr lang="en-US" sz="1250" dirty="0"/>
          </a:p>
        </p:txBody>
      </p:sp>
      <p:sp>
        <p:nvSpPr>
          <p:cNvPr id="22" name="Text 19"/>
          <p:cNvSpPr/>
          <p:nvPr/>
        </p:nvSpPr>
        <p:spPr>
          <a:xfrm>
            <a:off x="978408" y="3611880"/>
            <a:ext cx="3033674" cy="1280160"/>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Training-aware eligibility, approvals, conflict-proof reservation, check-in and check-out, incidents, maintenance blackouts. Database-enforced, not policy-enforced.</a:t>
            </a:r>
            <a:endParaRPr lang="en-US" sz="950" dirty="0"/>
          </a:p>
        </p:txBody>
      </p:sp>
      <p:sp>
        <p:nvSpPr>
          <p:cNvPr id="23" name="Shape 20"/>
          <p:cNvSpPr/>
          <p:nvPr/>
        </p:nvSpPr>
        <p:spPr>
          <a:xfrm>
            <a:off x="4377842" y="2880360"/>
            <a:ext cx="3436010" cy="1920240"/>
          </a:xfrm>
          <a:prstGeom prst="roundRect">
            <a:avLst>
              <a:gd name="adj" fmla="val 1905"/>
            </a:avLst>
          </a:prstGeom>
          <a:solidFill>
            <a:srgbClr val="0F474D"/>
          </a:solidFill>
          <a:ln w="12700">
            <a:solidFill>
              <a:srgbClr val="1C5A5F"/>
            </a:solidFill>
            <a:prstDash val="solid"/>
          </a:ln>
        </p:spPr>
      </p:sp>
      <p:sp>
        <p:nvSpPr>
          <p:cNvPr id="24" name="Text 21"/>
          <p:cNvSpPr/>
          <p:nvPr/>
        </p:nvSpPr>
        <p:spPr>
          <a:xfrm>
            <a:off x="4579010" y="3017520"/>
            <a:ext cx="303367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02 · EVIDENCE LEDGER</a:t>
            </a:r>
            <a:endParaRPr lang="en-US" sz="850" dirty="0"/>
          </a:p>
        </p:txBody>
      </p:sp>
      <p:sp>
        <p:nvSpPr>
          <p:cNvPr id="25" name="Text 22"/>
          <p:cNvSpPr/>
          <p:nvPr/>
        </p:nvSpPr>
        <p:spPr>
          <a:xfrm>
            <a:off x="4579010" y="3273552"/>
            <a:ext cx="3033674" cy="292608"/>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Every session becomes a record</a:t>
            </a:r>
            <a:endParaRPr lang="en-US" sz="1250" dirty="0"/>
          </a:p>
        </p:txBody>
      </p:sp>
      <p:sp>
        <p:nvSpPr>
          <p:cNvPr id="26" name="Text 23"/>
          <p:cNvSpPr/>
          <p:nvPr/>
        </p:nvSpPr>
        <p:spPr>
          <a:xfrm>
            <a:off x="4579010" y="3611880"/>
            <a:ext cx="3033674" cy="1280160"/>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Actual hours, downtime, no-shows, repair spend, unmet demand with a cause. Each figure computed from raw rows and printed with its formula.</a:t>
            </a:r>
            <a:endParaRPr lang="en-US" sz="950" dirty="0"/>
          </a:p>
        </p:txBody>
      </p:sp>
      <p:sp>
        <p:nvSpPr>
          <p:cNvPr id="27" name="Shape 24"/>
          <p:cNvSpPr/>
          <p:nvPr/>
        </p:nvSpPr>
        <p:spPr>
          <a:xfrm>
            <a:off x="7978445" y="2880360"/>
            <a:ext cx="3436010" cy="1920240"/>
          </a:xfrm>
          <a:prstGeom prst="roundRect">
            <a:avLst>
              <a:gd name="adj" fmla="val 1905"/>
            </a:avLst>
          </a:prstGeom>
          <a:solidFill>
            <a:srgbClr val="0F474D"/>
          </a:solidFill>
          <a:ln w="12700">
            <a:solidFill>
              <a:srgbClr val="1C5A5F"/>
            </a:solidFill>
            <a:prstDash val="solid"/>
          </a:ln>
        </p:spPr>
      </p:sp>
      <p:sp>
        <p:nvSpPr>
          <p:cNvPr id="28" name="Text 25"/>
          <p:cNvSpPr/>
          <p:nvPr/>
        </p:nvSpPr>
        <p:spPr>
          <a:xfrm>
            <a:off x="8179613" y="3017520"/>
            <a:ext cx="303367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03 · CAPITAL DECISION</a:t>
            </a:r>
            <a:endParaRPr lang="en-US" sz="850" dirty="0"/>
          </a:p>
        </p:txBody>
      </p:sp>
      <p:sp>
        <p:nvSpPr>
          <p:cNvPr id="29" name="Text 26"/>
          <p:cNvSpPr/>
          <p:nvPr/>
        </p:nvSpPr>
        <p:spPr>
          <a:xfrm>
            <a:off x="8179613" y="3273552"/>
            <a:ext cx="3033674" cy="292608"/>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The reason the Dean signs</a:t>
            </a:r>
            <a:endParaRPr lang="en-US" sz="1250" dirty="0"/>
          </a:p>
        </p:txBody>
      </p:sp>
      <p:sp>
        <p:nvSpPr>
          <p:cNvPr id="30" name="Text 27"/>
          <p:cNvSpPr/>
          <p:nvPr/>
        </p:nvSpPr>
        <p:spPr>
          <a:xfrm>
            <a:off x="8179613" y="3611880"/>
            <a:ext cx="3033674" cy="1280160"/>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Five options scored on that evidence — buy, repair, share, reallocate, retire — with the missing data named and a human decision recorded immutably.</a:t>
            </a:r>
            <a:endParaRPr lang="en-US" sz="950" dirty="0"/>
          </a:p>
        </p:txBody>
      </p:sp>
      <p:sp>
        <p:nvSpPr>
          <p:cNvPr id="31" name="Text 28"/>
          <p:cNvSpPr/>
          <p:nvPr/>
        </p:nvSpPr>
        <p:spPr>
          <a:xfrm>
            <a:off x="777240" y="5230368"/>
            <a:ext cx="10637215" cy="457200"/>
          </a:xfrm>
          <a:prstGeom prst="rect">
            <a:avLst/>
          </a:prstGeom>
          <a:noFill/>
          <a:ln/>
        </p:spPr>
        <p:txBody>
          <a:bodyPr wrap="square" rtlCol="0" anchor="ctr"/>
          <a:lstStyle/>
          <a:p>
            <a:pPr indent="0" marL="0">
              <a:lnSpc>
                <a:spcPct val="110000"/>
              </a:lnSpc>
              <a:buNone/>
            </a:pPr>
            <a:r>
              <a:rPr lang="en-US" sz="1100" b="1" dirty="0">
                <a:solidFill>
                  <a:srgbClr val="8FE0D2"/>
                </a:solidFill>
                <a:latin typeface="Segoe UI" pitchFamily="34" charset="0"/>
                <a:ea typeface="Segoe UI" pitchFamily="34" charset="-122"/>
                <a:cs typeface="Segoe UI" pitchFamily="34" charset="-120"/>
              </a:rPr>
              <a:t>Existing tools manage calendars. ResourceOS manages operations — and turns them into the evidence behind a capital decision.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4</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WORKFLOW</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Request → approval → usage → incident → evidence</a:t>
            </a:r>
            <a:endParaRPr lang="en-US" sz="2800" dirty="0"/>
          </a:p>
        </p:txBody>
      </p:sp>
      <p:sp>
        <p:nvSpPr>
          <p:cNvPr id="18" name="Shape 15"/>
          <p:cNvSpPr/>
          <p:nvPr/>
        </p:nvSpPr>
        <p:spPr>
          <a:xfrm>
            <a:off x="777240" y="1783080"/>
            <a:ext cx="2025030" cy="1353312"/>
          </a:xfrm>
          <a:prstGeom prst="roundRect">
            <a:avLst>
              <a:gd name="adj" fmla="val 2703"/>
            </a:avLst>
          </a:prstGeom>
          <a:solidFill>
            <a:srgbClr val="0F474D"/>
          </a:solidFill>
          <a:ln w="12700">
            <a:solidFill>
              <a:srgbClr val="1C5A5F"/>
            </a:solidFill>
            <a:prstDash val="solid"/>
          </a:ln>
        </p:spPr>
      </p:sp>
      <p:sp>
        <p:nvSpPr>
          <p:cNvPr id="19" name="Text 16"/>
          <p:cNvSpPr/>
          <p:nvPr/>
        </p:nvSpPr>
        <p:spPr>
          <a:xfrm>
            <a:off x="941832" y="1911096"/>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01</a:t>
            </a:r>
            <a:endParaRPr lang="en-US" sz="900" dirty="0"/>
          </a:p>
        </p:txBody>
      </p:sp>
      <p:sp>
        <p:nvSpPr>
          <p:cNvPr id="20" name="Text 17"/>
          <p:cNvSpPr/>
          <p:nvPr/>
        </p:nvSpPr>
        <p:spPr>
          <a:xfrm>
            <a:off x="941832" y="2130552"/>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Resource setup</a:t>
            </a:r>
            <a:endParaRPr lang="en-US" sz="1100" dirty="0"/>
          </a:p>
        </p:txBody>
      </p:sp>
      <p:sp>
        <p:nvSpPr>
          <p:cNvPr id="21" name="Text 18"/>
          <p:cNvSpPr/>
          <p:nvPr/>
        </p:nvSpPr>
        <p:spPr>
          <a:xfrm>
            <a:off x="941832" y="2551176"/>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Specs, location, lifecycle, required training, approval rule.</a:t>
            </a:r>
            <a:endParaRPr lang="en-US" sz="850" dirty="0"/>
          </a:p>
        </p:txBody>
      </p:sp>
      <p:sp>
        <p:nvSpPr>
          <p:cNvPr id="22" name="Shape 19"/>
          <p:cNvSpPr/>
          <p:nvPr/>
        </p:nvSpPr>
        <p:spPr>
          <a:xfrm>
            <a:off x="2930286" y="1783080"/>
            <a:ext cx="2025030" cy="1353312"/>
          </a:xfrm>
          <a:prstGeom prst="roundRect">
            <a:avLst>
              <a:gd name="adj" fmla="val 2703"/>
            </a:avLst>
          </a:prstGeom>
          <a:solidFill>
            <a:srgbClr val="0F474D"/>
          </a:solidFill>
          <a:ln w="12700">
            <a:solidFill>
              <a:srgbClr val="1C5A5F"/>
            </a:solidFill>
            <a:prstDash val="solid"/>
          </a:ln>
        </p:spPr>
      </p:sp>
      <p:sp>
        <p:nvSpPr>
          <p:cNvPr id="23" name="Text 20"/>
          <p:cNvSpPr/>
          <p:nvPr/>
        </p:nvSpPr>
        <p:spPr>
          <a:xfrm>
            <a:off x="3094878" y="1911096"/>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02</a:t>
            </a:r>
            <a:endParaRPr lang="en-US" sz="900" dirty="0"/>
          </a:p>
        </p:txBody>
      </p:sp>
      <p:sp>
        <p:nvSpPr>
          <p:cNvPr id="24" name="Text 21"/>
          <p:cNvSpPr/>
          <p:nvPr/>
        </p:nvSpPr>
        <p:spPr>
          <a:xfrm>
            <a:off x="3094878" y="2130552"/>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Request</a:t>
            </a:r>
            <a:endParaRPr lang="en-US" sz="1100" dirty="0"/>
          </a:p>
        </p:txBody>
      </p:sp>
      <p:sp>
        <p:nvSpPr>
          <p:cNvPr id="25" name="Text 22"/>
          <p:cNvSpPr/>
          <p:nvPr/>
        </p:nvSpPr>
        <p:spPr>
          <a:xfrm>
            <a:off x="3094878" y="2551176"/>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Availability, quota, horizon checked at submit.</a:t>
            </a:r>
            <a:endParaRPr lang="en-US" sz="850" dirty="0"/>
          </a:p>
        </p:txBody>
      </p:sp>
      <p:sp>
        <p:nvSpPr>
          <p:cNvPr id="26" name="Shape 23"/>
          <p:cNvSpPr/>
          <p:nvPr/>
        </p:nvSpPr>
        <p:spPr>
          <a:xfrm>
            <a:off x="5083332" y="1783080"/>
            <a:ext cx="2025030" cy="1353312"/>
          </a:xfrm>
          <a:prstGeom prst="roundRect">
            <a:avLst>
              <a:gd name="adj" fmla="val 2703"/>
            </a:avLst>
          </a:prstGeom>
          <a:solidFill>
            <a:srgbClr val="0F474D"/>
          </a:solidFill>
          <a:ln w="12700">
            <a:solidFill>
              <a:srgbClr val="1C5A5F"/>
            </a:solidFill>
            <a:prstDash val="solid"/>
          </a:ln>
        </p:spPr>
      </p:sp>
      <p:sp>
        <p:nvSpPr>
          <p:cNvPr id="27" name="Text 24"/>
          <p:cNvSpPr/>
          <p:nvPr/>
        </p:nvSpPr>
        <p:spPr>
          <a:xfrm>
            <a:off x="5247924" y="1911096"/>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03</a:t>
            </a:r>
            <a:endParaRPr lang="en-US" sz="900" dirty="0"/>
          </a:p>
        </p:txBody>
      </p:sp>
      <p:sp>
        <p:nvSpPr>
          <p:cNvPr id="28" name="Text 25"/>
          <p:cNvSpPr/>
          <p:nvPr/>
        </p:nvSpPr>
        <p:spPr>
          <a:xfrm>
            <a:off x="5247924" y="2130552"/>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Eligibility</a:t>
            </a:r>
            <a:endParaRPr lang="en-US" sz="1100" dirty="0"/>
          </a:p>
        </p:txBody>
      </p:sp>
      <p:sp>
        <p:nvSpPr>
          <p:cNvPr id="29" name="Text 26"/>
          <p:cNvSpPr/>
          <p:nvPr/>
        </p:nvSpPr>
        <p:spPr>
          <a:xfrm>
            <a:off x="5247924" y="2551176"/>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Training and expiry valid at the slot start.</a:t>
            </a:r>
            <a:endParaRPr lang="en-US" sz="850" dirty="0"/>
          </a:p>
        </p:txBody>
      </p:sp>
      <p:sp>
        <p:nvSpPr>
          <p:cNvPr id="30" name="Shape 27"/>
          <p:cNvSpPr/>
          <p:nvPr/>
        </p:nvSpPr>
        <p:spPr>
          <a:xfrm>
            <a:off x="7236379" y="1783080"/>
            <a:ext cx="2025030" cy="1353312"/>
          </a:xfrm>
          <a:prstGeom prst="roundRect">
            <a:avLst>
              <a:gd name="adj" fmla="val 2703"/>
            </a:avLst>
          </a:prstGeom>
          <a:solidFill>
            <a:srgbClr val="0F474D"/>
          </a:solidFill>
          <a:ln w="12700">
            <a:solidFill>
              <a:srgbClr val="1C5A5F"/>
            </a:solidFill>
            <a:prstDash val="solid"/>
          </a:ln>
        </p:spPr>
      </p:sp>
      <p:sp>
        <p:nvSpPr>
          <p:cNvPr id="31" name="Text 28"/>
          <p:cNvSpPr/>
          <p:nvPr/>
        </p:nvSpPr>
        <p:spPr>
          <a:xfrm>
            <a:off x="7400971" y="1911096"/>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04</a:t>
            </a:r>
            <a:endParaRPr lang="en-US" sz="900" dirty="0"/>
          </a:p>
        </p:txBody>
      </p:sp>
      <p:sp>
        <p:nvSpPr>
          <p:cNvPr id="32" name="Text 29"/>
          <p:cNvSpPr/>
          <p:nvPr/>
        </p:nvSpPr>
        <p:spPr>
          <a:xfrm>
            <a:off x="7400971" y="2130552"/>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Approval</a:t>
            </a:r>
            <a:endParaRPr lang="en-US" sz="1100" dirty="0"/>
          </a:p>
        </p:txBody>
      </p:sp>
      <p:sp>
        <p:nvSpPr>
          <p:cNvPr id="33" name="Text 30"/>
          <p:cNvSpPr/>
          <p:nvPr/>
        </p:nvSpPr>
        <p:spPr>
          <a:xfrm>
            <a:off x="7400971" y="2551176"/>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Manager decides with a reason; rejection is evidence.</a:t>
            </a:r>
            <a:endParaRPr lang="en-US" sz="850" dirty="0"/>
          </a:p>
        </p:txBody>
      </p:sp>
      <p:sp>
        <p:nvSpPr>
          <p:cNvPr id="34" name="Shape 31"/>
          <p:cNvSpPr/>
          <p:nvPr/>
        </p:nvSpPr>
        <p:spPr>
          <a:xfrm>
            <a:off x="9389425" y="1783080"/>
            <a:ext cx="2025030" cy="1353312"/>
          </a:xfrm>
          <a:prstGeom prst="roundRect">
            <a:avLst>
              <a:gd name="adj" fmla="val 2703"/>
            </a:avLst>
          </a:prstGeom>
          <a:solidFill>
            <a:srgbClr val="0F474D"/>
          </a:solidFill>
          <a:ln w="12700">
            <a:solidFill>
              <a:srgbClr val="1C5A5F"/>
            </a:solidFill>
            <a:prstDash val="solid"/>
          </a:ln>
        </p:spPr>
      </p:sp>
      <p:sp>
        <p:nvSpPr>
          <p:cNvPr id="35" name="Text 32"/>
          <p:cNvSpPr/>
          <p:nvPr/>
        </p:nvSpPr>
        <p:spPr>
          <a:xfrm>
            <a:off x="9554017" y="1911096"/>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05</a:t>
            </a:r>
            <a:endParaRPr lang="en-US" sz="900" dirty="0"/>
          </a:p>
        </p:txBody>
      </p:sp>
      <p:sp>
        <p:nvSpPr>
          <p:cNvPr id="36" name="Text 33"/>
          <p:cNvSpPr/>
          <p:nvPr/>
        </p:nvSpPr>
        <p:spPr>
          <a:xfrm>
            <a:off x="9554017" y="2130552"/>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Check-in</a:t>
            </a:r>
            <a:endParaRPr lang="en-US" sz="1100" dirty="0"/>
          </a:p>
        </p:txBody>
      </p:sp>
      <p:sp>
        <p:nvSpPr>
          <p:cNvPr id="37" name="Text 34"/>
          <p:cNvSpPr/>
          <p:nvPr/>
        </p:nvSpPr>
        <p:spPr>
          <a:xfrm>
            <a:off x="9554017" y="2551176"/>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Window opens before the slot; late means no-show.</a:t>
            </a:r>
            <a:endParaRPr lang="en-US" sz="850" dirty="0"/>
          </a:p>
        </p:txBody>
      </p:sp>
      <p:sp>
        <p:nvSpPr>
          <p:cNvPr id="38" name="Shape 35"/>
          <p:cNvSpPr/>
          <p:nvPr/>
        </p:nvSpPr>
        <p:spPr>
          <a:xfrm>
            <a:off x="777240" y="3264408"/>
            <a:ext cx="2025030" cy="1353312"/>
          </a:xfrm>
          <a:prstGeom prst="roundRect">
            <a:avLst>
              <a:gd name="adj" fmla="val 2703"/>
            </a:avLst>
          </a:prstGeom>
          <a:solidFill>
            <a:srgbClr val="0F474D"/>
          </a:solidFill>
          <a:ln w="12700">
            <a:solidFill>
              <a:srgbClr val="1C5A5F"/>
            </a:solidFill>
            <a:prstDash val="solid"/>
          </a:ln>
        </p:spPr>
      </p:sp>
      <p:sp>
        <p:nvSpPr>
          <p:cNvPr id="39" name="Text 36"/>
          <p:cNvSpPr/>
          <p:nvPr/>
        </p:nvSpPr>
        <p:spPr>
          <a:xfrm>
            <a:off x="941832" y="3392424"/>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06</a:t>
            </a:r>
            <a:endParaRPr lang="en-US" sz="900" dirty="0"/>
          </a:p>
        </p:txBody>
      </p:sp>
      <p:sp>
        <p:nvSpPr>
          <p:cNvPr id="40" name="Text 37"/>
          <p:cNvSpPr/>
          <p:nvPr/>
        </p:nvSpPr>
        <p:spPr>
          <a:xfrm>
            <a:off x="941832" y="3611880"/>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Usage &amp; check-out</a:t>
            </a:r>
            <a:endParaRPr lang="en-US" sz="1100" dirty="0"/>
          </a:p>
        </p:txBody>
      </p:sp>
      <p:sp>
        <p:nvSpPr>
          <p:cNvPr id="41" name="Text 38"/>
          <p:cNvSpPr/>
          <p:nvPr/>
        </p:nvSpPr>
        <p:spPr>
          <a:xfrm>
            <a:off x="941832" y="4032504"/>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Actual hours plus a condition note.</a:t>
            </a:r>
            <a:endParaRPr lang="en-US" sz="850" dirty="0"/>
          </a:p>
        </p:txBody>
      </p:sp>
      <p:sp>
        <p:nvSpPr>
          <p:cNvPr id="42" name="Shape 39"/>
          <p:cNvSpPr/>
          <p:nvPr/>
        </p:nvSpPr>
        <p:spPr>
          <a:xfrm>
            <a:off x="2930286" y="3264408"/>
            <a:ext cx="2025030" cy="1353312"/>
          </a:xfrm>
          <a:prstGeom prst="roundRect">
            <a:avLst>
              <a:gd name="adj" fmla="val 2703"/>
            </a:avLst>
          </a:prstGeom>
          <a:solidFill>
            <a:srgbClr val="0F474D"/>
          </a:solidFill>
          <a:ln w="12700">
            <a:solidFill>
              <a:srgbClr val="1C5A5F"/>
            </a:solidFill>
            <a:prstDash val="solid"/>
          </a:ln>
        </p:spPr>
      </p:sp>
      <p:sp>
        <p:nvSpPr>
          <p:cNvPr id="43" name="Text 40"/>
          <p:cNvSpPr/>
          <p:nvPr/>
        </p:nvSpPr>
        <p:spPr>
          <a:xfrm>
            <a:off x="3094878" y="3392424"/>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07</a:t>
            </a:r>
            <a:endParaRPr lang="en-US" sz="900" dirty="0"/>
          </a:p>
        </p:txBody>
      </p:sp>
      <p:sp>
        <p:nvSpPr>
          <p:cNvPr id="44" name="Text 41"/>
          <p:cNvSpPr/>
          <p:nvPr/>
        </p:nvSpPr>
        <p:spPr>
          <a:xfrm>
            <a:off x="3094878" y="3611880"/>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Incident</a:t>
            </a:r>
            <a:endParaRPr lang="en-US" sz="1100" dirty="0"/>
          </a:p>
        </p:txBody>
      </p:sp>
      <p:sp>
        <p:nvSpPr>
          <p:cNvPr id="45" name="Text 42"/>
          <p:cNvSpPr/>
          <p:nvPr/>
        </p:nvSpPr>
        <p:spPr>
          <a:xfrm>
            <a:off x="3094878" y="4032504"/>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Severity, status, resolution, resource release.</a:t>
            </a:r>
            <a:endParaRPr lang="en-US" sz="850" dirty="0"/>
          </a:p>
        </p:txBody>
      </p:sp>
      <p:sp>
        <p:nvSpPr>
          <p:cNvPr id="46" name="Shape 43"/>
          <p:cNvSpPr/>
          <p:nvPr/>
        </p:nvSpPr>
        <p:spPr>
          <a:xfrm>
            <a:off x="5083332" y="3264408"/>
            <a:ext cx="2025030" cy="1353312"/>
          </a:xfrm>
          <a:prstGeom prst="roundRect">
            <a:avLst>
              <a:gd name="adj" fmla="val 2703"/>
            </a:avLst>
          </a:prstGeom>
          <a:solidFill>
            <a:srgbClr val="0F474D"/>
          </a:solidFill>
          <a:ln w="12700">
            <a:solidFill>
              <a:srgbClr val="1C5A5F"/>
            </a:solidFill>
            <a:prstDash val="solid"/>
          </a:ln>
        </p:spPr>
      </p:sp>
      <p:sp>
        <p:nvSpPr>
          <p:cNvPr id="47" name="Text 44"/>
          <p:cNvSpPr/>
          <p:nvPr/>
        </p:nvSpPr>
        <p:spPr>
          <a:xfrm>
            <a:off x="5247924" y="3392424"/>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08</a:t>
            </a:r>
            <a:endParaRPr lang="en-US" sz="900" dirty="0"/>
          </a:p>
        </p:txBody>
      </p:sp>
      <p:sp>
        <p:nvSpPr>
          <p:cNvPr id="48" name="Text 45"/>
          <p:cNvSpPr/>
          <p:nvPr/>
        </p:nvSpPr>
        <p:spPr>
          <a:xfrm>
            <a:off x="5247924" y="3611880"/>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Maintenance</a:t>
            </a:r>
            <a:endParaRPr lang="en-US" sz="1100" dirty="0"/>
          </a:p>
        </p:txBody>
      </p:sp>
      <p:sp>
        <p:nvSpPr>
          <p:cNvPr id="49" name="Text 46"/>
          <p:cNvSpPr/>
          <p:nvPr/>
        </p:nvSpPr>
        <p:spPr>
          <a:xfrm>
            <a:off x="5247924" y="4032504"/>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Blackout, downtime hours, repair cost.</a:t>
            </a:r>
            <a:endParaRPr lang="en-US" sz="850" dirty="0"/>
          </a:p>
        </p:txBody>
      </p:sp>
      <p:sp>
        <p:nvSpPr>
          <p:cNvPr id="50" name="Shape 47"/>
          <p:cNvSpPr/>
          <p:nvPr/>
        </p:nvSpPr>
        <p:spPr>
          <a:xfrm>
            <a:off x="7236379" y="3264408"/>
            <a:ext cx="2025030" cy="1353312"/>
          </a:xfrm>
          <a:prstGeom prst="roundRect">
            <a:avLst>
              <a:gd name="adj" fmla="val 2703"/>
            </a:avLst>
          </a:prstGeom>
          <a:solidFill>
            <a:srgbClr val="0A3135"/>
          </a:solidFill>
          <a:ln w="12700">
            <a:solidFill>
              <a:srgbClr val="5FA9A0"/>
            </a:solidFill>
            <a:prstDash val="solid"/>
          </a:ln>
        </p:spPr>
      </p:sp>
      <p:sp>
        <p:nvSpPr>
          <p:cNvPr id="51" name="Text 48"/>
          <p:cNvSpPr/>
          <p:nvPr/>
        </p:nvSpPr>
        <p:spPr>
          <a:xfrm>
            <a:off x="7400971" y="3392424"/>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09</a:t>
            </a:r>
            <a:endParaRPr lang="en-US" sz="900" dirty="0"/>
          </a:p>
        </p:txBody>
      </p:sp>
      <p:sp>
        <p:nvSpPr>
          <p:cNvPr id="52" name="Text 49"/>
          <p:cNvSpPr/>
          <p:nvPr/>
        </p:nvSpPr>
        <p:spPr>
          <a:xfrm>
            <a:off x="7400971" y="3611880"/>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Evidence</a:t>
            </a:r>
            <a:endParaRPr lang="en-US" sz="1100" dirty="0"/>
          </a:p>
        </p:txBody>
      </p:sp>
      <p:sp>
        <p:nvSpPr>
          <p:cNvPr id="53" name="Text 50"/>
          <p:cNvSpPr/>
          <p:nvPr/>
        </p:nvSpPr>
        <p:spPr>
          <a:xfrm>
            <a:off x="7400971" y="4032504"/>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Utilisation, no-shows, unmet demand, exports.</a:t>
            </a:r>
            <a:endParaRPr lang="en-US" sz="850" dirty="0"/>
          </a:p>
        </p:txBody>
      </p:sp>
      <p:sp>
        <p:nvSpPr>
          <p:cNvPr id="54" name="Shape 51"/>
          <p:cNvSpPr/>
          <p:nvPr/>
        </p:nvSpPr>
        <p:spPr>
          <a:xfrm>
            <a:off x="9389425" y="3264408"/>
            <a:ext cx="2025030" cy="1353312"/>
          </a:xfrm>
          <a:prstGeom prst="roundRect">
            <a:avLst>
              <a:gd name="adj" fmla="val 2703"/>
            </a:avLst>
          </a:prstGeom>
          <a:solidFill>
            <a:srgbClr val="0A3135"/>
          </a:solidFill>
          <a:ln w="12700">
            <a:solidFill>
              <a:srgbClr val="5FA9A0"/>
            </a:solidFill>
            <a:prstDash val="solid"/>
          </a:ln>
        </p:spPr>
      </p:sp>
      <p:sp>
        <p:nvSpPr>
          <p:cNvPr id="55" name="Text 52"/>
          <p:cNvSpPr/>
          <p:nvPr/>
        </p:nvSpPr>
        <p:spPr>
          <a:xfrm>
            <a:off x="9554017" y="3392424"/>
            <a:ext cx="731520" cy="201168"/>
          </a:xfrm>
          <a:prstGeom prst="rect">
            <a:avLst/>
          </a:prstGeom>
          <a:noFill/>
          <a:ln/>
        </p:spPr>
        <p:txBody>
          <a:bodyPr wrap="square" rtlCol="0" anchor="ctr"/>
          <a:lstStyle/>
          <a:p>
            <a:pPr indent="0" marL="0">
              <a:buNone/>
            </a:pPr>
            <a:r>
              <a:rPr lang="en-US" sz="900" b="1" dirty="0">
                <a:solidFill>
                  <a:srgbClr val="8FE0D2"/>
                </a:solidFill>
                <a:latin typeface="Segoe UI" pitchFamily="34" charset="0"/>
                <a:ea typeface="Segoe UI" pitchFamily="34" charset="-122"/>
                <a:cs typeface="Segoe UI" pitchFamily="34" charset="-120"/>
              </a:rPr>
              <a:t>10</a:t>
            </a:r>
            <a:endParaRPr lang="en-US" sz="900" dirty="0"/>
          </a:p>
        </p:txBody>
      </p:sp>
      <p:sp>
        <p:nvSpPr>
          <p:cNvPr id="56" name="Text 53"/>
          <p:cNvSpPr/>
          <p:nvPr/>
        </p:nvSpPr>
        <p:spPr>
          <a:xfrm>
            <a:off x="9554017" y="3611880"/>
            <a:ext cx="1695846" cy="402336"/>
          </a:xfrm>
          <a:prstGeom prst="rect">
            <a:avLst/>
          </a:prstGeom>
          <a:noFill/>
          <a:ln/>
        </p:spPr>
        <p:txBody>
          <a:bodyPr wrap="square" rtlCol="0" anchor="t"/>
          <a:lstStyle/>
          <a:p>
            <a:pPr indent="0" marL="0">
              <a:buNone/>
            </a:pPr>
            <a:r>
              <a:rPr lang="en-US" sz="1100" b="1" dirty="0">
                <a:solidFill>
                  <a:srgbClr val="FFFFFF"/>
                </a:solidFill>
                <a:latin typeface="Segoe UI" pitchFamily="34" charset="0"/>
                <a:ea typeface="Segoe UI" pitchFamily="34" charset="-122"/>
                <a:cs typeface="Segoe UI" pitchFamily="34" charset="-120"/>
              </a:rPr>
              <a:t>Capital decision</a:t>
            </a:r>
            <a:endParaRPr lang="en-US" sz="1100" dirty="0"/>
          </a:p>
        </p:txBody>
      </p:sp>
      <p:sp>
        <p:nvSpPr>
          <p:cNvPr id="57" name="Text 54"/>
          <p:cNvSpPr/>
          <p:nvPr/>
        </p:nvSpPr>
        <p:spPr>
          <a:xfrm>
            <a:off x="9554017" y="4032504"/>
            <a:ext cx="1695846" cy="512064"/>
          </a:xfrm>
          <a:prstGeom prst="rect">
            <a:avLst/>
          </a:prstGeom>
          <a:noFill/>
          <a:ln/>
        </p:spPr>
        <p:txBody>
          <a:bodyPr wrap="square" rtlCol="0" anchor="t"/>
          <a:lstStyle/>
          <a:p>
            <a:pPr indent="0" marL="0">
              <a:lnSpc>
                <a:spcPct val="106000"/>
              </a:lnSpc>
              <a:buNone/>
            </a:pPr>
            <a:r>
              <a:rPr lang="en-US" sz="850" dirty="0">
                <a:solidFill>
                  <a:srgbClr val="8FB6B8"/>
                </a:solidFill>
                <a:latin typeface="Segoe UI" pitchFamily="34" charset="0"/>
                <a:ea typeface="Segoe UI" pitchFamily="34" charset="-122"/>
                <a:cs typeface="Segoe UI" pitchFamily="34" charset="-120"/>
              </a:rPr>
              <a:t>Five options, human choice, frozen record.</a:t>
            </a:r>
            <a:endParaRPr lang="en-US" sz="850" dirty="0"/>
          </a:p>
        </p:txBody>
      </p:sp>
      <p:sp>
        <p:nvSpPr>
          <p:cNvPr id="58" name="Text 55"/>
          <p:cNvSpPr/>
          <p:nvPr/>
        </p:nvSpPr>
        <p:spPr>
          <a:xfrm>
            <a:off x="777240" y="5029200"/>
            <a:ext cx="10637215" cy="365760"/>
          </a:xfrm>
          <a:prstGeom prst="rect">
            <a:avLst/>
          </a:prstGeom>
          <a:noFill/>
          <a:ln/>
        </p:spPr>
        <p:txBody>
          <a:bodyPr wrap="square" rtlCol="0" anchor="ctr"/>
          <a:lstStyle/>
          <a:p>
            <a:pPr indent="0" marL="0">
              <a:buNone/>
            </a:pPr>
            <a:r>
              <a:rPr lang="en-US" sz="1100" dirty="0">
                <a:solidFill>
                  <a:srgbClr val="CFE2E1"/>
                </a:solidFill>
                <a:latin typeface="Segoe UI" pitchFamily="34" charset="0"/>
                <a:ea typeface="Segoe UI" pitchFamily="34" charset="-122"/>
                <a:cs typeface="Segoe UI" pitchFamily="34" charset="-120"/>
              </a:rPr>
              <a:t>Every step writes who acted, when and why. Nothing is reconstructed from memory during an inspection.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5</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FEATURES · BUILT</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What exists in the prototype today</a:t>
            </a:r>
            <a:endParaRPr lang="en-US" sz="2800" dirty="0"/>
          </a:p>
        </p:txBody>
      </p:sp>
      <p:sp>
        <p:nvSpPr>
          <p:cNvPr id="18" name="Text 15"/>
          <p:cNvSpPr/>
          <p:nvPr/>
        </p:nvSpPr>
        <p:spPr>
          <a:xfrm>
            <a:off x="777240" y="1828800"/>
            <a:ext cx="5029200" cy="3108960"/>
          </a:xfrm>
          <a:prstGeom prst="rect">
            <a:avLst/>
          </a:prstGeom>
          <a:noFill/>
          <a:ln/>
        </p:spPr>
        <p:txBody>
          <a:bodyPr wrap="square" rtlCol="0" anchor="t"/>
          <a:lstStyle/>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Tenant-scoped accounts with four roles</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Resource catalogue with lifecycle fields</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Availability, opening hours, blackouts</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Conflict-proof booking via exclusion constraint</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Training-aware eligibility</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Approvals with a recorded reason</a:t>
            </a:r>
            <a:endParaRPr lang="en-US" sz="1150" dirty="0"/>
          </a:p>
        </p:txBody>
      </p:sp>
      <p:sp>
        <p:nvSpPr>
          <p:cNvPr id="19" name="Text 16"/>
          <p:cNvSpPr/>
          <p:nvPr/>
        </p:nvSpPr>
        <p:spPr>
          <a:xfrm>
            <a:off x="6172200" y="1828800"/>
            <a:ext cx="5029200" cy="3108960"/>
          </a:xfrm>
          <a:prstGeom prst="rect">
            <a:avLst/>
          </a:prstGeom>
          <a:noFill/>
          <a:ln/>
        </p:spPr>
        <p:txBody>
          <a:bodyPr wrap="square" rtlCol="0" anchor="t"/>
          <a:lstStyle/>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Check-in, check-out and condition note</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Incidents and maintenance with downtime cost</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Downtime-adjusted utilisation and no-show rate</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Unmet demand by cause, plus four CSV exports</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Append-only audit trail</a:t>
            </a:r>
            <a:endParaRPr lang="en-US" sz="1150" dirty="0"/>
          </a:p>
          <a:p>
            <a:pPr marL="342900" indent="-342900">
              <a:lnSpc>
                <a:spcPct val="110000"/>
              </a:lnSpc>
              <a:spcAft>
                <a:spcPts val="1100"/>
              </a:spcAft>
              <a:buSzPct val="100000"/>
              <a:buChar char="•"/>
            </a:pPr>
            <a:r>
              <a:rPr lang="en-US" sz="1150" dirty="0">
                <a:solidFill>
                  <a:srgbClr val="CFE2E1"/>
                </a:solidFill>
                <a:latin typeface="Segoe UI" pitchFamily="34" charset="0"/>
                <a:ea typeface="Segoe UI" pitchFamily="34" charset="-122"/>
                <a:cs typeface="Segoe UI" pitchFamily="34" charset="-120"/>
              </a:rPr>
              <a:t>Capital decision records with human sign-off</a:t>
            </a:r>
            <a:endParaRPr lang="en-US" sz="1150" dirty="0"/>
          </a:p>
        </p:txBody>
      </p:sp>
      <p:sp>
        <p:nvSpPr>
          <p:cNvPr id="20" name="Shape 17"/>
          <p:cNvSpPr/>
          <p:nvPr/>
        </p:nvSpPr>
        <p:spPr>
          <a:xfrm>
            <a:off x="777240" y="4892040"/>
            <a:ext cx="10637215" cy="1051560"/>
          </a:xfrm>
          <a:prstGeom prst="roundRect">
            <a:avLst>
              <a:gd name="adj" fmla="val 3478"/>
            </a:avLst>
          </a:prstGeom>
          <a:solidFill>
            <a:srgbClr val="0A3135"/>
          </a:solidFill>
          <a:ln w="12700">
            <a:solidFill>
              <a:srgbClr val="1C5A5F"/>
            </a:solidFill>
            <a:prstDash val="solid"/>
          </a:ln>
        </p:spPr>
      </p:sp>
      <p:sp>
        <p:nvSpPr>
          <p:cNvPr id="21" name="Text 18"/>
          <p:cNvSpPr/>
          <p:nvPr/>
        </p:nvSpPr>
        <p:spPr>
          <a:xfrm>
            <a:off x="1033272" y="5029200"/>
            <a:ext cx="2926080" cy="274320"/>
          </a:xfrm>
          <a:prstGeom prst="rect">
            <a:avLst/>
          </a:prstGeom>
          <a:noFill/>
          <a:ln/>
        </p:spPr>
        <p:txBody>
          <a:bodyPr wrap="square" rtlCol="0" anchor="ctr"/>
          <a:lstStyle/>
          <a:p>
            <a:pPr indent="0" marL="0">
              <a:buNone/>
            </a:pPr>
            <a:r>
              <a:rPr lang="en-US" sz="1100" b="1" dirty="0">
                <a:solidFill>
                  <a:srgbClr val="8FE0D2"/>
                </a:solidFill>
                <a:latin typeface="Segoe UI" pitchFamily="34" charset="0"/>
                <a:ea typeface="Segoe UI" pitchFamily="34" charset="-122"/>
                <a:cs typeface="Segoe UI" pitchFamily="34" charset="-120"/>
              </a:rPr>
              <a:t>40 automated tests</a:t>
            </a:r>
            <a:endParaRPr lang="en-US" sz="1100" dirty="0"/>
          </a:p>
        </p:txBody>
      </p:sp>
      <p:sp>
        <p:nvSpPr>
          <p:cNvPr id="22" name="Text 19"/>
          <p:cNvSpPr/>
          <p:nvPr/>
        </p:nvSpPr>
        <p:spPr>
          <a:xfrm>
            <a:off x="4023360" y="5010912"/>
            <a:ext cx="7116775" cy="822960"/>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Eight-way race for one booking window (one wins) · cross-tenant read returns nothing · audit rows reject UPDATE and DELETE · decision records survive re-costing the asset.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6</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FEATURES · MISSING TODAY</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What makes it operationally complete</a:t>
            </a:r>
            <a:endParaRPr lang="en-US" sz="2800" dirty="0"/>
          </a:p>
        </p:txBody>
      </p:sp>
      <p:sp>
        <p:nvSpPr>
          <p:cNvPr id="18" name="Shape 15"/>
          <p:cNvSpPr/>
          <p:nvPr/>
        </p:nvSpPr>
        <p:spPr>
          <a:xfrm>
            <a:off x="777240" y="1755648"/>
            <a:ext cx="5236312" cy="2011680"/>
          </a:xfrm>
          <a:prstGeom prst="roundRect">
            <a:avLst>
              <a:gd name="adj" fmla="val 1818"/>
            </a:avLst>
          </a:prstGeom>
          <a:solidFill>
            <a:srgbClr val="0A3135"/>
          </a:solidFill>
          <a:ln w="12700">
            <a:solidFill>
              <a:srgbClr val="1C5A5F"/>
            </a:solidFill>
            <a:prstDash val="solid"/>
          </a:ln>
        </p:spPr>
      </p:sp>
      <p:sp>
        <p:nvSpPr>
          <p:cNvPr id="19" name="Text 16"/>
          <p:cNvSpPr/>
          <p:nvPr/>
        </p:nvSpPr>
        <p:spPr>
          <a:xfrm>
            <a:off x="978408" y="1874520"/>
            <a:ext cx="3291840" cy="219456"/>
          </a:xfrm>
          <a:prstGeom prst="rect">
            <a:avLst/>
          </a:prstGeom>
          <a:noFill/>
          <a:ln/>
        </p:spPr>
        <p:txBody>
          <a:bodyPr wrap="square" rtlCol="0" anchor="ctr"/>
          <a:lstStyle/>
          <a:p>
            <a:pPr indent="0" marL="0">
              <a:buNone/>
            </a:pPr>
            <a:r>
              <a:rPr lang="en-US" sz="900" b="1" spc="130" kern="0" dirty="0">
                <a:solidFill>
                  <a:srgbClr val="8FE0D2"/>
                </a:solidFill>
                <a:latin typeface="Segoe UI" pitchFamily="34" charset="0"/>
                <a:ea typeface="Segoe UI" pitchFamily="34" charset="-122"/>
                <a:cs typeface="Segoe UI" pitchFamily="34" charset="-120"/>
              </a:rPr>
              <a:t>READINESS GATES</a:t>
            </a:r>
            <a:endParaRPr lang="en-US" sz="900" dirty="0"/>
          </a:p>
        </p:txBody>
      </p:sp>
      <p:sp>
        <p:nvSpPr>
          <p:cNvPr id="20" name="Text 17"/>
          <p:cNvSpPr/>
          <p:nvPr/>
        </p:nvSpPr>
        <p:spPr>
          <a:xfrm>
            <a:off x="4413352" y="1874520"/>
            <a:ext cx="1371600" cy="219456"/>
          </a:xfrm>
          <a:prstGeom prst="rect">
            <a:avLst/>
          </a:prstGeom>
          <a:noFill/>
          <a:ln/>
        </p:spPr>
        <p:txBody>
          <a:bodyPr wrap="square" rtlCol="0" anchor="ctr"/>
          <a:lstStyle/>
          <a:p>
            <a:pPr algn="r" indent="0" marL="0">
              <a:buNone/>
            </a:pPr>
            <a:r>
              <a:rPr lang="en-US" sz="850" b="1" dirty="0">
                <a:solidFill>
                  <a:srgbClr val="F2B36B"/>
                </a:solidFill>
                <a:latin typeface="Segoe UI" pitchFamily="34" charset="0"/>
                <a:ea typeface="Segoe UI" pitchFamily="34" charset="-122"/>
                <a:cs typeface="Segoe UI" pitchFamily="34" charset="-120"/>
              </a:rPr>
              <a:t>P0 for labs</a:t>
            </a:r>
            <a:endParaRPr lang="en-US" sz="850" dirty="0"/>
          </a:p>
        </p:txBody>
      </p:sp>
      <p:sp>
        <p:nvSpPr>
          <p:cNvPr id="21" name="Text 18"/>
          <p:cNvSpPr/>
          <p:nvPr/>
        </p:nvSpPr>
        <p:spPr>
          <a:xfrm>
            <a:off x="978408" y="2157984"/>
            <a:ext cx="4833976" cy="1517904"/>
          </a:xfrm>
          <a:prstGeom prst="rect">
            <a:avLst/>
          </a:prstGeom>
          <a:noFill/>
          <a:ln/>
        </p:spPr>
        <p:txBody>
          <a:bodyPr wrap="square" rtlCol="0" anchor="t"/>
          <a:lstStyle/>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Calibration and compliance records with expiry; overdue blocks booking and check-in.</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Consumables linked to each resource, with quantity per session and minimum-stock alerts.</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AMC, warranty and vendor records with renewal reminders and coverage status.</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Resource dependencies: technician, room, tool kit, plus setup and cleanup buffers.</a:t>
            </a:r>
            <a:endParaRPr lang="en-US" sz="880" dirty="0"/>
          </a:p>
        </p:txBody>
      </p:sp>
      <p:sp>
        <p:nvSpPr>
          <p:cNvPr id="22" name="Shape 19"/>
          <p:cNvSpPr/>
          <p:nvPr/>
        </p:nvSpPr>
        <p:spPr>
          <a:xfrm>
            <a:off x="6178144" y="1755648"/>
            <a:ext cx="5236312" cy="2011680"/>
          </a:xfrm>
          <a:prstGeom prst="roundRect">
            <a:avLst>
              <a:gd name="adj" fmla="val 1818"/>
            </a:avLst>
          </a:prstGeom>
          <a:solidFill>
            <a:srgbClr val="0A3135"/>
          </a:solidFill>
          <a:ln w="12700">
            <a:solidFill>
              <a:srgbClr val="1C5A5F"/>
            </a:solidFill>
            <a:prstDash val="solid"/>
          </a:ln>
        </p:spPr>
      </p:sp>
      <p:sp>
        <p:nvSpPr>
          <p:cNvPr id="23" name="Text 20"/>
          <p:cNvSpPr/>
          <p:nvPr/>
        </p:nvSpPr>
        <p:spPr>
          <a:xfrm>
            <a:off x="6379312" y="1874520"/>
            <a:ext cx="3291840" cy="219456"/>
          </a:xfrm>
          <a:prstGeom prst="rect">
            <a:avLst/>
          </a:prstGeom>
          <a:noFill/>
          <a:ln/>
        </p:spPr>
        <p:txBody>
          <a:bodyPr wrap="square" rtlCol="0" anchor="ctr"/>
          <a:lstStyle/>
          <a:p>
            <a:pPr indent="0" marL="0">
              <a:buNone/>
            </a:pPr>
            <a:r>
              <a:rPr lang="en-US" sz="900" b="1" spc="130" kern="0" dirty="0">
                <a:solidFill>
                  <a:srgbClr val="8FE0D2"/>
                </a:solidFill>
                <a:latin typeface="Segoe UI" pitchFamily="34" charset="0"/>
                <a:ea typeface="Segoe UI" pitchFamily="34" charset="-122"/>
                <a:cs typeface="Segoe UI" pitchFamily="34" charset="-120"/>
              </a:rPr>
              <a:t>WORK RECORDS</a:t>
            </a:r>
            <a:endParaRPr lang="en-US" sz="900" dirty="0"/>
          </a:p>
        </p:txBody>
      </p:sp>
      <p:sp>
        <p:nvSpPr>
          <p:cNvPr id="24" name="Text 21"/>
          <p:cNvSpPr/>
          <p:nvPr/>
        </p:nvSpPr>
        <p:spPr>
          <a:xfrm>
            <a:off x="9814255" y="1874520"/>
            <a:ext cx="1371600" cy="219456"/>
          </a:xfrm>
          <a:prstGeom prst="rect">
            <a:avLst/>
          </a:prstGeom>
          <a:noFill/>
          <a:ln/>
        </p:spPr>
        <p:txBody>
          <a:bodyPr wrap="square" rtlCol="0" anchor="ctr"/>
          <a:lstStyle/>
          <a:p>
            <a:pPr algn="r" indent="0" marL="0">
              <a:buNone/>
            </a:pPr>
            <a:r>
              <a:rPr lang="en-US" sz="850" b="1" dirty="0">
                <a:solidFill>
                  <a:srgbClr val="F2B36B"/>
                </a:solidFill>
                <a:latin typeface="Segoe UI" pitchFamily="34" charset="0"/>
                <a:ea typeface="Segoe UI" pitchFamily="34" charset="-122"/>
                <a:cs typeface="Segoe UI" pitchFamily="34" charset="-120"/>
              </a:rPr>
              <a:t>P1</a:t>
            </a:r>
            <a:endParaRPr lang="en-US" sz="850" dirty="0"/>
          </a:p>
        </p:txBody>
      </p:sp>
      <p:sp>
        <p:nvSpPr>
          <p:cNvPr id="25" name="Text 22"/>
          <p:cNvSpPr/>
          <p:nvPr/>
        </p:nvSpPr>
        <p:spPr>
          <a:xfrm>
            <a:off x="6379312" y="2157984"/>
            <a:ext cx="4833976" cy="1517904"/>
          </a:xfrm>
          <a:prstGeom prst="rect">
            <a:avLst/>
          </a:prstGeom>
          <a:noFill/>
          <a:ln/>
        </p:spPr>
        <p:txBody>
          <a:bodyPr wrap="square" rtlCol="0" anchor="t"/>
          <a:lstStyle/>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Sample and job tracking: submitted → accepted → preparing → testing → completed → collected.</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Service requests and work orders from incidents, with parts, labour, cost and verification.</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SOP versioning with acknowledgement before check-in, and the active version stamped on each session.</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Emergency override with a mandatory reason, affected-user notification and audit trail.</a:t>
            </a:r>
            <a:endParaRPr lang="en-US" sz="880" dirty="0"/>
          </a:p>
        </p:txBody>
      </p:sp>
      <p:sp>
        <p:nvSpPr>
          <p:cNvPr id="26" name="Shape 23"/>
          <p:cNvSpPr/>
          <p:nvPr/>
        </p:nvSpPr>
        <p:spPr>
          <a:xfrm>
            <a:off x="777240" y="3895344"/>
            <a:ext cx="5236312" cy="2011680"/>
          </a:xfrm>
          <a:prstGeom prst="roundRect">
            <a:avLst>
              <a:gd name="adj" fmla="val 1818"/>
            </a:avLst>
          </a:prstGeom>
          <a:solidFill>
            <a:srgbClr val="0A3135"/>
          </a:solidFill>
          <a:ln w="12700">
            <a:solidFill>
              <a:srgbClr val="1C5A5F"/>
            </a:solidFill>
            <a:prstDash val="solid"/>
          </a:ln>
        </p:spPr>
      </p:sp>
      <p:sp>
        <p:nvSpPr>
          <p:cNvPr id="27" name="Text 24"/>
          <p:cNvSpPr/>
          <p:nvPr/>
        </p:nvSpPr>
        <p:spPr>
          <a:xfrm>
            <a:off x="978408" y="4014216"/>
            <a:ext cx="3291840" cy="219456"/>
          </a:xfrm>
          <a:prstGeom prst="rect">
            <a:avLst/>
          </a:prstGeom>
          <a:noFill/>
          <a:ln/>
        </p:spPr>
        <p:txBody>
          <a:bodyPr wrap="square" rtlCol="0" anchor="ctr"/>
          <a:lstStyle/>
          <a:p>
            <a:pPr indent="0" marL="0">
              <a:buNone/>
            </a:pPr>
            <a:r>
              <a:rPr lang="en-US" sz="900" b="1" spc="130" kern="0" dirty="0">
                <a:solidFill>
                  <a:srgbClr val="8FE0D2"/>
                </a:solidFill>
                <a:latin typeface="Segoe UI" pitchFamily="34" charset="0"/>
                <a:ea typeface="Segoe UI" pitchFamily="34" charset="-122"/>
                <a:cs typeface="Segoe UI" pitchFamily="34" charset="-120"/>
              </a:rPr>
              <a:t>FAIRNESS &amp; MONEY</a:t>
            </a:r>
            <a:endParaRPr lang="en-US" sz="900" dirty="0"/>
          </a:p>
        </p:txBody>
      </p:sp>
      <p:sp>
        <p:nvSpPr>
          <p:cNvPr id="28" name="Text 25"/>
          <p:cNvSpPr/>
          <p:nvPr/>
        </p:nvSpPr>
        <p:spPr>
          <a:xfrm>
            <a:off x="4413352" y="4014216"/>
            <a:ext cx="1371600" cy="219456"/>
          </a:xfrm>
          <a:prstGeom prst="rect">
            <a:avLst/>
          </a:prstGeom>
          <a:noFill/>
          <a:ln/>
        </p:spPr>
        <p:txBody>
          <a:bodyPr wrap="square" rtlCol="0" anchor="ctr"/>
          <a:lstStyle/>
          <a:p>
            <a:pPr algn="r" indent="0" marL="0">
              <a:buNone/>
            </a:pPr>
            <a:r>
              <a:rPr lang="en-US" sz="850" b="1" dirty="0">
                <a:solidFill>
                  <a:srgbClr val="F2B36B"/>
                </a:solidFill>
                <a:latin typeface="Segoe UI" pitchFamily="34" charset="0"/>
                <a:ea typeface="Segoe UI" pitchFamily="34" charset="-122"/>
                <a:cs typeface="Segoe UI" pitchFamily="34" charset="-120"/>
              </a:rPr>
              <a:t>P1 / P2</a:t>
            </a:r>
            <a:endParaRPr lang="en-US" sz="850" dirty="0"/>
          </a:p>
        </p:txBody>
      </p:sp>
      <p:sp>
        <p:nvSpPr>
          <p:cNvPr id="29" name="Text 26"/>
          <p:cNvSpPr/>
          <p:nvPr/>
        </p:nvSpPr>
        <p:spPr>
          <a:xfrm>
            <a:off x="978408" y="4297680"/>
            <a:ext cx="4833976" cy="1517904"/>
          </a:xfrm>
          <a:prstGeom prst="rect">
            <a:avLst/>
          </a:prstGeom>
          <a:noFill/>
          <a:ln/>
        </p:spPr>
        <p:txBody>
          <a:bodyPr wrap="square" rtlCol="0" anchor="t"/>
          <a:lstStyle/>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Waitlist with promotion rules, priority by group or deadline, and a stated reason for not promoting.</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Cooldown after a no-show, weekly and monthly caps, unused-quota release window.</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Guest and visiting-researcher access with expiry and automatic revocation (P2).</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Cost allocation to department, project or grant, with monthly chargeback exports.</a:t>
            </a:r>
            <a:endParaRPr lang="en-US" sz="880" dirty="0"/>
          </a:p>
        </p:txBody>
      </p:sp>
      <p:sp>
        <p:nvSpPr>
          <p:cNvPr id="30" name="Shape 27"/>
          <p:cNvSpPr/>
          <p:nvPr/>
        </p:nvSpPr>
        <p:spPr>
          <a:xfrm>
            <a:off x="6178144" y="3895344"/>
            <a:ext cx="5236312" cy="2011680"/>
          </a:xfrm>
          <a:prstGeom prst="roundRect">
            <a:avLst>
              <a:gd name="adj" fmla="val 1818"/>
            </a:avLst>
          </a:prstGeom>
          <a:solidFill>
            <a:srgbClr val="0A3135"/>
          </a:solidFill>
          <a:ln w="12700">
            <a:solidFill>
              <a:srgbClr val="1C5A5F"/>
            </a:solidFill>
            <a:prstDash val="solid"/>
          </a:ln>
        </p:spPr>
      </p:sp>
      <p:sp>
        <p:nvSpPr>
          <p:cNvPr id="31" name="Text 28"/>
          <p:cNvSpPr/>
          <p:nvPr/>
        </p:nvSpPr>
        <p:spPr>
          <a:xfrm>
            <a:off x="6379312" y="4014216"/>
            <a:ext cx="3291840" cy="219456"/>
          </a:xfrm>
          <a:prstGeom prst="rect">
            <a:avLst/>
          </a:prstGeom>
          <a:noFill/>
          <a:ln/>
        </p:spPr>
        <p:txBody>
          <a:bodyPr wrap="square" rtlCol="0" anchor="ctr"/>
          <a:lstStyle/>
          <a:p>
            <a:pPr indent="0" marL="0">
              <a:buNone/>
            </a:pPr>
            <a:r>
              <a:rPr lang="en-US" sz="900" b="1" spc="130" kern="0" dirty="0">
                <a:solidFill>
                  <a:srgbClr val="8FE0D2"/>
                </a:solidFill>
                <a:latin typeface="Segoe UI" pitchFamily="34" charset="0"/>
                <a:ea typeface="Segoe UI" pitchFamily="34" charset="-122"/>
                <a:cs typeface="Segoe UI" pitchFamily="34" charset="-120"/>
              </a:rPr>
              <a:t>REACH &amp; ADOPTION</a:t>
            </a:r>
            <a:endParaRPr lang="en-US" sz="900" dirty="0"/>
          </a:p>
        </p:txBody>
      </p:sp>
      <p:sp>
        <p:nvSpPr>
          <p:cNvPr id="32" name="Text 29"/>
          <p:cNvSpPr/>
          <p:nvPr/>
        </p:nvSpPr>
        <p:spPr>
          <a:xfrm>
            <a:off x="9814255" y="4014216"/>
            <a:ext cx="1371600" cy="219456"/>
          </a:xfrm>
          <a:prstGeom prst="rect">
            <a:avLst/>
          </a:prstGeom>
          <a:noFill/>
          <a:ln/>
        </p:spPr>
        <p:txBody>
          <a:bodyPr wrap="square" rtlCol="0" anchor="ctr"/>
          <a:lstStyle/>
          <a:p>
            <a:pPr algn="r" indent="0" marL="0">
              <a:buNone/>
            </a:pPr>
            <a:r>
              <a:rPr lang="en-US" sz="850" b="1" dirty="0">
                <a:solidFill>
                  <a:srgbClr val="F2B36B"/>
                </a:solidFill>
                <a:latin typeface="Segoe UI" pitchFamily="34" charset="0"/>
                <a:ea typeface="Segoe UI" pitchFamily="34" charset="-122"/>
                <a:cs typeface="Segoe UI" pitchFamily="34" charset="-120"/>
              </a:rPr>
              <a:t>P0 / P1</a:t>
            </a:r>
            <a:endParaRPr lang="en-US" sz="850" dirty="0"/>
          </a:p>
        </p:txBody>
      </p:sp>
      <p:sp>
        <p:nvSpPr>
          <p:cNvPr id="33" name="Text 30"/>
          <p:cNvSpPr/>
          <p:nvPr/>
        </p:nvSpPr>
        <p:spPr>
          <a:xfrm>
            <a:off x="6379312" y="4297680"/>
            <a:ext cx="4833976" cy="1517904"/>
          </a:xfrm>
          <a:prstGeom prst="rect">
            <a:avLst/>
          </a:prstGeom>
          <a:noFill/>
          <a:ln/>
        </p:spPr>
        <p:txBody>
          <a:bodyPr wrap="square" rtlCol="0" anchor="t"/>
          <a:lstStyle/>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Self-serve onboarding: guided checklist, templates by category, import with row-level error fixing.</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Calendar invitations (.ics), email reminders before the slot, and staff calendar sync.</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Offline and low-connectivity mode: staff check-in on behalf, queued actions, clear offline status.</a:t>
            </a:r>
            <a:endParaRPr lang="en-US" sz="880" dirty="0"/>
          </a:p>
          <a:p>
            <a:pPr marL="342900" indent="-342900">
              <a:lnSpc>
                <a:spcPct val="104000"/>
              </a:lnSpc>
              <a:spcAft>
                <a:spcPts val="400"/>
              </a:spcAft>
              <a:buSzPct val="100000"/>
              <a:buChar char="•"/>
            </a:pPr>
            <a:r>
              <a:rPr lang="en-US" sz="880" dirty="0">
                <a:solidFill>
                  <a:srgbClr val="CFE2E1"/>
                </a:solidFill>
                <a:latin typeface="Segoe UI" pitchFamily="34" charset="0"/>
                <a:ea typeface="Segoe UI" pitchFamily="34" charset="-122"/>
                <a:cs typeface="Segoe UI" pitchFamily="34" charset="-120"/>
              </a:rPr>
              <a:t>Accessibility basics now; Tamil or Hindi interface later (P2).</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7</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PRIORITISATION</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What we build next, and what we refuse</a:t>
            </a:r>
            <a:endParaRPr lang="en-US" sz="2800" dirty="0"/>
          </a:p>
        </p:txBody>
      </p:sp>
      <p:sp>
        <p:nvSpPr>
          <p:cNvPr id="18" name="Text 15"/>
          <p:cNvSpPr/>
          <p:nvPr/>
        </p:nvSpPr>
        <p:spPr>
          <a:xfrm>
            <a:off x="777240" y="1783080"/>
            <a:ext cx="4023360" cy="219456"/>
          </a:xfrm>
          <a:prstGeom prst="rect">
            <a:avLst/>
          </a:prstGeom>
          <a:noFill/>
          <a:ln/>
        </p:spPr>
        <p:txBody>
          <a:bodyPr wrap="square" rtlCol="0" anchor="ctr"/>
          <a:lstStyle/>
          <a:p>
            <a:pPr indent="0" marL="0">
              <a:buNone/>
            </a:pPr>
            <a:r>
              <a:rPr lang="en-US" sz="800" b="1" spc="120" kern="0" dirty="0">
                <a:solidFill>
                  <a:srgbClr val="5FA9A0"/>
                </a:solidFill>
                <a:latin typeface="Segoe UI" pitchFamily="34" charset="0"/>
                <a:ea typeface="Segoe UI" pitchFamily="34" charset="-122"/>
                <a:cs typeface="Segoe UI" pitchFamily="34" charset="-120"/>
              </a:rPr>
              <a:t>FEATURE</a:t>
            </a:r>
            <a:endParaRPr lang="en-US" sz="800" dirty="0"/>
          </a:p>
        </p:txBody>
      </p:sp>
      <p:sp>
        <p:nvSpPr>
          <p:cNvPr id="19" name="Text 16"/>
          <p:cNvSpPr/>
          <p:nvPr/>
        </p:nvSpPr>
        <p:spPr>
          <a:xfrm>
            <a:off x="4892040" y="1783080"/>
            <a:ext cx="4206240" cy="219456"/>
          </a:xfrm>
          <a:prstGeom prst="rect">
            <a:avLst/>
          </a:prstGeom>
          <a:noFill/>
          <a:ln/>
        </p:spPr>
        <p:txBody>
          <a:bodyPr wrap="square" rtlCol="0" anchor="ctr"/>
          <a:lstStyle/>
          <a:p>
            <a:pPr indent="0" marL="0">
              <a:buNone/>
            </a:pPr>
            <a:r>
              <a:rPr lang="en-US" sz="800" b="1" spc="120" kern="0" dirty="0">
                <a:solidFill>
                  <a:srgbClr val="5FA9A0"/>
                </a:solidFill>
                <a:latin typeface="Segoe UI" pitchFamily="34" charset="0"/>
                <a:ea typeface="Segoe UI" pitchFamily="34" charset="-122"/>
                <a:cs typeface="Segoe UI" pitchFamily="34" charset="-120"/>
              </a:rPr>
              <a:t>WHY IT MATTERS</a:t>
            </a:r>
            <a:endParaRPr lang="en-US" sz="800" dirty="0"/>
          </a:p>
        </p:txBody>
      </p:sp>
      <p:sp>
        <p:nvSpPr>
          <p:cNvPr id="20" name="Text 17"/>
          <p:cNvSpPr/>
          <p:nvPr/>
        </p:nvSpPr>
        <p:spPr>
          <a:xfrm>
            <a:off x="9646920" y="1783080"/>
            <a:ext cx="1737360" cy="219456"/>
          </a:xfrm>
          <a:prstGeom prst="rect">
            <a:avLst/>
          </a:prstGeom>
          <a:noFill/>
          <a:ln/>
        </p:spPr>
        <p:txBody>
          <a:bodyPr wrap="square" rtlCol="0" anchor="ctr"/>
          <a:lstStyle/>
          <a:p>
            <a:pPr algn="r" indent="0" marL="0">
              <a:buNone/>
            </a:pPr>
            <a:r>
              <a:rPr lang="en-US" sz="800" b="1" spc="120" kern="0" dirty="0">
                <a:solidFill>
                  <a:srgbClr val="5FA9A0"/>
                </a:solidFill>
                <a:latin typeface="Segoe UI" pitchFamily="34" charset="0"/>
                <a:ea typeface="Segoe UI" pitchFamily="34" charset="-122"/>
                <a:cs typeface="Segoe UI" pitchFamily="34" charset="-120"/>
              </a:rPr>
              <a:t>PRIORITY</a:t>
            </a:r>
            <a:endParaRPr lang="en-US" sz="800" dirty="0"/>
          </a:p>
        </p:txBody>
      </p:sp>
      <p:sp>
        <p:nvSpPr>
          <p:cNvPr id="21" name="Shape 18"/>
          <p:cNvSpPr/>
          <p:nvPr/>
        </p:nvSpPr>
        <p:spPr>
          <a:xfrm>
            <a:off x="777240" y="2093976"/>
            <a:ext cx="10637215" cy="0"/>
          </a:xfrm>
          <a:prstGeom prst="line">
            <a:avLst/>
          </a:prstGeom>
          <a:noFill/>
          <a:ln w="9525">
            <a:solidFill>
              <a:srgbClr val="1C5A5F"/>
            </a:solidFill>
            <a:prstDash val="solid"/>
          </a:ln>
        </p:spPr>
      </p:sp>
      <p:sp>
        <p:nvSpPr>
          <p:cNvPr id="22" name="Text 19"/>
          <p:cNvSpPr/>
          <p:nvPr/>
        </p:nvSpPr>
        <p:spPr>
          <a:xfrm>
            <a:off x="777240" y="2148840"/>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Calibration and compliance blocking</a:t>
            </a:r>
            <a:endParaRPr lang="en-US" sz="950" dirty="0"/>
          </a:p>
        </p:txBody>
      </p:sp>
      <p:sp>
        <p:nvSpPr>
          <p:cNvPr id="23" name="Text 20"/>
          <p:cNvSpPr/>
          <p:nvPr/>
        </p:nvSpPr>
        <p:spPr>
          <a:xfrm>
            <a:off x="4892040" y="2148840"/>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Unsafe or invalid use, no matter how free the slot</a:t>
            </a:r>
            <a:endParaRPr lang="en-US" sz="900" dirty="0"/>
          </a:p>
        </p:txBody>
      </p:sp>
      <p:sp>
        <p:nvSpPr>
          <p:cNvPr id="24" name="Text 21"/>
          <p:cNvSpPr/>
          <p:nvPr/>
        </p:nvSpPr>
        <p:spPr>
          <a:xfrm>
            <a:off x="9646920" y="2148840"/>
            <a:ext cx="1737360" cy="237744"/>
          </a:xfrm>
          <a:prstGeom prst="rect">
            <a:avLst/>
          </a:prstGeom>
          <a:noFill/>
          <a:ln/>
        </p:spPr>
        <p:txBody>
          <a:bodyPr wrap="square" rtlCol="0" anchor="ctr"/>
          <a:lstStyle/>
          <a:p>
            <a:pPr algn="r" indent="0" marL="0">
              <a:buNone/>
            </a:pPr>
            <a:r>
              <a:rPr lang="en-US" sz="900" b="1" dirty="0">
                <a:solidFill>
                  <a:srgbClr val="F2B36B"/>
                </a:solidFill>
                <a:latin typeface="Segoe UI" pitchFamily="34" charset="0"/>
                <a:ea typeface="Segoe UI" pitchFamily="34" charset="-122"/>
                <a:cs typeface="Segoe UI" pitchFamily="34" charset="-120"/>
              </a:rPr>
              <a:t>P0 · labs</a:t>
            </a:r>
            <a:endParaRPr lang="en-US" sz="900" dirty="0"/>
          </a:p>
        </p:txBody>
      </p:sp>
      <p:sp>
        <p:nvSpPr>
          <p:cNvPr id="25" name="Shape 22"/>
          <p:cNvSpPr/>
          <p:nvPr/>
        </p:nvSpPr>
        <p:spPr>
          <a:xfrm>
            <a:off x="777240" y="2478024"/>
            <a:ext cx="10637215" cy="0"/>
          </a:xfrm>
          <a:prstGeom prst="line">
            <a:avLst/>
          </a:prstGeom>
          <a:noFill/>
          <a:ln w="9525">
            <a:solidFill>
              <a:srgbClr val="1C5A5F"/>
            </a:solidFill>
            <a:prstDash val="solid"/>
          </a:ln>
        </p:spPr>
      </p:sp>
      <p:sp>
        <p:nvSpPr>
          <p:cNvPr id="26" name="Text 23"/>
          <p:cNvSpPr/>
          <p:nvPr/>
        </p:nvSpPr>
        <p:spPr>
          <a:xfrm>
            <a:off x="777240" y="2532888"/>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Emergency override and downtime comms</a:t>
            </a:r>
            <a:endParaRPr lang="en-US" sz="950" dirty="0"/>
          </a:p>
        </p:txBody>
      </p:sp>
      <p:sp>
        <p:nvSpPr>
          <p:cNvPr id="27" name="Text 24"/>
          <p:cNvSpPr/>
          <p:nvPr/>
        </p:nvSpPr>
        <p:spPr>
          <a:xfrm>
            <a:off x="4892040" y="2532888"/>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Every real facility needs an exception path</a:t>
            </a:r>
            <a:endParaRPr lang="en-US" sz="900" dirty="0"/>
          </a:p>
        </p:txBody>
      </p:sp>
      <p:sp>
        <p:nvSpPr>
          <p:cNvPr id="28" name="Text 25"/>
          <p:cNvSpPr/>
          <p:nvPr/>
        </p:nvSpPr>
        <p:spPr>
          <a:xfrm>
            <a:off x="9646920" y="2532888"/>
            <a:ext cx="1737360" cy="237744"/>
          </a:xfrm>
          <a:prstGeom prst="rect">
            <a:avLst/>
          </a:prstGeom>
          <a:noFill/>
          <a:ln/>
        </p:spPr>
        <p:txBody>
          <a:bodyPr wrap="square" rtlCol="0" anchor="ctr"/>
          <a:lstStyle/>
          <a:p>
            <a:pPr algn="r" indent="0" marL="0">
              <a:buNone/>
            </a:pPr>
            <a:r>
              <a:rPr lang="en-US" sz="900" b="1" dirty="0">
                <a:solidFill>
                  <a:srgbClr val="F2B36B"/>
                </a:solidFill>
                <a:latin typeface="Segoe UI" pitchFamily="34" charset="0"/>
                <a:ea typeface="Segoe UI" pitchFamily="34" charset="-122"/>
                <a:cs typeface="Segoe UI" pitchFamily="34" charset="-120"/>
              </a:rPr>
              <a:t>P0</a:t>
            </a:r>
            <a:endParaRPr lang="en-US" sz="900" dirty="0"/>
          </a:p>
        </p:txBody>
      </p:sp>
      <p:sp>
        <p:nvSpPr>
          <p:cNvPr id="29" name="Shape 26"/>
          <p:cNvSpPr/>
          <p:nvPr/>
        </p:nvSpPr>
        <p:spPr>
          <a:xfrm>
            <a:off x="777240" y="2862072"/>
            <a:ext cx="10637215" cy="0"/>
          </a:xfrm>
          <a:prstGeom prst="line">
            <a:avLst/>
          </a:prstGeom>
          <a:noFill/>
          <a:ln w="9525">
            <a:solidFill>
              <a:srgbClr val="1C5A5F"/>
            </a:solidFill>
            <a:prstDash val="solid"/>
          </a:ln>
        </p:spPr>
      </p:sp>
      <p:sp>
        <p:nvSpPr>
          <p:cNvPr id="30" name="Text 27"/>
          <p:cNvSpPr/>
          <p:nvPr/>
        </p:nvSpPr>
        <p:spPr>
          <a:xfrm>
            <a:off x="777240" y="2916936"/>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Self-serve onboarding and import</a:t>
            </a:r>
            <a:endParaRPr lang="en-US" sz="950" dirty="0"/>
          </a:p>
        </p:txBody>
      </p:sp>
      <p:sp>
        <p:nvSpPr>
          <p:cNvPr id="31" name="Text 28"/>
          <p:cNvSpPr/>
          <p:nvPr/>
        </p:nvSpPr>
        <p:spPr>
          <a:xfrm>
            <a:off x="4892040" y="2916936"/>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Otherwise this becomes a consulting business</a:t>
            </a:r>
            <a:endParaRPr lang="en-US" sz="900" dirty="0"/>
          </a:p>
        </p:txBody>
      </p:sp>
      <p:sp>
        <p:nvSpPr>
          <p:cNvPr id="32" name="Text 29"/>
          <p:cNvSpPr/>
          <p:nvPr/>
        </p:nvSpPr>
        <p:spPr>
          <a:xfrm>
            <a:off x="9646920" y="2916936"/>
            <a:ext cx="1737360" cy="237744"/>
          </a:xfrm>
          <a:prstGeom prst="rect">
            <a:avLst/>
          </a:prstGeom>
          <a:noFill/>
          <a:ln/>
        </p:spPr>
        <p:txBody>
          <a:bodyPr wrap="square" rtlCol="0" anchor="ctr"/>
          <a:lstStyle/>
          <a:p>
            <a:pPr algn="r" indent="0" marL="0">
              <a:buNone/>
            </a:pPr>
            <a:r>
              <a:rPr lang="en-US" sz="900" b="1" dirty="0">
                <a:solidFill>
                  <a:srgbClr val="F2B36B"/>
                </a:solidFill>
                <a:latin typeface="Segoe UI" pitchFamily="34" charset="0"/>
                <a:ea typeface="Segoe UI" pitchFamily="34" charset="-122"/>
                <a:cs typeface="Segoe UI" pitchFamily="34" charset="-120"/>
              </a:rPr>
              <a:t>P0/P1</a:t>
            </a:r>
            <a:endParaRPr lang="en-US" sz="900" dirty="0"/>
          </a:p>
        </p:txBody>
      </p:sp>
      <p:sp>
        <p:nvSpPr>
          <p:cNvPr id="33" name="Shape 30"/>
          <p:cNvSpPr/>
          <p:nvPr/>
        </p:nvSpPr>
        <p:spPr>
          <a:xfrm>
            <a:off x="777240" y="3246120"/>
            <a:ext cx="10637215" cy="0"/>
          </a:xfrm>
          <a:prstGeom prst="line">
            <a:avLst/>
          </a:prstGeom>
          <a:noFill/>
          <a:ln w="9525">
            <a:solidFill>
              <a:srgbClr val="1C5A5F"/>
            </a:solidFill>
            <a:prstDash val="solid"/>
          </a:ln>
        </p:spPr>
      </p:sp>
      <p:sp>
        <p:nvSpPr>
          <p:cNvPr id="34" name="Text 31"/>
          <p:cNvSpPr/>
          <p:nvPr/>
        </p:nvSpPr>
        <p:spPr>
          <a:xfrm>
            <a:off x="777240" y="3300984"/>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Consumables and stock linkage</a:t>
            </a:r>
            <a:endParaRPr lang="en-US" sz="950" dirty="0"/>
          </a:p>
        </p:txBody>
      </p:sp>
      <p:sp>
        <p:nvSpPr>
          <p:cNvPr id="35" name="Text 32"/>
          <p:cNvSpPr/>
          <p:nvPr/>
        </p:nvSpPr>
        <p:spPr>
          <a:xfrm>
            <a:off x="4892040" y="3300984"/>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Stops “booked but unusable” sessions</a:t>
            </a:r>
            <a:endParaRPr lang="en-US" sz="900" dirty="0"/>
          </a:p>
        </p:txBody>
      </p:sp>
      <p:sp>
        <p:nvSpPr>
          <p:cNvPr id="36" name="Text 33"/>
          <p:cNvSpPr/>
          <p:nvPr/>
        </p:nvSpPr>
        <p:spPr>
          <a:xfrm>
            <a:off x="9646920" y="3300984"/>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37" name="Shape 34"/>
          <p:cNvSpPr/>
          <p:nvPr/>
        </p:nvSpPr>
        <p:spPr>
          <a:xfrm>
            <a:off x="777240" y="3630168"/>
            <a:ext cx="10637215" cy="0"/>
          </a:xfrm>
          <a:prstGeom prst="line">
            <a:avLst/>
          </a:prstGeom>
          <a:noFill/>
          <a:ln w="9525">
            <a:solidFill>
              <a:srgbClr val="1C5A5F"/>
            </a:solidFill>
            <a:prstDash val="solid"/>
          </a:ln>
        </p:spPr>
      </p:sp>
      <p:sp>
        <p:nvSpPr>
          <p:cNvPr id="38" name="Text 35"/>
          <p:cNvSpPr/>
          <p:nvPr/>
        </p:nvSpPr>
        <p:spPr>
          <a:xfrm>
            <a:off x="777240" y="3685032"/>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Waitlist fairness and quotas</a:t>
            </a:r>
            <a:endParaRPr lang="en-US" sz="950" dirty="0"/>
          </a:p>
        </p:txBody>
      </p:sp>
      <p:sp>
        <p:nvSpPr>
          <p:cNvPr id="39" name="Text 36"/>
          <p:cNvSpPr/>
          <p:nvPr/>
        </p:nvSpPr>
        <p:spPr>
          <a:xfrm>
            <a:off x="4892040" y="3685032"/>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Trust in high-demand instruments</a:t>
            </a:r>
            <a:endParaRPr lang="en-US" sz="900" dirty="0"/>
          </a:p>
        </p:txBody>
      </p:sp>
      <p:sp>
        <p:nvSpPr>
          <p:cNvPr id="40" name="Text 37"/>
          <p:cNvSpPr/>
          <p:nvPr/>
        </p:nvSpPr>
        <p:spPr>
          <a:xfrm>
            <a:off x="9646920" y="3685032"/>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41" name="Shape 38"/>
          <p:cNvSpPr/>
          <p:nvPr/>
        </p:nvSpPr>
        <p:spPr>
          <a:xfrm>
            <a:off x="777240" y="4014216"/>
            <a:ext cx="10637215" cy="0"/>
          </a:xfrm>
          <a:prstGeom prst="line">
            <a:avLst/>
          </a:prstGeom>
          <a:noFill/>
          <a:ln w="9525">
            <a:solidFill>
              <a:srgbClr val="1C5A5F"/>
            </a:solidFill>
            <a:prstDash val="solid"/>
          </a:ln>
        </p:spPr>
      </p:sp>
      <p:sp>
        <p:nvSpPr>
          <p:cNvPr id="42" name="Text 39"/>
          <p:cNvSpPr/>
          <p:nvPr/>
        </p:nvSpPr>
        <p:spPr>
          <a:xfrm>
            <a:off x="777240" y="4069080"/>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AMC, warranty and vendor records</a:t>
            </a:r>
            <a:endParaRPr lang="en-US" sz="950" dirty="0"/>
          </a:p>
        </p:txBody>
      </p:sp>
      <p:sp>
        <p:nvSpPr>
          <p:cNvPr id="43" name="Text 40"/>
          <p:cNvSpPr/>
          <p:nvPr/>
        </p:nvSpPr>
        <p:spPr>
          <a:xfrm>
            <a:off x="4892040" y="4069080"/>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Ends blind repair spending</a:t>
            </a:r>
            <a:endParaRPr lang="en-US" sz="900" dirty="0"/>
          </a:p>
        </p:txBody>
      </p:sp>
      <p:sp>
        <p:nvSpPr>
          <p:cNvPr id="44" name="Text 41"/>
          <p:cNvSpPr/>
          <p:nvPr/>
        </p:nvSpPr>
        <p:spPr>
          <a:xfrm>
            <a:off x="9646920" y="4069080"/>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45" name="Shape 42"/>
          <p:cNvSpPr/>
          <p:nvPr/>
        </p:nvSpPr>
        <p:spPr>
          <a:xfrm>
            <a:off x="777240" y="4398264"/>
            <a:ext cx="10637215" cy="0"/>
          </a:xfrm>
          <a:prstGeom prst="line">
            <a:avLst/>
          </a:prstGeom>
          <a:noFill/>
          <a:ln w="9525">
            <a:solidFill>
              <a:srgbClr val="1C5A5F"/>
            </a:solidFill>
            <a:prstDash val="solid"/>
          </a:ln>
        </p:spPr>
      </p:sp>
      <p:sp>
        <p:nvSpPr>
          <p:cNvPr id="46" name="Text 43"/>
          <p:cNvSpPr/>
          <p:nvPr/>
        </p:nvSpPr>
        <p:spPr>
          <a:xfrm>
            <a:off x="777240" y="4453128"/>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Sample and job tracking</a:t>
            </a:r>
            <a:endParaRPr lang="en-US" sz="950" dirty="0"/>
          </a:p>
        </p:txBody>
      </p:sp>
      <p:sp>
        <p:nvSpPr>
          <p:cNvPr id="47" name="Text 44"/>
          <p:cNvSpPr/>
          <p:nvPr/>
        </p:nvSpPr>
        <p:spPr>
          <a:xfrm>
            <a:off x="4892040" y="4453128"/>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The real unit of work in research labs</a:t>
            </a:r>
            <a:endParaRPr lang="en-US" sz="900" dirty="0"/>
          </a:p>
        </p:txBody>
      </p:sp>
      <p:sp>
        <p:nvSpPr>
          <p:cNvPr id="48" name="Text 45"/>
          <p:cNvSpPr/>
          <p:nvPr/>
        </p:nvSpPr>
        <p:spPr>
          <a:xfrm>
            <a:off x="9646920" y="4453128"/>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49" name="Shape 46"/>
          <p:cNvSpPr/>
          <p:nvPr/>
        </p:nvSpPr>
        <p:spPr>
          <a:xfrm>
            <a:off x="777240" y="4782312"/>
            <a:ext cx="10637215" cy="0"/>
          </a:xfrm>
          <a:prstGeom prst="line">
            <a:avLst/>
          </a:prstGeom>
          <a:noFill/>
          <a:ln w="9525">
            <a:solidFill>
              <a:srgbClr val="1C5A5F"/>
            </a:solidFill>
            <a:prstDash val="solid"/>
          </a:ln>
        </p:spPr>
      </p:sp>
      <p:sp>
        <p:nvSpPr>
          <p:cNvPr id="50" name="Text 47"/>
          <p:cNvSpPr/>
          <p:nvPr/>
        </p:nvSpPr>
        <p:spPr>
          <a:xfrm>
            <a:off x="777240" y="4837176"/>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Work orders from incidents</a:t>
            </a:r>
            <a:endParaRPr lang="en-US" sz="950" dirty="0"/>
          </a:p>
        </p:txBody>
      </p:sp>
      <p:sp>
        <p:nvSpPr>
          <p:cNvPr id="51" name="Text 48"/>
          <p:cNvSpPr/>
          <p:nvPr/>
        </p:nvSpPr>
        <p:spPr>
          <a:xfrm>
            <a:off x="4892040" y="4837176"/>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Incidents need closure, not just reporting</a:t>
            </a:r>
            <a:endParaRPr lang="en-US" sz="900" dirty="0"/>
          </a:p>
        </p:txBody>
      </p:sp>
      <p:sp>
        <p:nvSpPr>
          <p:cNvPr id="52" name="Text 49"/>
          <p:cNvSpPr/>
          <p:nvPr/>
        </p:nvSpPr>
        <p:spPr>
          <a:xfrm>
            <a:off x="9646920" y="4837176"/>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53" name="Shape 50"/>
          <p:cNvSpPr/>
          <p:nvPr/>
        </p:nvSpPr>
        <p:spPr>
          <a:xfrm>
            <a:off x="777240" y="5166360"/>
            <a:ext cx="10637215" cy="0"/>
          </a:xfrm>
          <a:prstGeom prst="line">
            <a:avLst/>
          </a:prstGeom>
          <a:noFill/>
          <a:ln w="9525">
            <a:solidFill>
              <a:srgbClr val="1C5A5F"/>
            </a:solidFill>
            <a:prstDash val="solid"/>
          </a:ln>
        </p:spPr>
      </p:sp>
      <p:sp>
        <p:nvSpPr>
          <p:cNvPr id="54" name="Text 51"/>
          <p:cNvSpPr/>
          <p:nvPr/>
        </p:nvSpPr>
        <p:spPr>
          <a:xfrm>
            <a:off x="777240" y="5221224"/>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SOP versioning and acknowledgement</a:t>
            </a:r>
            <a:endParaRPr lang="en-US" sz="950" dirty="0"/>
          </a:p>
        </p:txBody>
      </p:sp>
      <p:sp>
        <p:nvSpPr>
          <p:cNvPr id="55" name="Text 52"/>
          <p:cNvSpPr/>
          <p:nvPr/>
        </p:nvSpPr>
        <p:spPr>
          <a:xfrm>
            <a:off x="4892040" y="5221224"/>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Safety evidence for each session</a:t>
            </a:r>
            <a:endParaRPr lang="en-US" sz="900" dirty="0"/>
          </a:p>
        </p:txBody>
      </p:sp>
      <p:sp>
        <p:nvSpPr>
          <p:cNvPr id="56" name="Text 53"/>
          <p:cNvSpPr/>
          <p:nvPr/>
        </p:nvSpPr>
        <p:spPr>
          <a:xfrm>
            <a:off x="9646920" y="5221224"/>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57" name="Shape 54"/>
          <p:cNvSpPr/>
          <p:nvPr/>
        </p:nvSpPr>
        <p:spPr>
          <a:xfrm>
            <a:off x="777240" y="5550408"/>
            <a:ext cx="10637215" cy="0"/>
          </a:xfrm>
          <a:prstGeom prst="line">
            <a:avLst/>
          </a:prstGeom>
          <a:noFill/>
          <a:ln w="9525">
            <a:solidFill>
              <a:srgbClr val="1C5A5F"/>
            </a:solidFill>
            <a:prstDash val="solid"/>
          </a:ln>
        </p:spPr>
      </p:sp>
      <p:sp>
        <p:nvSpPr>
          <p:cNvPr id="58" name="Text 55"/>
          <p:cNvSpPr/>
          <p:nvPr/>
        </p:nvSpPr>
        <p:spPr>
          <a:xfrm>
            <a:off x="777240" y="5605272"/>
            <a:ext cx="4023360" cy="237744"/>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Cost allocation and chargeback</a:t>
            </a:r>
            <a:endParaRPr lang="en-US" sz="950" dirty="0"/>
          </a:p>
        </p:txBody>
      </p:sp>
      <p:sp>
        <p:nvSpPr>
          <p:cNvPr id="59" name="Text 56"/>
          <p:cNvSpPr/>
          <p:nvPr/>
        </p:nvSpPr>
        <p:spPr>
          <a:xfrm>
            <a:off x="4892040" y="5605272"/>
            <a:ext cx="4480560" cy="237744"/>
          </a:xfrm>
          <a:prstGeom prst="rect">
            <a:avLst/>
          </a:prstGeom>
          <a:noFill/>
          <a:ln/>
        </p:spPr>
        <p:txBody>
          <a:bodyPr wrap="square" rtlCol="0" anchor="ctr"/>
          <a:lstStyle/>
          <a:p>
            <a:pPr indent="0" marL="0">
              <a:buNone/>
            </a:pPr>
            <a:r>
              <a:rPr lang="en-US" sz="900" dirty="0">
                <a:solidFill>
                  <a:srgbClr val="8FB6B8"/>
                </a:solidFill>
                <a:latin typeface="Segoe UI" pitchFamily="34" charset="0"/>
                <a:ea typeface="Segoe UI" pitchFamily="34" charset="-122"/>
                <a:cs typeface="Segoe UI" pitchFamily="34" charset="-120"/>
              </a:rPr>
              <a:t>The finance team signs the renewal</a:t>
            </a:r>
            <a:endParaRPr lang="en-US" sz="900" dirty="0"/>
          </a:p>
        </p:txBody>
      </p:sp>
      <p:sp>
        <p:nvSpPr>
          <p:cNvPr id="60" name="Text 57"/>
          <p:cNvSpPr/>
          <p:nvPr/>
        </p:nvSpPr>
        <p:spPr>
          <a:xfrm>
            <a:off x="9646920" y="5605272"/>
            <a:ext cx="1737360" cy="237744"/>
          </a:xfrm>
          <a:prstGeom prst="rect">
            <a:avLst/>
          </a:prstGeom>
          <a:noFill/>
          <a:ln/>
        </p:spPr>
        <p:txBody>
          <a:bodyPr wrap="square" rtlCol="0" anchor="ctr"/>
          <a:lstStyle/>
          <a:p>
            <a:pPr algn="r" indent="0" marL="0">
              <a:buNone/>
            </a:pPr>
            <a:r>
              <a:rPr lang="en-US" sz="900" b="1" dirty="0">
                <a:solidFill>
                  <a:srgbClr val="8FE0D2"/>
                </a:solidFill>
                <a:latin typeface="Segoe UI" pitchFamily="34" charset="0"/>
                <a:ea typeface="Segoe UI" pitchFamily="34" charset="-122"/>
                <a:cs typeface="Segoe UI" pitchFamily="34" charset="-120"/>
              </a:rPr>
              <a:t>P1</a:t>
            </a:r>
            <a:endParaRPr lang="en-US" sz="900" dirty="0"/>
          </a:p>
        </p:txBody>
      </p:sp>
      <p:sp>
        <p:nvSpPr>
          <p:cNvPr id="61" name="Shape 58"/>
          <p:cNvSpPr/>
          <p:nvPr/>
        </p:nvSpPr>
        <p:spPr>
          <a:xfrm>
            <a:off x="777240" y="5870448"/>
            <a:ext cx="10637215" cy="438912"/>
          </a:xfrm>
          <a:prstGeom prst="roundRect">
            <a:avLst>
              <a:gd name="adj" fmla="val 8333"/>
            </a:avLst>
          </a:prstGeom>
          <a:solidFill>
            <a:srgbClr val="0A3135"/>
          </a:solidFill>
          <a:ln w="12700">
            <a:solidFill>
              <a:srgbClr val="1C5A5F"/>
            </a:solidFill>
            <a:prstDash val="solid"/>
          </a:ln>
        </p:spPr>
      </p:sp>
      <p:sp>
        <p:nvSpPr>
          <p:cNvPr id="62" name="Text 59"/>
          <p:cNvSpPr/>
          <p:nvPr/>
        </p:nvSpPr>
        <p:spPr>
          <a:xfrm>
            <a:off x="960120" y="5971032"/>
            <a:ext cx="10271455" cy="256032"/>
          </a:xfrm>
          <a:prstGeom prst="rect">
            <a:avLst/>
          </a:prstGeom>
          <a:noFill/>
          <a:ln/>
        </p:spPr>
        <p:txBody>
          <a:bodyPr wrap="square" rtlCol="0" anchor="ctr"/>
          <a:lstStyle/>
          <a:p>
            <a:pPr indent="0" marL="0">
              <a:buNone/>
            </a:pPr>
            <a:r>
              <a:rPr lang="en-US" sz="880" dirty="0">
                <a:solidFill>
                  <a:srgbClr val="8FB6B8"/>
                </a:solidFill>
                <a:latin typeface="Segoe UI" pitchFamily="34" charset="0"/>
                <a:ea typeface="Segoe UI" pitchFamily="34" charset="-122"/>
                <a:cs typeface="Segoe UI" pitchFamily="34" charset="-120"/>
              </a:rPr>
              <a:t>Rejected on purpose: hardware power and interlocks · public marketplace · AI penalties or access decisions</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8</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THE WEDGE</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“Available” is not the same as “usable”</a:t>
            </a:r>
            <a:endParaRPr lang="en-US" sz="2800" dirty="0"/>
          </a:p>
        </p:txBody>
      </p:sp>
      <p:sp>
        <p:nvSpPr>
          <p:cNvPr id="18" name="Text 15"/>
          <p:cNvSpPr/>
          <p:nvPr/>
        </p:nvSpPr>
        <p:spPr>
          <a:xfrm>
            <a:off x="777240" y="1783080"/>
            <a:ext cx="6766560" cy="292608"/>
          </a:xfrm>
          <a:prstGeom prst="rect">
            <a:avLst/>
          </a:prstGeom>
          <a:noFill/>
          <a:ln/>
        </p:spPr>
        <p:txBody>
          <a:bodyPr wrap="square" rtlCol="0" anchor="ctr"/>
          <a:lstStyle/>
          <a:p>
            <a:pPr indent="0" marL="0">
              <a:buNone/>
            </a:pPr>
            <a:r>
              <a:rPr lang="en-US" sz="1100" b="1" dirty="0">
                <a:solidFill>
                  <a:srgbClr val="8FE0D2"/>
                </a:solidFill>
                <a:latin typeface="Segoe UI" pitchFamily="34" charset="0"/>
                <a:ea typeface="Segoe UI" pitchFamily="34" charset="-122"/>
                <a:cs typeface="Segoe UI" pitchFamily="34" charset="-120"/>
              </a:rPr>
              <a:t>A resource is bookable only when all six hold</a:t>
            </a:r>
            <a:endParaRPr lang="en-US" sz="1100" dirty="0"/>
          </a:p>
        </p:txBody>
      </p:sp>
      <p:sp>
        <p:nvSpPr>
          <p:cNvPr id="19" name="Shape 16"/>
          <p:cNvSpPr/>
          <p:nvPr/>
        </p:nvSpPr>
        <p:spPr>
          <a:xfrm>
            <a:off x="777240" y="2258568"/>
            <a:ext cx="146304" cy="146304"/>
          </a:xfrm>
          <a:prstGeom prst="ellipse">
            <a:avLst/>
          </a:prstGeom>
          <a:solidFill>
            <a:srgbClr val="8FE0D2"/>
          </a:solidFill>
          <a:ln w="6350">
            <a:solidFill>
              <a:srgbClr val="0C3A3F"/>
            </a:solidFill>
            <a:prstDash val="solid"/>
          </a:ln>
        </p:spPr>
      </p:sp>
      <p:sp>
        <p:nvSpPr>
          <p:cNvPr id="20" name="Text 17"/>
          <p:cNvSpPr/>
          <p:nvPr/>
        </p:nvSpPr>
        <p:spPr>
          <a:xfrm>
            <a:off x="1069848" y="2194560"/>
            <a:ext cx="169164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Maintenance</a:t>
            </a:r>
            <a:endParaRPr lang="en-US" sz="1050" dirty="0"/>
          </a:p>
        </p:txBody>
      </p:sp>
      <p:sp>
        <p:nvSpPr>
          <p:cNvPr id="21" name="Text 18"/>
          <p:cNvSpPr/>
          <p:nvPr/>
        </p:nvSpPr>
        <p:spPr>
          <a:xfrm>
            <a:off x="2807208" y="2221992"/>
            <a:ext cx="4480560" cy="310896"/>
          </a:xfrm>
          <a:prstGeom prst="rect">
            <a:avLst/>
          </a:prstGeom>
          <a:noFill/>
          <a:ln/>
        </p:spPr>
        <p:txBody>
          <a:bodyPr wrap="square" rtlCol="0" anchor="t"/>
          <a:lstStyle/>
          <a:p>
            <a:pPr indent="0" marL="0">
              <a:buNone/>
            </a:pPr>
            <a:r>
              <a:rPr lang="en-US" sz="950" dirty="0">
                <a:solidFill>
                  <a:srgbClr val="8FB6B8"/>
                </a:solidFill>
                <a:latin typeface="Segoe UI" pitchFamily="34" charset="0"/>
                <a:ea typeface="Segoe UI" pitchFamily="34" charset="-122"/>
                <a:cs typeface="Segoe UI" pitchFamily="34" charset="-120"/>
              </a:rPr>
              <a:t>No blackout, no unresolved fault — enforced today.</a:t>
            </a:r>
            <a:endParaRPr lang="en-US" sz="950" dirty="0"/>
          </a:p>
        </p:txBody>
      </p:sp>
      <p:sp>
        <p:nvSpPr>
          <p:cNvPr id="22" name="Shape 19"/>
          <p:cNvSpPr/>
          <p:nvPr/>
        </p:nvSpPr>
        <p:spPr>
          <a:xfrm>
            <a:off x="777240" y="2807208"/>
            <a:ext cx="146304" cy="146304"/>
          </a:xfrm>
          <a:prstGeom prst="ellipse">
            <a:avLst/>
          </a:prstGeom>
          <a:solidFill>
            <a:srgbClr val="F2B36B"/>
          </a:solidFill>
          <a:ln w="6350">
            <a:solidFill>
              <a:srgbClr val="0C3A3F"/>
            </a:solidFill>
            <a:prstDash val="solid"/>
          </a:ln>
        </p:spPr>
      </p:sp>
      <p:sp>
        <p:nvSpPr>
          <p:cNvPr id="23" name="Text 20"/>
          <p:cNvSpPr/>
          <p:nvPr/>
        </p:nvSpPr>
        <p:spPr>
          <a:xfrm>
            <a:off x="1069848" y="2743200"/>
            <a:ext cx="169164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Calibration</a:t>
            </a:r>
            <a:endParaRPr lang="en-US" sz="1050" dirty="0"/>
          </a:p>
        </p:txBody>
      </p:sp>
      <p:sp>
        <p:nvSpPr>
          <p:cNvPr id="24" name="Text 21"/>
          <p:cNvSpPr/>
          <p:nvPr/>
        </p:nvSpPr>
        <p:spPr>
          <a:xfrm>
            <a:off x="2807208" y="2770632"/>
            <a:ext cx="4480560" cy="310896"/>
          </a:xfrm>
          <a:prstGeom prst="rect">
            <a:avLst/>
          </a:prstGeom>
          <a:noFill/>
          <a:ln/>
        </p:spPr>
        <p:txBody>
          <a:bodyPr wrap="square" rtlCol="0" anchor="t"/>
          <a:lstStyle/>
          <a:p>
            <a:pPr indent="0" marL="0">
              <a:buNone/>
            </a:pPr>
            <a:r>
              <a:rPr lang="en-US" sz="950" dirty="0">
                <a:solidFill>
                  <a:srgbClr val="8FB6B8"/>
                </a:solidFill>
                <a:latin typeface="Segoe UI" pitchFamily="34" charset="0"/>
                <a:ea typeface="Segoe UI" pitchFamily="34" charset="-122"/>
                <a:cs typeface="Segoe UI" pitchFamily="34" charset="-120"/>
              </a:rPr>
              <a:t>Certificate valid for the slot date — next build.</a:t>
            </a:r>
            <a:endParaRPr lang="en-US" sz="950" dirty="0"/>
          </a:p>
        </p:txBody>
      </p:sp>
      <p:sp>
        <p:nvSpPr>
          <p:cNvPr id="25" name="Shape 22"/>
          <p:cNvSpPr/>
          <p:nvPr/>
        </p:nvSpPr>
        <p:spPr>
          <a:xfrm>
            <a:off x="777240" y="3355848"/>
            <a:ext cx="146304" cy="146304"/>
          </a:xfrm>
          <a:prstGeom prst="ellipse">
            <a:avLst/>
          </a:prstGeom>
          <a:solidFill>
            <a:srgbClr val="F2B36B"/>
          </a:solidFill>
          <a:ln w="6350">
            <a:solidFill>
              <a:srgbClr val="0C3A3F"/>
            </a:solidFill>
            <a:prstDash val="solid"/>
          </a:ln>
        </p:spPr>
      </p:sp>
      <p:sp>
        <p:nvSpPr>
          <p:cNvPr id="26" name="Text 23"/>
          <p:cNvSpPr/>
          <p:nvPr/>
        </p:nvSpPr>
        <p:spPr>
          <a:xfrm>
            <a:off x="1069848" y="3291840"/>
            <a:ext cx="169164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Consumables</a:t>
            </a:r>
            <a:endParaRPr lang="en-US" sz="1050" dirty="0"/>
          </a:p>
        </p:txBody>
      </p:sp>
      <p:sp>
        <p:nvSpPr>
          <p:cNvPr id="27" name="Text 24"/>
          <p:cNvSpPr/>
          <p:nvPr/>
        </p:nvSpPr>
        <p:spPr>
          <a:xfrm>
            <a:off x="2807208" y="3319272"/>
            <a:ext cx="4480560" cy="310896"/>
          </a:xfrm>
          <a:prstGeom prst="rect">
            <a:avLst/>
          </a:prstGeom>
          <a:noFill/>
          <a:ln/>
        </p:spPr>
        <p:txBody>
          <a:bodyPr wrap="square" rtlCol="0" anchor="t"/>
          <a:lstStyle/>
          <a:p>
            <a:pPr indent="0" marL="0">
              <a:buNone/>
            </a:pPr>
            <a:r>
              <a:rPr lang="en-US" sz="950" dirty="0">
                <a:solidFill>
                  <a:srgbClr val="8FB6B8"/>
                </a:solidFill>
                <a:latin typeface="Segoe UI" pitchFamily="34" charset="0"/>
                <a:ea typeface="Segoe UI" pitchFamily="34" charset="-122"/>
                <a:cs typeface="Segoe UI" pitchFamily="34" charset="-120"/>
              </a:rPr>
              <a:t>Required stock at or above the session minimum — next build.</a:t>
            </a:r>
            <a:endParaRPr lang="en-US" sz="950" dirty="0"/>
          </a:p>
        </p:txBody>
      </p:sp>
      <p:sp>
        <p:nvSpPr>
          <p:cNvPr id="28" name="Shape 25"/>
          <p:cNvSpPr/>
          <p:nvPr/>
        </p:nvSpPr>
        <p:spPr>
          <a:xfrm>
            <a:off x="777240" y="3904488"/>
            <a:ext cx="146304" cy="146304"/>
          </a:xfrm>
          <a:prstGeom prst="ellipse">
            <a:avLst/>
          </a:prstGeom>
          <a:solidFill>
            <a:srgbClr val="F2B36B"/>
          </a:solidFill>
          <a:ln w="6350">
            <a:solidFill>
              <a:srgbClr val="0C3A3F"/>
            </a:solidFill>
            <a:prstDash val="solid"/>
          </a:ln>
        </p:spPr>
      </p:sp>
      <p:sp>
        <p:nvSpPr>
          <p:cNvPr id="29" name="Text 26"/>
          <p:cNvSpPr/>
          <p:nvPr/>
        </p:nvSpPr>
        <p:spPr>
          <a:xfrm>
            <a:off x="1069848" y="3840480"/>
            <a:ext cx="169164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Support</a:t>
            </a:r>
            <a:endParaRPr lang="en-US" sz="1050" dirty="0"/>
          </a:p>
        </p:txBody>
      </p:sp>
      <p:sp>
        <p:nvSpPr>
          <p:cNvPr id="30" name="Text 27"/>
          <p:cNvSpPr/>
          <p:nvPr/>
        </p:nvSpPr>
        <p:spPr>
          <a:xfrm>
            <a:off x="2807208" y="3867912"/>
            <a:ext cx="4480560" cy="310896"/>
          </a:xfrm>
          <a:prstGeom prst="rect">
            <a:avLst/>
          </a:prstGeom>
          <a:noFill/>
          <a:ln/>
        </p:spPr>
        <p:txBody>
          <a:bodyPr wrap="square" rtlCol="0" anchor="t"/>
          <a:lstStyle/>
          <a:p>
            <a:pPr indent="0" marL="0">
              <a:buNone/>
            </a:pPr>
            <a:r>
              <a:rPr lang="en-US" sz="950" dirty="0">
                <a:solidFill>
                  <a:srgbClr val="8FB6B8"/>
                </a:solidFill>
                <a:latin typeface="Segoe UI" pitchFamily="34" charset="0"/>
                <a:ea typeface="Segoe UI" pitchFamily="34" charset="-122"/>
                <a:cs typeface="Segoe UI" pitchFamily="34" charset="-120"/>
              </a:rPr>
              <a:t>Required technician or supervisor available — next build.</a:t>
            </a:r>
            <a:endParaRPr lang="en-US" sz="950" dirty="0"/>
          </a:p>
        </p:txBody>
      </p:sp>
      <p:sp>
        <p:nvSpPr>
          <p:cNvPr id="31" name="Shape 28"/>
          <p:cNvSpPr/>
          <p:nvPr/>
        </p:nvSpPr>
        <p:spPr>
          <a:xfrm>
            <a:off x="777240" y="4453128"/>
            <a:ext cx="146304" cy="146304"/>
          </a:xfrm>
          <a:prstGeom prst="ellipse">
            <a:avLst/>
          </a:prstGeom>
          <a:solidFill>
            <a:srgbClr val="8FE0D2"/>
          </a:solidFill>
          <a:ln w="6350">
            <a:solidFill>
              <a:srgbClr val="0C3A3F"/>
            </a:solidFill>
            <a:prstDash val="solid"/>
          </a:ln>
        </p:spPr>
      </p:sp>
      <p:sp>
        <p:nvSpPr>
          <p:cNvPr id="32" name="Text 29"/>
          <p:cNvSpPr/>
          <p:nvPr/>
        </p:nvSpPr>
        <p:spPr>
          <a:xfrm>
            <a:off x="1069848" y="4389120"/>
            <a:ext cx="169164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Safety</a:t>
            </a:r>
            <a:endParaRPr lang="en-US" sz="1050" dirty="0"/>
          </a:p>
        </p:txBody>
      </p:sp>
      <p:sp>
        <p:nvSpPr>
          <p:cNvPr id="33" name="Text 30"/>
          <p:cNvSpPr/>
          <p:nvPr/>
        </p:nvSpPr>
        <p:spPr>
          <a:xfrm>
            <a:off x="2807208" y="4416552"/>
            <a:ext cx="4480560" cy="310896"/>
          </a:xfrm>
          <a:prstGeom prst="rect">
            <a:avLst/>
          </a:prstGeom>
          <a:noFill/>
          <a:ln/>
        </p:spPr>
        <p:txBody>
          <a:bodyPr wrap="square" rtlCol="0" anchor="t"/>
          <a:lstStyle/>
          <a:p>
            <a:pPr indent="0" marL="0">
              <a:buNone/>
            </a:pPr>
            <a:r>
              <a:rPr lang="en-US" sz="950" dirty="0">
                <a:solidFill>
                  <a:srgbClr val="8FB6B8"/>
                </a:solidFill>
                <a:latin typeface="Segoe UI" pitchFamily="34" charset="0"/>
                <a:ea typeface="Segoe UI" pitchFamily="34" charset="-122"/>
                <a:cs typeface="Segoe UI" pitchFamily="34" charset="-120"/>
              </a:rPr>
              <a:t>No open incident holding the asset under review — enforced today.</a:t>
            </a:r>
            <a:endParaRPr lang="en-US" sz="950" dirty="0"/>
          </a:p>
        </p:txBody>
      </p:sp>
      <p:sp>
        <p:nvSpPr>
          <p:cNvPr id="34" name="Shape 31"/>
          <p:cNvSpPr/>
          <p:nvPr/>
        </p:nvSpPr>
        <p:spPr>
          <a:xfrm>
            <a:off x="777240" y="5001768"/>
            <a:ext cx="146304" cy="146304"/>
          </a:xfrm>
          <a:prstGeom prst="ellipse">
            <a:avLst/>
          </a:prstGeom>
          <a:solidFill>
            <a:srgbClr val="8FE0D2"/>
          </a:solidFill>
          <a:ln w="6350">
            <a:solidFill>
              <a:srgbClr val="0C3A3F"/>
            </a:solidFill>
            <a:prstDash val="solid"/>
          </a:ln>
        </p:spPr>
      </p:sp>
      <p:sp>
        <p:nvSpPr>
          <p:cNvPr id="35" name="Text 32"/>
          <p:cNvSpPr/>
          <p:nvPr/>
        </p:nvSpPr>
        <p:spPr>
          <a:xfrm>
            <a:off x="1069848" y="4937760"/>
            <a:ext cx="169164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Eligibility</a:t>
            </a:r>
            <a:endParaRPr lang="en-US" sz="1050" dirty="0"/>
          </a:p>
        </p:txBody>
      </p:sp>
      <p:sp>
        <p:nvSpPr>
          <p:cNvPr id="36" name="Text 33"/>
          <p:cNvSpPr/>
          <p:nvPr/>
        </p:nvSpPr>
        <p:spPr>
          <a:xfrm>
            <a:off x="2807208" y="4965192"/>
            <a:ext cx="4480560" cy="310896"/>
          </a:xfrm>
          <a:prstGeom prst="rect">
            <a:avLst/>
          </a:prstGeom>
          <a:noFill/>
          <a:ln/>
        </p:spPr>
        <p:txBody>
          <a:bodyPr wrap="square" rtlCol="0" anchor="t"/>
          <a:lstStyle/>
          <a:p>
            <a:pPr indent="0" marL="0">
              <a:buNone/>
            </a:pPr>
            <a:r>
              <a:rPr lang="en-US" sz="950" dirty="0">
                <a:solidFill>
                  <a:srgbClr val="8FB6B8"/>
                </a:solidFill>
                <a:latin typeface="Segoe UI" pitchFamily="34" charset="0"/>
                <a:ea typeface="Segoe UI" pitchFamily="34" charset="-122"/>
                <a:cs typeface="Segoe UI" pitchFamily="34" charset="-120"/>
              </a:rPr>
              <a:t>User trained, quota free, inside the horizon — enforced today.</a:t>
            </a:r>
            <a:endParaRPr lang="en-US" sz="950" dirty="0"/>
          </a:p>
        </p:txBody>
      </p:sp>
      <p:sp>
        <p:nvSpPr>
          <p:cNvPr id="37" name="Shape 34"/>
          <p:cNvSpPr/>
          <p:nvPr/>
        </p:nvSpPr>
        <p:spPr>
          <a:xfrm>
            <a:off x="7360920" y="1783080"/>
            <a:ext cx="4050792" cy="3246120"/>
          </a:xfrm>
          <a:prstGeom prst="roundRect">
            <a:avLst>
              <a:gd name="adj" fmla="val 1127"/>
            </a:avLst>
          </a:prstGeom>
          <a:solidFill>
            <a:srgbClr val="0A3135"/>
          </a:solidFill>
          <a:ln w="12700">
            <a:solidFill>
              <a:srgbClr val="5FA9A0"/>
            </a:solidFill>
            <a:prstDash val="solid"/>
          </a:ln>
        </p:spPr>
      </p:sp>
      <p:sp>
        <p:nvSpPr>
          <p:cNvPr id="38" name="Text 35"/>
          <p:cNvSpPr/>
          <p:nvPr/>
        </p:nvSpPr>
        <p:spPr>
          <a:xfrm>
            <a:off x="7589520" y="1938528"/>
            <a:ext cx="3566160" cy="219456"/>
          </a:xfrm>
          <a:prstGeom prst="rect">
            <a:avLst/>
          </a:prstGeom>
          <a:noFill/>
          <a:ln/>
        </p:spPr>
        <p:txBody>
          <a:bodyPr wrap="square" rtlCol="0" anchor="ctr"/>
          <a:lstStyle/>
          <a:p>
            <a:pPr indent="0" marL="0">
              <a:buNone/>
            </a:pPr>
            <a:r>
              <a:rPr lang="en-US" sz="850" b="1" spc="130" kern="0" dirty="0">
                <a:solidFill>
                  <a:srgbClr val="8FE0D2"/>
                </a:solidFill>
                <a:latin typeface="Segoe UI" pitchFamily="34" charset="0"/>
                <a:ea typeface="Segoe UI" pitchFamily="34" charset="-122"/>
                <a:cs typeface="Segoe UI" pitchFamily="34" charset="-120"/>
              </a:rPr>
              <a:t>EXAMPLE</a:t>
            </a:r>
            <a:endParaRPr lang="en-US" sz="850" dirty="0"/>
          </a:p>
        </p:txBody>
      </p:sp>
      <p:sp>
        <p:nvSpPr>
          <p:cNvPr id="39" name="Text 36"/>
          <p:cNvSpPr/>
          <p:nvPr/>
        </p:nvSpPr>
        <p:spPr>
          <a:xfrm>
            <a:off x="7589520" y="2231136"/>
            <a:ext cx="3566160" cy="960120"/>
          </a:xfrm>
          <a:prstGeom prst="rect">
            <a:avLst/>
          </a:prstGeom>
          <a:noFill/>
          <a:ln/>
        </p:spPr>
        <p:txBody>
          <a:bodyPr wrap="square" rtlCol="0" anchor="t"/>
          <a:lstStyle/>
          <a:p>
            <a:pPr indent="0" marL="0">
              <a:lnSpc>
                <a:spcPct val="114000"/>
              </a:lnSpc>
              <a:buNone/>
            </a:pPr>
            <a:r>
              <a:rPr lang="en-US" sz="1250" i="1" dirty="0">
                <a:solidFill>
                  <a:srgbClr val="FFFFFF"/>
                </a:solidFill>
                <a:latin typeface="Georgia" pitchFamily="34" charset="0"/>
                <a:ea typeface="Georgia" pitchFamily="34" charset="-122"/>
                <a:cs typeface="Georgia" pitchFamily="34" charset="-120"/>
              </a:rPr>
              <a:t>“3D printer is free at 14:00 — but the required filament is out of stock.”</a:t>
            </a:r>
            <a:endParaRPr lang="en-US" sz="1250" dirty="0"/>
          </a:p>
        </p:txBody>
      </p:sp>
      <p:sp>
        <p:nvSpPr>
          <p:cNvPr id="40" name="Text 37"/>
          <p:cNvSpPr/>
          <p:nvPr/>
        </p:nvSpPr>
        <p:spPr>
          <a:xfrm>
            <a:off x="7589520" y="3291840"/>
            <a:ext cx="3566160" cy="1005840"/>
          </a:xfrm>
          <a:prstGeom prst="rect">
            <a:avLst/>
          </a:prstGeom>
          <a:noFill/>
          <a:ln/>
        </p:spPr>
        <p:txBody>
          <a:bodyPr wrap="square" rtlCol="0" anchor="t"/>
          <a:lstStyle/>
          <a:p>
            <a:pPr indent="0" marL="0">
              <a:lnSpc>
                <a:spcPct val="114000"/>
              </a:lnSpc>
              <a:buNone/>
            </a:pPr>
            <a:r>
              <a:rPr lang="en-US" sz="950" dirty="0">
                <a:solidFill>
                  <a:srgbClr val="CFE2E1"/>
                </a:solidFill>
                <a:latin typeface="Segoe UI" pitchFamily="34" charset="0"/>
                <a:ea typeface="Segoe UI" pitchFamily="34" charset="-122"/>
                <a:cs typeface="Segoe UI" pitchFamily="34" charset="-120"/>
              </a:rPr>
              <a:t>The booking is refused with a reason, and the reorder log is one click away — instead of the student discovering it in the lab.</a:t>
            </a:r>
            <a:endParaRPr lang="en-US" sz="950" dirty="0"/>
          </a:p>
        </p:txBody>
      </p:sp>
      <p:sp>
        <p:nvSpPr>
          <p:cNvPr id="41" name="Text 38"/>
          <p:cNvSpPr/>
          <p:nvPr/>
        </p:nvSpPr>
        <p:spPr>
          <a:xfrm>
            <a:off x="7589520" y="4526280"/>
            <a:ext cx="3566160" cy="365760"/>
          </a:xfrm>
          <a:prstGeom prst="rect">
            <a:avLst/>
          </a:prstGeom>
          <a:noFill/>
          <a:ln/>
        </p:spPr>
        <p:txBody>
          <a:bodyPr wrap="square" rtlCol="0" anchor="ctr"/>
          <a:lstStyle/>
          <a:p>
            <a:pPr indent="0" marL="0">
              <a:buNone/>
            </a:pPr>
            <a:r>
              <a:rPr lang="en-US" sz="950" b="1" dirty="0">
                <a:solidFill>
                  <a:srgbClr val="8FE0D2"/>
                </a:solidFill>
                <a:latin typeface="Segoe UI" pitchFamily="34" charset="0"/>
                <a:ea typeface="Segoe UI" pitchFamily="34" charset="-122"/>
                <a:cs typeface="Segoe UI" pitchFamily="34" charset="-120"/>
              </a:rPr>
              <a:t>Booked but unusable is the failure this prevents.</a:t>
            </a:r>
            <a:endParaRPr lang="en-US" sz="950" dirty="0"/>
          </a:p>
        </p:txBody>
      </p:sp>
      <p:sp>
        <p:nvSpPr>
          <p:cNvPr id="42" name="Text 39"/>
          <p:cNvSpPr/>
          <p:nvPr/>
        </p:nvSpPr>
        <p:spPr>
          <a:xfrm>
            <a:off x="777240" y="5504688"/>
            <a:ext cx="6766560" cy="502920"/>
          </a:xfrm>
          <a:prstGeom prst="rect">
            <a:avLst/>
          </a:prstGeom>
          <a:noFill/>
          <a:ln/>
        </p:spPr>
        <p:txBody>
          <a:bodyPr wrap="square" rtlCol="0" anchor="ctr"/>
          <a:lstStyle/>
          <a:p>
            <a:pPr indent="0" marL="0">
              <a:lnSpc>
                <a:spcPct val="112000"/>
              </a:lnSpc>
              <a:buNone/>
            </a:pPr>
            <a:r>
              <a:rPr lang="en-US" sz="1050" i="1" dirty="0">
                <a:solidFill>
                  <a:srgbClr val="CFE2E1"/>
                </a:solidFill>
                <a:latin typeface="Segoe UI" pitchFamily="34" charset="0"/>
                <a:ea typeface="Segoe UI" pitchFamily="34" charset="-122"/>
                <a:cs typeface="Segoe UI" pitchFamily="34" charset="-120"/>
              </a:rPr>
              <a:t>That single change turns a booking calendar into a facility operations system.</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9</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NOVELTY</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What nobody else in this room is building</a:t>
            </a:r>
            <a:endParaRPr lang="en-US" sz="2800" dirty="0"/>
          </a:p>
        </p:txBody>
      </p:sp>
      <p:sp>
        <p:nvSpPr>
          <p:cNvPr id="18" name="Text 15"/>
          <p:cNvSpPr/>
          <p:nvPr/>
        </p:nvSpPr>
        <p:spPr>
          <a:xfrm>
            <a:off x="777240" y="1783080"/>
            <a:ext cx="548640" cy="310896"/>
          </a:xfrm>
          <a:prstGeom prst="rect">
            <a:avLst/>
          </a:prstGeom>
          <a:noFill/>
          <a:ln/>
        </p:spPr>
        <p:txBody>
          <a:bodyPr wrap="square" rtlCol="0" anchor="ctr"/>
          <a:lstStyle/>
          <a:p>
            <a:pPr indent="0" marL="0">
              <a:buNone/>
            </a:pPr>
            <a:r>
              <a:rPr lang="en-US" sz="1800" b="1" dirty="0">
                <a:solidFill>
                  <a:srgbClr val="5FA9A0"/>
                </a:solidFill>
                <a:latin typeface="Georgia" pitchFamily="34" charset="0"/>
                <a:ea typeface="Georgia" pitchFamily="34" charset="-122"/>
                <a:cs typeface="Georgia" pitchFamily="34" charset="-120"/>
              </a:rPr>
              <a:t>01</a:t>
            </a:r>
            <a:endParaRPr lang="en-US" sz="1800" dirty="0"/>
          </a:p>
        </p:txBody>
      </p:sp>
      <p:sp>
        <p:nvSpPr>
          <p:cNvPr id="19" name="Text 16"/>
          <p:cNvSpPr/>
          <p:nvPr/>
        </p:nvSpPr>
        <p:spPr>
          <a:xfrm>
            <a:off x="1344168" y="1819656"/>
            <a:ext cx="2377440" cy="457200"/>
          </a:xfrm>
          <a:prstGeom prst="rect">
            <a:avLst/>
          </a:prstGeom>
          <a:noFill/>
          <a:ln/>
        </p:spPr>
        <p:txBody>
          <a:bodyPr wrap="square"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The decision record</a:t>
            </a:r>
            <a:endParaRPr lang="en-US" sz="1150" dirty="0"/>
          </a:p>
        </p:txBody>
      </p:sp>
      <p:sp>
        <p:nvSpPr>
          <p:cNvPr id="20" name="Text 17"/>
          <p:cNvSpPr/>
          <p:nvPr/>
        </p:nvSpPr>
        <p:spPr>
          <a:xfrm>
            <a:off x="3886200" y="1801368"/>
            <a:ext cx="7406640" cy="713232"/>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Not a dashboard. A frozen snapshot, five scored options, the assumptions, the missing data, a named human, a rationale — and DELETE refused by the database.</a:t>
            </a:r>
            <a:endParaRPr lang="en-US" sz="950" dirty="0"/>
          </a:p>
        </p:txBody>
      </p:sp>
      <p:sp>
        <p:nvSpPr>
          <p:cNvPr id="21" name="Text 18"/>
          <p:cNvSpPr/>
          <p:nvPr/>
        </p:nvSpPr>
        <p:spPr>
          <a:xfrm>
            <a:off x="777240" y="2624328"/>
            <a:ext cx="548640" cy="310896"/>
          </a:xfrm>
          <a:prstGeom prst="rect">
            <a:avLst/>
          </a:prstGeom>
          <a:noFill/>
          <a:ln/>
        </p:spPr>
        <p:txBody>
          <a:bodyPr wrap="square" rtlCol="0" anchor="ctr"/>
          <a:lstStyle/>
          <a:p>
            <a:pPr indent="0" marL="0">
              <a:buNone/>
            </a:pPr>
            <a:r>
              <a:rPr lang="en-US" sz="1800" b="1" dirty="0">
                <a:solidFill>
                  <a:srgbClr val="5FA9A0"/>
                </a:solidFill>
                <a:latin typeface="Georgia" pitchFamily="34" charset="0"/>
                <a:ea typeface="Georgia" pitchFamily="34" charset="-122"/>
                <a:cs typeface="Georgia" pitchFamily="34" charset="-120"/>
              </a:rPr>
              <a:t>02</a:t>
            </a:r>
            <a:endParaRPr lang="en-US" sz="1800" dirty="0"/>
          </a:p>
        </p:txBody>
      </p:sp>
      <p:sp>
        <p:nvSpPr>
          <p:cNvPr id="22" name="Text 19"/>
          <p:cNvSpPr/>
          <p:nvPr/>
        </p:nvSpPr>
        <p:spPr>
          <a:xfrm>
            <a:off x="1344168" y="2660904"/>
            <a:ext cx="2377440" cy="457200"/>
          </a:xfrm>
          <a:prstGeom prst="rect">
            <a:avLst/>
          </a:prstGeom>
          <a:noFill/>
          <a:ln/>
        </p:spPr>
        <p:txBody>
          <a:bodyPr wrap="square"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Refusal as a feature</a:t>
            </a:r>
            <a:endParaRPr lang="en-US" sz="1150" dirty="0"/>
          </a:p>
        </p:txBody>
      </p:sp>
      <p:sp>
        <p:nvSpPr>
          <p:cNvPr id="23" name="Text 20"/>
          <p:cNvSpPr/>
          <p:nvPr/>
        </p:nvSpPr>
        <p:spPr>
          <a:xfrm>
            <a:off x="3886200" y="2642616"/>
            <a:ext cx="7406640" cy="713232"/>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No cost on record, three sessions of history, a derived replacement figure: each one is printed and lowers confidence. Competitors' charts get prettier with less data; ours get quieter.</a:t>
            </a:r>
            <a:endParaRPr lang="en-US" sz="950" dirty="0"/>
          </a:p>
        </p:txBody>
      </p:sp>
      <p:sp>
        <p:nvSpPr>
          <p:cNvPr id="24" name="Text 21"/>
          <p:cNvSpPr/>
          <p:nvPr/>
        </p:nvSpPr>
        <p:spPr>
          <a:xfrm>
            <a:off x="777240" y="3465576"/>
            <a:ext cx="548640" cy="310896"/>
          </a:xfrm>
          <a:prstGeom prst="rect">
            <a:avLst/>
          </a:prstGeom>
          <a:noFill/>
          <a:ln/>
        </p:spPr>
        <p:txBody>
          <a:bodyPr wrap="square" rtlCol="0" anchor="ctr"/>
          <a:lstStyle/>
          <a:p>
            <a:pPr indent="0" marL="0">
              <a:buNone/>
            </a:pPr>
            <a:r>
              <a:rPr lang="en-US" sz="1800" b="1" dirty="0">
                <a:solidFill>
                  <a:srgbClr val="5FA9A0"/>
                </a:solidFill>
                <a:latin typeface="Georgia" pitchFamily="34" charset="0"/>
                <a:ea typeface="Georgia" pitchFamily="34" charset="-122"/>
                <a:cs typeface="Georgia" pitchFamily="34" charset="-120"/>
              </a:rPr>
              <a:t>03</a:t>
            </a:r>
            <a:endParaRPr lang="en-US" sz="1800" dirty="0"/>
          </a:p>
        </p:txBody>
      </p:sp>
      <p:sp>
        <p:nvSpPr>
          <p:cNvPr id="25" name="Text 22"/>
          <p:cNvSpPr/>
          <p:nvPr/>
        </p:nvSpPr>
        <p:spPr>
          <a:xfrm>
            <a:off x="1344168" y="3502152"/>
            <a:ext cx="2377440" cy="457200"/>
          </a:xfrm>
          <a:prstGeom prst="rect">
            <a:avLst/>
          </a:prstGeom>
          <a:noFill/>
          <a:ln/>
        </p:spPr>
        <p:txBody>
          <a:bodyPr wrap="square"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Downtime-adjusted utilisation</a:t>
            </a:r>
            <a:endParaRPr lang="en-US" sz="1150" dirty="0"/>
          </a:p>
        </p:txBody>
      </p:sp>
      <p:sp>
        <p:nvSpPr>
          <p:cNvPr id="26" name="Text 23"/>
          <p:cNvSpPr/>
          <p:nvPr/>
        </p:nvSpPr>
        <p:spPr>
          <a:xfrm>
            <a:off x="3886200" y="3483864"/>
            <a:ext cx="7406640" cy="713232"/>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Available hours exclude maintenance, used hours come from check-in and check-out, no-shows are a separate loss, and unserved requests are recorded with a cause.</a:t>
            </a:r>
            <a:endParaRPr lang="en-US" sz="950" dirty="0"/>
          </a:p>
        </p:txBody>
      </p:sp>
      <p:sp>
        <p:nvSpPr>
          <p:cNvPr id="27" name="Text 24"/>
          <p:cNvSpPr/>
          <p:nvPr/>
        </p:nvSpPr>
        <p:spPr>
          <a:xfrm>
            <a:off x="777240" y="4306824"/>
            <a:ext cx="548640" cy="310896"/>
          </a:xfrm>
          <a:prstGeom prst="rect">
            <a:avLst/>
          </a:prstGeom>
          <a:noFill/>
          <a:ln/>
        </p:spPr>
        <p:txBody>
          <a:bodyPr wrap="square" rtlCol="0" anchor="ctr"/>
          <a:lstStyle/>
          <a:p>
            <a:pPr indent="0" marL="0">
              <a:buNone/>
            </a:pPr>
            <a:r>
              <a:rPr lang="en-US" sz="1800" b="1" dirty="0">
                <a:solidFill>
                  <a:srgbClr val="5FA9A0"/>
                </a:solidFill>
                <a:latin typeface="Georgia" pitchFamily="34" charset="0"/>
                <a:ea typeface="Georgia" pitchFamily="34" charset="-122"/>
                <a:cs typeface="Georgia" pitchFamily="34" charset="-120"/>
              </a:rPr>
              <a:t>04</a:t>
            </a:r>
            <a:endParaRPr lang="en-US" sz="1800" dirty="0"/>
          </a:p>
        </p:txBody>
      </p:sp>
      <p:sp>
        <p:nvSpPr>
          <p:cNvPr id="28" name="Text 25"/>
          <p:cNvSpPr/>
          <p:nvPr/>
        </p:nvSpPr>
        <p:spPr>
          <a:xfrm>
            <a:off x="1344168" y="4343400"/>
            <a:ext cx="2377440" cy="457200"/>
          </a:xfrm>
          <a:prstGeom prst="rect">
            <a:avLst/>
          </a:prstGeom>
          <a:noFill/>
          <a:ln/>
        </p:spPr>
        <p:txBody>
          <a:bodyPr wrap="square"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Human authority in code</a:t>
            </a:r>
            <a:endParaRPr lang="en-US" sz="1150" dirty="0"/>
          </a:p>
        </p:txBody>
      </p:sp>
      <p:sp>
        <p:nvSpPr>
          <p:cNvPr id="29" name="Text 26"/>
          <p:cNvSpPr/>
          <p:nvPr/>
        </p:nvSpPr>
        <p:spPr>
          <a:xfrm>
            <a:off x="3886200" y="4325112"/>
            <a:ext cx="7406640" cy="713232"/>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The engine may only recommend. A record cannot reach decided without an authorised role, one of five options and a written rationale. Overrides are allowed and permanently labelled.</a:t>
            </a:r>
            <a:endParaRPr lang="en-US" sz="950" dirty="0"/>
          </a:p>
        </p:txBody>
      </p:sp>
      <p:sp>
        <p:nvSpPr>
          <p:cNvPr id="30" name="Text 27"/>
          <p:cNvSpPr/>
          <p:nvPr/>
        </p:nvSpPr>
        <p:spPr>
          <a:xfrm>
            <a:off x="777240" y="5148072"/>
            <a:ext cx="548640" cy="310896"/>
          </a:xfrm>
          <a:prstGeom prst="rect">
            <a:avLst/>
          </a:prstGeom>
          <a:noFill/>
          <a:ln/>
        </p:spPr>
        <p:txBody>
          <a:bodyPr wrap="square" rtlCol="0" anchor="ctr"/>
          <a:lstStyle/>
          <a:p>
            <a:pPr indent="0" marL="0">
              <a:buNone/>
            </a:pPr>
            <a:r>
              <a:rPr lang="en-US" sz="1800" b="1" dirty="0">
                <a:solidFill>
                  <a:srgbClr val="5FA9A0"/>
                </a:solidFill>
                <a:latin typeface="Georgia" pitchFamily="34" charset="0"/>
                <a:ea typeface="Georgia" pitchFamily="34" charset="-122"/>
                <a:cs typeface="Georgia" pitchFamily="34" charset="-120"/>
              </a:rPr>
              <a:t>05</a:t>
            </a:r>
            <a:endParaRPr lang="en-US" sz="1800" dirty="0"/>
          </a:p>
        </p:txBody>
      </p:sp>
      <p:sp>
        <p:nvSpPr>
          <p:cNvPr id="31" name="Text 28"/>
          <p:cNvSpPr/>
          <p:nvPr/>
        </p:nvSpPr>
        <p:spPr>
          <a:xfrm>
            <a:off x="1344168" y="5184648"/>
            <a:ext cx="2377440" cy="457200"/>
          </a:xfrm>
          <a:prstGeom prst="rect">
            <a:avLst/>
          </a:prstGeom>
          <a:noFill/>
          <a:ln/>
        </p:spPr>
        <p:txBody>
          <a:bodyPr wrap="square" rtlCol="0" anchor="t"/>
          <a:lstStyle/>
          <a:p>
            <a:pPr indent="0" marL="0">
              <a:buNone/>
            </a:pPr>
            <a:r>
              <a:rPr lang="en-US" sz="1150" b="1" dirty="0">
                <a:solidFill>
                  <a:srgbClr val="FFFFFF"/>
                </a:solidFill>
                <a:latin typeface="Segoe UI" pitchFamily="34" charset="0"/>
                <a:ea typeface="Segoe UI" pitchFamily="34" charset="-122"/>
                <a:cs typeface="Segoe UI" pitchFamily="34" charset="-120"/>
              </a:rPr>
              <a:t>Guard rails as the demo</a:t>
            </a:r>
            <a:endParaRPr lang="en-US" sz="1150" dirty="0"/>
          </a:p>
        </p:txBody>
      </p:sp>
      <p:sp>
        <p:nvSpPr>
          <p:cNvPr id="32" name="Text 29"/>
          <p:cNvSpPr/>
          <p:nvPr/>
        </p:nvSpPr>
        <p:spPr>
          <a:xfrm>
            <a:off x="3886200" y="5166360"/>
            <a:ext cx="7406640" cy="713232"/>
          </a:xfrm>
          <a:prstGeom prst="rect">
            <a:avLst/>
          </a:prstGeom>
          <a:noFill/>
          <a:ln/>
        </p:spPr>
        <p:txBody>
          <a:bodyPr wrap="square" rtlCol="0" anchor="t"/>
          <a:lstStyle/>
          <a:p>
            <a:pPr indent="0" marL="0">
              <a:lnSpc>
                <a:spcPct val="112000"/>
              </a:lnSpc>
              <a:buNone/>
            </a:pPr>
            <a:r>
              <a:rPr lang="en-US" sz="950" dirty="0">
                <a:solidFill>
                  <a:srgbClr val="CFE2E1"/>
                </a:solidFill>
                <a:latin typeface="Segoe UI" pitchFamily="34" charset="0"/>
                <a:ea typeface="Segoe UI" pitchFamily="34" charset="-122"/>
                <a:cs typeface="Segoe UI" pitchFamily="34" charset="-120"/>
              </a:rPr>
              <a:t>A lost booking race, a cross-tenant 404, a refused delete, a rejected member. Most demos show the happy path; in an institutional sale the guard rails are the product.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10</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EVIDENCE</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Measured records change the capital decision</a:t>
            </a:r>
            <a:endParaRPr lang="en-US" sz="2800" dirty="0"/>
          </a:p>
        </p:txBody>
      </p:sp>
      <p:sp>
        <p:nvSpPr>
          <p:cNvPr id="18" name="Shape 15"/>
          <p:cNvSpPr/>
          <p:nvPr/>
        </p:nvSpPr>
        <p:spPr>
          <a:xfrm>
            <a:off x="777240" y="1783080"/>
            <a:ext cx="2036003" cy="1051560"/>
          </a:xfrm>
          <a:prstGeom prst="roundRect">
            <a:avLst>
              <a:gd name="adj" fmla="val 3478"/>
            </a:avLst>
          </a:prstGeom>
          <a:solidFill>
            <a:srgbClr val="0A3135"/>
          </a:solidFill>
          <a:ln w="12700">
            <a:solidFill>
              <a:srgbClr val="1C5A5F"/>
            </a:solidFill>
            <a:prstDash val="solid"/>
          </a:ln>
        </p:spPr>
      </p:sp>
      <p:sp>
        <p:nvSpPr>
          <p:cNvPr id="19" name="Text 16"/>
          <p:cNvSpPr/>
          <p:nvPr/>
        </p:nvSpPr>
        <p:spPr>
          <a:xfrm>
            <a:off x="960120" y="1874520"/>
            <a:ext cx="1670243" cy="420624"/>
          </a:xfrm>
          <a:prstGeom prst="rect">
            <a:avLst/>
          </a:prstGeom>
          <a:noFill/>
          <a:ln/>
        </p:spPr>
        <p:txBody>
          <a:bodyPr wrap="square" rtlCol="0" anchor="ctr"/>
          <a:lstStyle/>
          <a:p>
            <a:pPr indent="0" marL="0">
              <a:buNone/>
            </a:pPr>
            <a:r>
              <a:rPr lang="en-US" sz="2000" b="1" dirty="0">
                <a:solidFill>
                  <a:srgbClr val="8FE0D2"/>
                </a:solidFill>
                <a:latin typeface="Georgia" pitchFamily="34" charset="0"/>
                <a:ea typeface="Georgia" pitchFamily="34" charset="-122"/>
                <a:cs typeface="Georgia" pitchFamily="34" charset="-120"/>
              </a:rPr>
              <a:t>12</a:t>
            </a:r>
            <a:endParaRPr lang="en-US" sz="2000" dirty="0"/>
          </a:p>
        </p:txBody>
      </p:sp>
      <p:sp>
        <p:nvSpPr>
          <p:cNvPr id="20" name="Text 17"/>
          <p:cNvSpPr/>
          <p:nvPr/>
        </p:nvSpPr>
        <p:spPr>
          <a:xfrm>
            <a:off x="960120" y="2322576"/>
            <a:ext cx="1670243" cy="457200"/>
          </a:xfrm>
          <a:prstGeom prst="rect">
            <a:avLst/>
          </a:prstGeom>
          <a:noFill/>
          <a:ln/>
        </p:spPr>
        <p:txBody>
          <a:bodyPr wrap="square" rtlCol="0" anchor="t"/>
          <a:lstStyle/>
          <a:p>
            <a:pPr indent="0" marL="0">
              <a:lnSpc>
                <a:spcPct val="105000"/>
              </a:lnSpc>
              <a:buNone/>
            </a:pPr>
            <a:r>
              <a:rPr lang="en-US" sz="850" dirty="0">
                <a:solidFill>
                  <a:srgbClr val="8FB6B8"/>
                </a:solidFill>
                <a:latin typeface="Segoe UI" pitchFamily="34" charset="0"/>
                <a:ea typeface="Segoe UI" pitchFamily="34" charset="-122"/>
                <a:cs typeface="Segoe UI" pitchFamily="34" charset="-120"/>
              </a:rPr>
              <a:t>assets in the demo tenant</a:t>
            </a:r>
            <a:endParaRPr lang="en-US" sz="850" dirty="0"/>
          </a:p>
        </p:txBody>
      </p:sp>
      <p:sp>
        <p:nvSpPr>
          <p:cNvPr id="21" name="Shape 18"/>
          <p:cNvSpPr/>
          <p:nvPr/>
        </p:nvSpPr>
        <p:spPr>
          <a:xfrm>
            <a:off x="2927543" y="1783080"/>
            <a:ext cx="2036003" cy="1051560"/>
          </a:xfrm>
          <a:prstGeom prst="roundRect">
            <a:avLst>
              <a:gd name="adj" fmla="val 3478"/>
            </a:avLst>
          </a:prstGeom>
          <a:solidFill>
            <a:srgbClr val="0A3135"/>
          </a:solidFill>
          <a:ln w="12700">
            <a:solidFill>
              <a:srgbClr val="1C5A5F"/>
            </a:solidFill>
            <a:prstDash val="solid"/>
          </a:ln>
        </p:spPr>
      </p:sp>
      <p:sp>
        <p:nvSpPr>
          <p:cNvPr id="22" name="Text 19"/>
          <p:cNvSpPr/>
          <p:nvPr/>
        </p:nvSpPr>
        <p:spPr>
          <a:xfrm>
            <a:off x="3110423" y="1874520"/>
            <a:ext cx="1670243" cy="420624"/>
          </a:xfrm>
          <a:prstGeom prst="rect">
            <a:avLst/>
          </a:prstGeom>
          <a:noFill/>
          <a:ln/>
        </p:spPr>
        <p:txBody>
          <a:bodyPr wrap="square" rtlCol="0" anchor="ctr"/>
          <a:lstStyle/>
          <a:p>
            <a:pPr indent="0" marL="0">
              <a:buNone/>
            </a:pPr>
            <a:r>
              <a:rPr lang="en-US" sz="2000" b="1" dirty="0">
                <a:solidFill>
                  <a:srgbClr val="8FE0D2"/>
                </a:solidFill>
                <a:latin typeface="Georgia" pitchFamily="34" charset="0"/>
                <a:ea typeface="Georgia" pitchFamily="34" charset="-122"/>
                <a:cs typeface="Georgia" pitchFamily="34" charset="-120"/>
              </a:rPr>
              <a:t>₹4.55 Cr</a:t>
            </a:r>
            <a:endParaRPr lang="en-US" sz="2000" dirty="0"/>
          </a:p>
        </p:txBody>
      </p:sp>
      <p:sp>
        <p:nvSpPr>
          <p:cNvPr id="23" name="Text 20"/>
          <p:cNvSpPr/>
          <p:nvPr/>
        </p:nvSpPr>
        <p:spPr>
          <a:xfrm>
            <a:off x="3110423" y="2322576"/>
            <a:ext cx="1670243" cy="457200"/>
          </a:xfrm>
          <a:prstGeom prst="rect">
            <a:avLst/>
          </a:prstGeom>
          <a:noFill/>
          <a:ln/>
        </p:spPr>
        <p:txBody>
          <a:bodyPr wrap="square" rtlCol="0" anchor="t"/>
          <a:lstStyle/>
          <a:p>
            <a:pPr indent="0" marL="0">
              <a:lnSpc>
                <a:spcPct val="105000"/>
              </a:lnSpc>
              <a:buNone/>
            </a:pPr>
            <a:r>
              <a:rPr lang="en-US" sz="850" dirty="0">
                <a:solidFill>
                  <a:srgbClr val="8FB6B8"/>
                </a:solidFill>
                <a:latin typeface="Segoe UI" pitchFamily="34" charset="0"/>
                <a:ea typeface="Segoe UI" pitchFamily="34" charset="-122"/>
                <a:cs typeface="Segoe UI" pitchFamily="34" charset="-120"/>
              </a:rPr>
              <a:t>recorded acquisition value</a:t>
            </a:r>
            <a:endParaRPr lang="en-US" sz="850" dirty="0"/>
          </a:p>
        </p:txBody>
      </p:sp>
      <p:sp>
        <p:nvSpPr>
          <p:cNvPr id="24" name="Shape 21"/>
          <p:cNvSpPr/>
          <p:nvPr/>
        </p:nvSpPr>
        <p:spPr>
          <a:xfrm>
            <a:off x="5077846" y="1783080"/>
            <a:ext cx="2036003" cy="1051560"/>
          </a:xfrm>
          <a:prstGeom prst="roundRect">
            <a:avLst>
              <a:gd name="adj" fmla="val 3478"/>
            </a:avLst>
          </a:prstGeom>
          <a:solidFill>
            <a:srgbClr val="0A3135"/>
          </a:solidFill>
          <a:ln w="12700">
            <a:solidFill>
              <a:srgbClr val="1C5A5F"/>
            </a:solidFill>
            <a:prstDash val="solid"/>
          </a:ln>
        </p:spPr>
      </p:sp>
      <p:sp>
        <p:nvSpPr>
          <p:cNvPr id="25" name="Text 22"/>
          <p:cNvSpPr/>
          <p:nvPr/>
        </p:nvSpPr>
        <p:spPr>
          <a:xfrm>
            <a:off x="5260726" y="1874520"/>
            <a:ext cx="1670243" cy="420624"/>
          </a:xfrm>
          <a:prstGeom prst="rect">
            <a:avLst/>
          </a:prstGeom>
          <a:noFill/>
          <a:ln/>
        </p:spPr>
        <p:txBody>
          <a:bodyPr wrap="square" rtlCol="0" anchor="ctr"/>
          <a:lstStyle/>
          <a:p>
            <a:pPr indent="0" marL="0">
              <a:buNone/>
            </a:pPr>
            <a:r>
              <a:rPr lang="en-US" sz="2000" b="1" dirty="0">
                <a:solidFill>
                  <a:srgbClr val="8FE0D2"/>
                </a:solidFill>
                <a:latin typeface="Georgia" pitchFamily="34" charset="0"/>
                <a:ea typeface="Georgia" pitchFamily="34" charset="-122"/>
                <a:cs typeface="Georgia" pitchFamily="34" charset="-120"/>
              </a:rPr>
              <a:t>26.2%</a:t>
            </a:r>
            <a:endParaRPr lang="en-US" sz="2000" dirty="0"/>
          </a:p>
        </p:txBody>
      </p:sp>
      <p:sp>
        <p:nvSpPr>
          <p:cNvPr id="26" name="Text 23"/>
          <p:cNvSpPr/>
          <p:nvPr/>
        </p:nvSpPr>
        <p:spPr>
          <a:xfrm>
            <a:off x="5260726" y="2322576"/>
            <a:ext cx="1670243" cy="457200"/>
          </a:xfrm>
          <a:prstGeom prst="rect">
            <a:avLst/>
          </a:prstGeom>
          <a:noFill/>
          <a:ln/>
        </p:spPr>
        <p:txBody>
          <a:bodyPr wrap="square" rtlCol="0" anchor="t"/>
          <a:lstStyle/>
          <a:p>
            <a:pPr indent="0" marL="0">
              <a:lnSpc>
                <a:spcPct val="105000"/>
              </a:lnSpc>
              <a:buNone/>
            </a:pPr>
            <a:r>
              <a:rPr lang="en-US" sz="850" dirty="0">
                <a:solidFill>
                  <a:srgbClr val="8FB6B8"/>
                </a:solidFill>
                <a:latin typeface="Segoe UI" pitchFamily="34" charset="0"/>
                <a:ea typeface="Segoe UI" pitchFamily="34" charset="-122"/>
                <a:cs typeface="Segoe UI" pitchFamily="34" charset="-120"/>
              </a:rPr>
              <a:t>portfolio utilisation, 180 days</a:t>
            </a:r>
            <a:endParaRPr lang="en-US" sz="850" dirty="0"/>
          </a:p>
        </p:txBody>
      </p:sp>
      <p:sp>
        <p:nvSpPr>
          <p:cNvPr id="27" name="Shape 24"/>
          <p:cNvSpPr/>
          <p:nvPr/>
        </p:nvSpPr>
        <p:spPr>
          <a:xfrm>
            <a:off x="7228149" y="1783080"/>
            <a:ext cx="2036003" cy="1051560"/>
          </a:xfrm>
          <a:prstGeom prst="roundRect">
            <a:avLst>
              <a:gd name="adj" fmla="val 3478"/>
            </a:avLst>
          </a:prstGeom>
          <a:solidFill>
            <a:srgbClr val="0A3135"/>
          </a:solidFill>
          <a:ln w="12700">
            <a:solidFill>
              <a:srgbClr val="1C5A5F"/>
            </a:solidFill>
            <a:prstDash val="solid"/>
          </a:ln>
        </p:spPr>
      </p:sp>
      <p:sp>
        <p:nvSpPr>
          <p:cNvPr id="28" name="Text 25"/>
          <p:cNvSpPr/>
          <p:nvPr/>
        </p:nvSpPr>
        <p:spPr>
          <a:xfrm>
            <a:off x="7411029" y="1874520"/>
            <a:ext cx="1670243" cy="420624"/>
          </a:xfrm>
          <a:prstGeom prst="rect">
            <a:avLst/>
          </a:prstGeom>
          <a:noFill/>
          <a:ln/>
        </p:spPr>
        <p:txBody>
          <a:bodyPr wrap="square" rtlCol="0" anchor="ctr"/>
          <a:lstStyle/>
          <a:p>
            <a:pPr indent="0" marL="0">
              <a:buNone/>
            </a:pPr>
            <a:r>
              <a:rPr lang="en-US" sz="2000" b="1" dirty="0">
                <a:solidFill>
                  <a:srgbClr val="8FE0D2"/>
                </a:solidFill>
                <a:latin typeface="Georgia" pitchFamily="34" charset="0"/>
                <a:ea typeface="Georgia" pitchFamily="34" charset="-122"/>
                <a:cs typeface="Georgia" pitchFamily="34" charset="-120"/>
              </a:rPr>
              <a:t>₹26.5 L</a:t>
            </a:r>
            <a:endParaRPr lang="en-US" sz="2000" dirty="0"/>
          </a:p>
        </p:txBody>
      </p:sp>
      <p:sp>
        <p:nvSpPr>
          <p:cNvPr id="29" name="Text 26"/>
          <p:cNvSpPr/>
          <p:nvPr/>
        </p:nvSpPr>
        <p:spPr>
          <a:xfrm>
            <a:off x="7411029" y="2322576"/>
            <a:ext cx="1670243" cy="457200"/>
          </a:xfrm>
          <a:prstGeom prst="rect">
            <a:avLst/>
          </a:prstGeom>
          <a:noFill/>
          <a:ln/>
        </p:spPr>
        <p:txBody>
          <a:bodyPr wrap="square" rtlCol="0" anchor="t"/>
          <a:lstStyle/>
          <a:p>
            <a:pPr indent="0" marL="0">
              <a:lnSpc>
                <a:spcPct val="105000"/>
              </a:lnSpc>
              <a:buNone/>
            </a:pPr>
            <a:r>
              <a:rPr lang="en-US" sz="850" dirty="0">
                <a:solidFill>
                  <a:srgbClr val="8FB6B8"/>
                </a:solidFill>
                <a:latin typeface="Segoe UI" pitchFamily="34" charset="0"/>
                <a:ea typeface="Segoe UI" pitchFamily="34" charset="-122"/>
                <a:cs typeface="Segoe UI" pitchFamily="34" charset="-120"/>
              </a:rPr>
              <a:t>maintenance recorded</a:t>
            </a:r>
            <a:endParaRPr lang="en-US" sz="850" dirty="0"/>
          </a:p>
        </p:txBody>
      </p:sp>
      <p:sp>
        <p:nvSpPr>
          <p:cNvPr id="30" name="Shape 27"/>
          <p:cNvSpPr/>
          <p:nvPr/>
        </p:nvSpPr>
        <p:spPr>
          <a:xfrm>
            <a:off x="9378452" y="1783080"/>
            <a:ext cx="2036003" cy="1051560"/>
          </a:xfrm>
          <a:prstGeom prst="roundRect">
            <a:avLst>
              <a:gd name="adj" fmla="val 3478"/>
            </a:avLst>
          </a:prstGeom>
          <a:solidFill>
            <a:srgbClr val="0A3135"/>
          </a:solidFill>
          <a:ln w="12700">
            <a:solidFill>
              <a:srgbClr val="1C5A5F"/>
            </a:solidFill>
            <a:prstDash val="solid"/>
          </a:ln>
        </p:spPr>
      </p:sp>
      <p:sp>
        <p:nvSpPr>
          <p:cNvPr id="31" name="Text 28"/>
          <p:cNvSpPr/>
          <p:nvPr/>
        </p:nvSpPr>
        <p:spPr>
          <a:xfrm>
            <a:off x="9561332" y="1874520"/>
            <a:ext cx="1670243" cy="420624"/>
          </a:xfrm>
          <a:prstGeom prst="rect">
            <a:avLst/>
          </a:prstGeom>
          <a:noFill/>
          <a:ln/>
        </p:spPr>
        <p:txBody>
          <a:bodyPr wrap="square" rtlCol="0" anchor="ctr"/>
          <a:lstStyle/>
          <a:p>
            <a:pPr indent="0" marL="0">
              <a:buNone/>
            </a:pPr>
            <a:r>
              <a:rPr lang="en-US" sz="2000" b="1" dirty="0">
                <a:solidFill>
                  <a:srgbClr val="8FE0D2"/>
                </a:solidFill>
                <a:latin typeface="Georgia" pitchFamily="34" charset="0"/>
                <a:ea typeface="Georgia" pitchFamily="34" charset="-122"/>
                <a:cs typeface="Georgia" pitchFamily="34" charset="-120"/>
              </a:rPr>
              <a:t>1,292 h</a:t>
            </a:r>
            <a:endParaRPr lang="en-US" sz="2000" dirty="0"/>
          </a:p>
        </p:txBody>
      </p:sp>
      <p:sp>
        <p:nvSpPr>
          <p:cNvPr id="32" name="Text 29"/>
          <p:cNvSpPr/>
          <p:nvPr/>
        </p:nvSpPr>
        <p:spPr>
          <a:xfrm>
            <a:off x="9561332" y="2322576"/>
            <a:ext cx="1670243" cy="457200"/>
          </a:xfrm>
          <a:prstGeom prst="rect">
            <a:avLst/>
          </a:prstGeom>
          <a:noFill/>
          <a:ln/>
        </p:spPr>
        <p:txBody>
          <a:bodyPr wrap="square" rtlCol="0" anchor="t"/>
          <a:lstStyle/>
          <a:p>
            <a:pPr indent="0" marL="0">
              <a:lnSpc>
                <a:spcPct val="105000"/>
              </a:lnSpc>
              <a:buNone/>
            </a:pPr>
            <a:r>
              <a:rPr lang="en-US" sz="850" dirty="0">
                <a:solidFill>
                  <a:srgbClr val="8FB6B8"/>
                </a:solidFill>
                <a:latin typeface="Segoe UI" pitchFamily="34" charset="0"/>
                <a:ea typeface="Segoe UI" pitchFamily="34" charset="-122"/>
                <a:cs typeface="Segoe UI" pitchFamily="34" charset="-120"/>
              </a:rPr>
              <a:t>downtime recorded</a:t>
            </a:r>
            <a:endParaRPr lang="en-US" sz="850" dirty="0"/>
          </a:p>
        </p:txBody>
      </p:sp>
      <p:sp>
        <p:nvSpPr>
          <p:cNvPr id="33" name="Shape 30"/>
          <p:cNvSpPr/>
          <p:nvPr/>
        </p:nvSpPr>
        <p:spPr>
          <a:xfrm>
            <a:off x="777240" y="3063240"/>
            <a:ext cx="10637215" cy="731520"/>
          </a:xfrm>
          <a:prstGeom prst="roundRect">
            <a:avLst>
              <a:gd name="adj" fmla="val 5000"/>
            </a:avLst>
          </a:prstGeom>
          <a:solidFill>
            <a:srgbClr val="0F474D"/>
          </a:solidFill>
          <a:ln w="12700">
            <a:solidFill>
              <a:srgbClr val="1C5A5F"/>
            </a:solidFill>
            <a:prstDash val="solid"/>
          </a:ln>
        </p:spPr>
      </p:sp>
      <p:sp>
        <p:nvSpPr>
          <p:cNvPr id="34" name="Text 31"/>
          <p:cNvSpPr/>
          <p:nvPr/>
        </p:nvSpPr>
        <p:spPr>
          <a:xfrm>
            <a:off x="996696" y="3172968"/>
            <a:ext cx="187452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Imaging instrument</a:t>
            </a:r>
            <a:endParaRPr lang="en-US" sz="1050" dirty="0"/>
          </a:p>
        </p:txBody>
      </p:sp>
      <p:sp>
        <p:nvSpPr>
          <p:cNvPr id="35" name="Text 32"/>
          <p:cNvSpPr/>
          <p:nvPr/>
        </p:nvSpPr>
        <p:spPr>
          <a:xfrm>
            <a:off x="2926080" y="3163824"/>
            <a:ext cx="4937760" cy="512064"/>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1.8% utilisation · 13 sessions · six unserved requests</a:t>
            </a:r>
            <a:endParaRPr lang="en-US" sz="900" dirty="0"/>
          </a:p>
        </p:txBody>
      </p:sp>
      <p:sp>
        <p:nvSpPr>
          <p:cNvPr id="36" name="Text 33"/>
          <p:cNvSpPr/>
          <p:nvPr/>
        </p:nvSpPr>
        <p:spPr>
          <a:xfrm>
            <a:off x="8001000" y="3172968"/>
            <a:ext cx="1645920" cy="256032"/>
          </a:xfrm>
          <a:prstGeom prst="rect">
            <a:avLst/>
          </a:prstGeom>
          <a:noFill/>
          <a:ln/>
        </p:spPr>
        <p:txBody>
          <a:bodyPr wrap="square" rtlCol="0" anchor="ctr"/>
          <a:lstStyle/>
          <a:p>
            <a:pPr algn="r" indent="0" marL="0">
              <a:buNone/>
            </a:pPr>
            <a:r>
              <a:rPr lang="en-US" sz="1000" b="1" dirty="0">
                <a:solidFill>
                  <a:srgbClr val="8FE0D2"/>
                </a:solidFill>
                <a:latin typeface="Segoe UI" pitchFamily="34" charset="0"/>
                <a:ea typeface="Segoe UI" pitchFamily="34" charset="-122"/>
                <a:cs typeface="Segoe UI" pitchFamily="34" charset="-120"/>
              </a:rPr>
              <a:t>REALLOCATE</a:t>
            </a:r>
            <a:endParaRPr lang="en-US" sz="1000" dirty="0"/>
          </a:p>
        </p:txBody>
      </p:sp>
      <p:sp>
        <p:nvSpPr>
          <p:cNvPr id="37" name="Text 34"/>
          <p:cNvSpPr/>
          <p:nvPr/>
        </p:nvSpPr>
        <p:spPr>
          <a:xfrm>
            <a:off x="9784080" y="3154680"/>
            <a:ext cx="1600200" cy="512064"/>
          </a:xfrm>
          <a:prstGeom prst="rect">
            <a:avLst/>
          </a:prstGeom>
          <a:noFill/>
          <a:ln/>
        </p:spPr>
        <p:txBody>
          <a:bodyPr wrap="square" rtlCol="0" anchor="t"/>
          <a:lstStyle/>
          <a:p>
            <a:pPr indent="0" marL="0">
              <a:lnSpc>
                <a:spcPct val="104000"/>
              </a:lnSpc>
              <a:buNone/>
            </a:pPr>
            <a:r>
              <a:rPr lang="en-US" sz="850" i="1" dirty="0">
                <a:solidFill>
                  <a:srgbClr val="CFE2E1"/>
                </a:solidFill>
                <a:latin typeface="Segoe UI" pitchFamily="34" charset="0"/>
                <a:ea typeface="Segoe UI" pitchFamily="34" charset="-122"/>
                <a:cs typeface="Segoe UI" pitchFamily="34" charset="-120"/>
              </a:rPr>
              <a:t>before buying a second crore-scale unit</a:t>
            </a:r>
            <a:endParaRPr lang="en-US" sz="850" dirty="0"/>
          </a:p>
        </p:txBody>
      </p:sp>
      <p:sp>
        <p:nvSpPr>
          <p:cNvPr id="38" name="Shape 35"/>
          <p:cNvSpPr/>
          <p:nvPr/>
        </p:nvSpPr>
        <p:spPr>
          <a:xfrm>
            <a:off x="777240" y="3904488"/>
            <a:ext cx="10637215" cy="731520"/>
          </a:xfrm>
          <a:prstGeom prst="roundRect">
            <a:avLst>
              <a:gd name="adj" fmla="val 5000"/>
            </a:avLst>
          </a:prstGeom>
          <a:solidFill>
            <a:srgbClr val="0F474D"/>
          </a:solidFill>
          <a:ln w="12700">
            <a:solidFill>
              <a:srgbClr val="1C5A5F"/>
            </a:solidFill>
            <a:prstDash val="solid"/>
          </a:ln>
        </p:spPr>
      </p:sp>
      <p:sp>
        <p:nvSpPr>
          <p:cNvPr id="39" name="Text 36"/>
          <p:cNvSpPr/>
          <p:nvPr/>
        </p:nvSpPr>
        <p:spPr>
          <a:xfrm>
            <a:off x="996696" y="4014216"/>
            <a:ext cx="187452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SEM-01</a:t>
            </a:r>
            <a:endParaRPr lang="en-US" sz="1050" dirty="0"/>
          </a:p>
        </p:txBody>
      </p:sp>
      <p:sp>
        <p:nvSpPr>
          <p:cNvPr id="40" name="Text 37"/>
          <p:cNvSpPr/>
          <p:nvPr/>
        </p:nvSpPr>
        <p:spPr>
          <a:xfrm>
            <a:off x="2926080" y="4005072"/>
            <a:ext cx="4937760" cy="512064"/>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67.3% utilisation · ₹10.3 L repairs · 448 h down · life exhausted</a:t>
            </a:r>
            <a:endParaRPr lang="en-US" sz="900" dirty="0"/>
          </a:p>
        </p:txBody>
      </p:sp>
      <p:sp>
        <p:nvSpPr>
          <p:cNvPr id="41" name="Text 38"/>
          <p:cNvSpPr/>
          <p:nvPr/>
        </p:nvSpPr>
        <p:spPr>
          <a:xfrm>
            <a:off x="8001000" y="4014216"/>
            <a:ext cx="1645920" cy="256032"/>
          </a:xfrm>
          <a:prstGeom prst="rect">
            <a:avLst/>
          </a:prstGeom>
          <a:noFill/>
          <a:ln/>
        </p:spPr>
        <p:txBody>
          <a:bodyPr wrap="square" rtlCol="0" anchor="ctr"/>
          <a:lstStyle/>
          <a:p>
            <a:pPr algn="r" indent="0" marL="0">
              <a:buNone/>
            </a:pPr>
            <a:r>
              <a:rPr lang="en-US" sz="1000" b="1" dirty="0">
                <a:solidFill>
                  <a:srgbClr val="8FE0D2"/>
                </a:solidFill>
                <a:latin typeface="Segoe UI" pitchFamily="34" charset="0"/>
                <a:ea typeface="Segoe UI" pitchFamily="34" charset="-122"/>
                <a:cs typeface="Segoe UI" pitchFamily="34" charset="-120"/>
              </a:rPr>
              <a:t>BUY NEW 0.80</a:t>
            </a:r>
            <a:endParaRPr lang="en-US" sz="1000" dirty="0"/>
          </a:p>
        </p:txBody>
      </p:sp>
      <p:sp>
        <p:nvSpPr>
          <p:cNvPr id="42" name="Text 39"/>
          <p:cNvSpPr/>
          <p:nvPr/>
        </p:nvSpPr>
        <p:spPr>
          <a:xfrm>
            <a:off x="9784080" y="3995928"/>
            <a:ext cx="1600200" cy="512064"/>
          </a:xfrm>
          <a:prstGeom prst="rect">
            <a:avLst/>
          </a:prstGeom>
          <a:noFill/>
          <a:ln/>
        </p:spPr>
        <p:txBody>
          <a:bodyPr wrap="square" rtlCol="0" anchor="t"/>
          <a:lstStyle/>
          <a:p>
            <a:pPr indent="0" marL="0">
              <a:lnSpc>
                <a:spcPct val="104000"/>
              </a:lnSpc>
              <a:buNone/>
            </a:pPr>
            <a:r>
              <a:rPr lang="en-US" sz="850" i="1" dirty="0">
                <a:solidFill>
                  <a:srgbClr val="CFE2E1"/>
                </a:solidFill>
                <a:latin typeface="Segoe UI" pitchFamily="34" charset="0"/>
                <a:ea typeface="Segoe UI" pitchFamily="34" charset="-122"/>
                <a:cs typeface="Segoe UI" pitchFamily="34" charset="-120"/>
              </a:rPr>
              <a:t>over repair 0.60</a:t>
            </a:r>
            <a:endParaRPr lang="en-US" sz="850" dirty="0"/>
          </a:p>
        </p:txBody>
      </p:sp>
      <p:sp>
        <p:nvSpPr>
          <p:cNvPr id="43" name="Shape 40"/>
          <p:cNvSpPr/>
          <p:nvPr/>
        </p:nvSpPr>
        <p:spPr>
          <a:xfrm>
            <a:off x="777240" y="4745736"/>
            <a:ext cx="10637215" cy="731520"/>
          </a:xfrm>
          <a:prstGeom prst="roundRect">
            <a:avLst>
              <a:gd name="adj" fmla="val 5000"/>
            </a:avLst>
          </a:prstGeom>
          <a:solidFill>
            <a:srgbClr val="0F474D"/>
          </a:solidFill>
          <a:ln w="12700">
            <a:solidFill>
              <a:srgbClr val="1C5A5F"/>
            </a:solidFill>
            <a:prstDash val="solid"/>
          </a:ln>
        </p:spPr>
      </p:sp>
      <p:sp>
        <p:nvSpPr>
          <p:cNvPr id="44" name="Text 41"/>
          <p:cNvSpPr/>
          <p:nvPr/>
        </p:nvSpPr>
        <p:spPr>
          <a:xfrm>
            <a:off x="996696" y="4855464"/>
            <a:ext cx="187452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AUTOCLAVE-01</a:t>
            </a:r>
            <a:endParaRPr lang="en-US" sz="1050" dirty="0"/>
          </a:p>
        </p:txBody>
      </p:sp>
      <p:sp>
        <p:nvSpPr>
          <p:cNvPr id="45" name="Text 42"/>
          <p:cNvSpPr/>
          <p:nvPr/>
        </p:nvSpPr>
        <p:spPr>
          <a:xfrm>
            <a:off x="2926080" y="4846320"/>
            <a:ext cx="4937760" cy="512064"/>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₹2.95 L repairs on a ₹9.8 L asset · 242 h down · 17 sessions</a:t>
            </a:r>
            <a:endParaRPr lang="en-US" sz="900" dirty="0"/>
          </a:p>
        </p:txBody>
      </p:sp>
      <p:sp>
        <p:nvSpPr>
          <p:cNvPr id="46" name="Text 43"/>
          <p:cNvSpPr/>
          <p:nvPr/>
        </p:nvSpPr>
        <p:spPr>
          <a:xfrm>
            <a:off x="8001000" y="4855464"/>
            <a:ext cx="1645920" cy="256032"/>
          </a:xfrm>
          <a:prstGeom prst="rect">
            <a:avLst/>
          </a:prstGeom>
          <a:noFill/>
          <a:ln/>
        </p:spPr>
        <p:txBody>
          <a:bodyPr wrap="square" rtlCol="0" anchor="ctr"/>
          <a:lstStyle/>
          <a:p>
            <a:pPr algn="r" indent="0" marL="0">
              <a:buNone/>
            </a:pPr>
            <a:r>
              <a:rPr lang="en-US" sz="1000" b="1" dirty="0">
                <a:solidFill>
                  <a:srgbClr val="8FE0D2"/>
                </a:solidFill>
                <a:latin typeface="Segoe UI" pitchFamily="34" charset="0"/>
                <a:ea typeface="Segoe UI" pitchFamily="34" charset="-122"/>
                <a:cs typeface="Segoe UI" pitchFamily="34" charset="-120"/>
              </a:rPr>
              <a:t>RETIRE</a:t>
            </a:r>
            <a:endParaRPr lang="en-US" sz="1000" dirty="0"/>
          </a:p>
        </p:txBody>
      </p:sp>
      <p:sp>
        <p:nvSpPr>
          <p:cNvPr id="47" name="Text 44"/>
          <p:cNvSpPr/>
          <p:nvPr/>
        </p:nvSpPr>
        <p:spPr>
          <a:xfrm>
            <a:off x="9784080" y="4837176"/>
            <a:ext cx="1600200" cy="512064"/>
          </a:xfrm>
          <a:prstGeom prst="rect">
            <a:avLst/>
          </a:prstGeom>
          <a:noFill/>
          <a:ln/>
        </p:spPr>
        <p:txBody>
          <a:bodyPr wrap="square" rtlCol="0" anchor="t"/>
          <a:lstStyle/>
          <a:p>
            <a:pPr indent="0" marL="0">
              <a:lnSpc>
                <a:spcPct val="104000"/>
              </a:lnSpc>
              <a:buNone/>
            </a:pPr>
            <a:r>
              <a:rPr lang="en-US" sz="850" i="1" dirty="0">
                <a:solidFill>
                  <a:srgbClr val="CFE2E1"/>
                </a:solidFill>
                <a:latin typeface="Segoe UI" pitchFamily="34" charset="0"/>
                <a:ea typeface="Segoe UI" pitchFamily="34" charset="-122"/>
                <a:cs typeface="Segoe UI" pitchFamily="34" charset="-120"/>
              </a:rPr>
              <a:t>stop paying to keep it</a:t>
            </a:r>
            <a:endParaRPr lang="en-US" sz="850" dirty="0"/>
          </a:p>
        </p:txBody>
      </p:sp>
      <p:sp>
        <p:nvSpPr>
          <p:cNvPr id="48" name="Text 45"/>
          <p:cNvSpPr/>
          <p:nvPr/>
        </p:nvSpPr>
        <p:spPr>
          <a:xfrm>
            <a:off x="777240" y="5705856"/>
            <a:ext cx="10637215" cy="502920"/>
          </a:xfrm>
          <a:prstGeom prst="rect">
            <a:avLst/>
          </a:prstGeom>
          <a:noFill/>
          <a:ln/>
        </p:spPr>
        <p:txBody>
          <a:bodyPr wrap="square" rtlCol="0" anchor="ctr"/>
          <a:lstStyle/>
          <a:p>
            <a:pPr indent="0" marL="0">
              <a:lnSpc>
                <a:spcPct val="108000"/>
              </a:lnSpc>
              <a:buNone/>
            </a:pPr>
            <a:r>
              <a:rPr lang="en-US" sz="880" i="1" dirty="0">
                <a:solidFill>
                  <a:srgbClr val="8FB6B8"/>
                </a:solidFill>
                <a:latin typeface="Segoe UI" pitchFamily="34" charset="0"/>
                <a:ea typeface="Segoe UI" pitchFamily="34" charset="-122"/>
                <a:cs typeface="Segoe UI" pitchFamily="34" charset="-120"/>
              </a:rPr>
              <a:t>Synthetic demo tenant, 180-day window. Every figure is computed from the records on screen; each view prints its formula and the data it does not have. Evidence of the workflow — not guaranteed savings.</a:t>
            </a:r>
            <a:endParaRPr lang="en-US" sz="8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11</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STACK</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The reliability claims are enforced, not promised</a:t>
            </a:r>
            <a:endParaRPr lang="en-US" sz="2800" dirty="0"/>
          </a:p>
        </p:txBody>
      </p:sp>
      <p:sp>
        <p:nvSpPr>
          <p:cNvPr id="18" name="Text 15"/>
          <p:cNvSpPr/>
          <p:nvPr/>
        </p:nvSpPr>
        <p:spPr>
          <a:xfrm>
            <a:off x="777240" y="1755648"/>
            <a:ext cx="3657600" cy="256032"/>
          </a:xfrm>
          <a:prstGeom prst="rect">
            <a:avLst/>
          </a:prstGeom>
          <a:noFill/>
          <a:ln/>
        </p:spPr>
        <p:txBody>
          <a:bodyPr wrap="square" rtlCol="0" anchor="ctr"/>
          <a:lstStyle/>
          <a:p>
            <a:pPr indent="0" marL="0">
              <a:buNone/>
            </a:pPr>
            <a:r>
              <a:rPr lang="en-US" sz="1000" b="1" spc="130" kern="0" dirty="0">
                <a:solidFill>
                  <a:srgbClr val="8FE0D2"/>
                </a:solidFill>
                <a:latin typeface="Segoe UI" pitchFamily="34" charset="0"/>
                <a:ea typeface="Segoe UI" pitchFamily="34" charset="-122"/>
                <a:cs typeface="Segoe UI" pitchFamily="34" charset="-120"/>
              </a:rPr>
              <a:t>Stack</a:t>
            </a:r>
            <a:endParaRPr lang="en-US" sz="1000" dirty="0"/>
          </a:p>
        </p:txBody>
      </p:sp>
      <p:sp>
        <p:nvSpPr>
          <p:cNvPr id="19" name="Text 16"/>
          <p:cNvSpPr/>
          <p:nvPr/>
        </p:nvSpPr>
        <p:spPr>
          <a:xfrm>
            <a:off x="777240" y="2148840"/>
            <a:ext cx="1280160" cy="256032"/>
          </a:xfrm>
          <a:prstGeom prst="rect">
            <a:avLst/>
          </a:prstGeom>
          <a:noFill/>
          <a:ln/>
        </p:spPr>
        <p:txBody>
          <a:bodyPr wrap="square" rtlCol="0" anchor="ctr"/>
          <a:lstStyle/>
          <a:p>
            <a:pPr indent="0" marL="0">
              <a:buNone/>
            </a:pPr>
            <a:r>
              <a:rPr lang="en-US" sz="900" b="1" dirty="0">
                <a:solidFill>
                  <a:srgbClr val="5FA9A0"/>
                </a:solidFill>
                <a:latin typeface="Segoe UI" pitchFamily="34" charset="0"/>
                <a:ea typeface="Segoe UI" pitchFamily="34" charset="-122"/>
                <a:cs typeface="Segoe UI" pitchFamily="34" charset="-120"/>
              </a:rPr>
              <a:t>App</a:t>
            </a:r>
            <a:endParaRPr lang="en-US" sz="900" dirty="0"/>
          </a:p>
        </p:txBody>
      </p:sp>
      <p:sp>
        <p:nvSpPr>
          <p:cNvPr id="20" name="Text 17"/>
          <p:cNvSpPr/>
          <p:nvPr/>
        </p:nvSpPr>
        <p:spPr>
          <a:xfrm>
            <a:off x="2148840" y="2148840"/>
            <a:ext cx="4023360" cy="530352"/>
          </a:xfrm>
          <a:prstGeom prst="rect">
            <a:avLst/>
          </a:prstGeom>
          <a:noFill/>
          <a:ln/>
        </p:spPr>
        <p:txBody>
          <a:bodyPr wrap="square" rtlCol="0" anchor="t"/>
          <a:lstStyle/>
          <a:p>
            <a:pPr indent="0" marL="0">
              <a:lnSpc>
                <a:spcPct val="108000"/>
              </a:lnSpc>
              <a:buNone/>
            </a:pPr>
            <a:r>
              <a:rPr lang="en-US" sz="950" dirty="0">
                <a:solidFill>
                  <a:srgbClr val="CFE2E1"/>
                </a:solidFill>
                <a:latin typeface="Segoe UI" pitchFamily="34" charset="0"/>
                <a:ea typeface="Segoe UI" pitchFamily="34" charset="-122"/>
                <a:cs typeface="Segoe UI" pitchFamily="34" charset="-120"/>
              </a:rPr>
              <a:t>Next.js 16 App Router · React 19 · TypeScript · Tailwind v4</a:t>
            </a:r>
            <a:endParaRPr lang="en-US" sz="950" dirty="0"/>
          </a:p>
        </p:txBody>
      </p:sp>
      <p:sp>
        <p:nvSpPr>
          <p:cNvPr id="21" name="Text 18"/>
          <p:cNvSpPr/>
          <p:nvPr/>
        </p:nvSpPr>
        <p:spPr>
          <a:xfrm>
            <a:off x="777240" y="2752344"/>
            <a:ext cx="1280160" cy="256032"/>
          </a:xfrm>
          <a:prstGeom prst="rect">
            <a:avLst/>
          </a:prstGeom>
          <a:noFill/>
          <a:ln/>
        </p:spPr>
        <p:txBody>
          <a:bodyPr wrap="square" rtlCol="0" anchor="ctr"/>
          <a:lstStyle/>
          <a:p>
            <a:pPr indent="0" marL="0">
              <a:buNone/>
            </a:pPr>
            <a:r>
              <a:rPr lang="en-US" sz="900" b="1" dirty="0">
                <a:solidFill>
                  <a:srgbClr val="5FA9A0"/>
                </a:solidFill>
                <a:latin typeface="Segoe UI" pitchFamily="34" charset="0"/>
                <a:ea typeface="Segoe UI" pitchFamily="34" charset="-122"/>
                <a:cs typeface="Segoe UI" pitchFamily="34" charset="-120"/>
              </a:rPr>
              <a:t>Database</a:t>
            </a:r>
            <a:endParaRPr lang="en-US" sz="900" dirty="0"/>
          </a:p>
        </p:txBody>
      </p:sp>
      <p:sp>
        <p:nvSpPr>
          <p:cNvPr id="22" name="Text 19"/>
          <p:cNvSpPr/>
          <p:nvPr/>
        </p:nvSpPr>
        <p:spPr>
          <a:xfrm>
            <a:off x="2148840" y="2752344"/>
            <a:ext cx="4023360" cy="530352"/>
          </a:xfrm>
          <a:prstGeom prst="rect">
            <a:avLst/>
          </a:prstGeom>
          <a:noFill/>
          <a:ln/>
        </p:spPr>
        <p:txBody>
          <a:bodyPr wrap="square" rtlCol="0" anchor="t"/>
          <a:lstStyle/>
          <a:p>
            <a:pPr indent="0" marL="0">
              <a:lnSpc>
                <a:spcPct val="108000"/>
              </a:lnSpc>
              <a:buNone/>
            </a:pPr>
            <a:r>
              <a:rPr lang="en-US" sz="950" dirty="0">
                <a:solidFill>
                  <a:srgbClr val="CFE2E1"/>
                </a:solidFill>
                <a:latin typeface="Segoe UI" pitchFamily="34" charset="0"/>
                <a:ea typeface="Segoe UI" pitchFamily="34" charset="-122"/>
                <a:cs typeface="Segoe UI" pitchFamily="34" charset="-120"/>
              </a:rPr>
              <a:t>PostgreSQL 16 — btree_gist, pgcrypto, row-level security</a:t>
            </a:r>
            <a:endParaRPr lang="en-US" sz="950" dirty="0"/>
          </a:p>
        </p:txBody>
      </p:sp>
      <p:sp>
        <p:nvSpPr>
          <p:cNvPr id="23" name="Text 20"/>
          <p:cNvSpPr/>
          <p:nvPr/>
        </p:nvSpPr>
        <p:spPr>
          <a:xfrm>
            <a:off x="777240" y="3355848"/>
            <a:ext cx="1280160" cy="256032"/>
          </a:xfrm>
          <a:prstGeom prst="rect">
            <a:avLst/>
          </a:prstGeom>
          <a:noFill/>
          <a:ln/>
        </p:spPr>
        <p:txBody>
          <a:bodyPr wrap="square" rtlCol="0" anchor="ctr"/>
          <a:lstStyle/>
          <a:p>
            <a:pPr indent="0" marL="0">
              <a:buNone/>
            </a:pPr>
            <a:r>
              <a:rPr lang="en-US" sz="900" b="1" dirty="0">
                <a:solidFill>
                  <a:srgbClr val="5FA9A0"/>
                </a:solidFill>
                <a:latin typeface="Segoe UI" pitchFamily="34" charset="0"/>
                <a:ea typeface="Segoe UI" pitchFamily="34" charset="-122"/>
                <a:cs typeface="Segoe UI" pitchFamily="34" charset="-120"/>
              </a:rPr>
              <a:t>Data access</a:t>
            </a:r>
            <a:endParaRPr lang="en-US" sz="900" dirty="0"/>
          </a:p>
        </p:txBody>
      </p:sp>
      <p:sp>
        <p:nvSpPr>
          <p:cNvPr id="24" name="Text 21"/>
          <p:cNvSpPr/>
          <p:nvPr/>
        </p:nvSpPr>
        <p:spPr>
          <a:xfrm>
            <a:off x="2148840" y="3355848"/>
            <a:ext cx="4023360" cy="530352"/>
          </a:xfrm>
          <a:prstGeom prst="rect">
            <a:avLst/>
          </a:prstGeom>
          <a:noFill/>
          <a:ln/>
        </p:spPr>
        <p:txBody>
          <a:bodyPr wrap="square" rtlCol="0" anchor="t"/>
          <a:lstStyle/>
          <a:p>
            <a:pPr indent="0" marL="0">
              <a:lnSpc>
                <a:spcPct val="108000"/>
              </a:lnSpc>
              <a:buNone/>
            </a:pPr>
            <a:r>
              <a:rPr lang="en-US" sz="950" dirty="0">
                <a:solidFill>
                  <a:srgbClr val="CFE2E1"/>
                </a:solidFill>
                <a:latin typeface="Segoe UI" pitchFamily="34" charset="0"/>
                <a:ea typeface="Segoe UI" pitchFamily="34" charset="-122"/>
                <a:cs typeface="Segoe UI" pitchFamily="34" charset="-120"/>
              </a:rPr>
              <a:t>pg with hand-written SQL and reviewable .sql migrations</a:t>
            </a:r>
            <a:endParaRPr lang="en-US" sz="950" dirty="0"/>
          </a:p>
        </p:txBody>
      </p:sp>
      <p:sp>
        <p:nvSpPr>
          <p:cNvPr id="25" name="Text 22"/>
          <p:cNvSpPr/>
          <p:nvPr/>
        </p:nvSpPr>
        <p:spPr>
          <a:xfrm>
            <a:off x="777240" y="3959352"/>
            <a:ext cx="1280160" cy="256032"/>
          </a:xfrm>
          <a:prstGeom prst="rect">
            <a:avLst/>
          </a:prstGeom>
          <a:noFill/>
          <a:ln/>
        </p:spPr>
        <p:txBody>
          <a:bodyPr wrap="square" rtlCol="0" anchor="ctr"/>
          <a:lstStyle/>
          <a:p>
            <a:pPr indent="0" marL="0">
              <a:buNone/>
            </a:pPr>
            <a:r>
              <a:rPr lang="en-US" sz="900" b="1" dirty="0">
                <a:solidFill>
                  <a:srgbClr val="5FA9A0"/>
                </a:solidFill>
                <a:latin typeface="Segoe UI" pitchFamily="34" charset="0"/>
                <a:ea typeface="Segoe UI" pitchFamily="34" charset="-122"/>
                <a:cs typeface="Segoe UI" pitchFamily="34" charset="-120"/>
              </a:rPr>
              <a:t>Jobs</a:t>
            </a:r>
            <a:endParaRPr lang="en-US" sz="900" dirty="0"/>
          </a:p>
        </p:txBody>
      </p:sp>
      <p:sp>
        <p:nvSpPr>
          <p:cNvPr id="26" name="Text 23"/>
          <p:cNvSpPr/>
          <p:nvPr/>
        </p:nvSpPr>
        <p:spPr>
          <a:xfrm>
            <a:off x="2148840" y="3959352"/>
            <a:ext cx="4023360" cy="530352"/>
          </a:xfrm>
          <a:prstGeom prst="rect">
            <a:avLst/>
          </a:prstGeom>
          <a:noFill/>
          <a:ln/>
        </p:spPr>
        <p:txBody>
          <a:bodyPr wrap="square" rtlCol="0" anchor="t"/>
          <a:lstStyle/>
          <a:p>
            <a:pPr indent="0" marL="0">
              <a:lnSpc>
                <a:spcPct val="108000"/>
              </a:lnSpc>
              <a:buNone/>
            </a:pPr>
            <a:r>
              <a:rPr lang="en-US" sz="950" dirty="0">
                <a:solidFill>
                  <a:srgbClr val="CFE2E1"/>
                </a:solidFill>
                <a:latin typeface="Segoe UI" pitchFamily="34" charset="0"/>
                <a:ea typeface="Segoe UI" pitchFamily="34" charset="-122"/>
                <a:cs typeface="Segoe UI" pitchFamily="34" charset="-120"/>
              </a:rPr>
              <a:t>Cron-invoked Node worker: no-shows, overdue sessions</a:t>
            </a:r>
            <a:endParaRPr lang="en-US" sz="950" dirty="0"/>
          </a:p>
        </p:txBody>
      </p:sp>
      <p:sp>
        <p:nvSpPr>
          <p:cNvPr id="27" name="Text 24"/>
          <p:cNvSpPr/>
          <p:nvPr/>
        </p:nvSpPr>
        <p:spPr>
          <a:xfrm>
            <a:off x="777240" y="4562856"/>
            <a:ext cx="1280160" cy="256032"/>
          </a:xfrm>
          <a:prstGeom prst="rect">
            <a:avLst/>
          </a:prstGeom>
          <a:noFill/>
          <a:ln/>
        </p:spPr>
        <p:txBody>
          <a:bodyPr wrap="square" rtlCol="0" anchor="ctr"/>
          <a:lstStyle/>
          <a:p>
            <a:pPr indent="0" marL="0">
              <a:buNone/>
            </a:pPr>
            <a:r>
              <a:rPr lang="en-US" sz="900" b="1" dirty="0">
                <a:solidFill>
                  <a:srgbClr val="5FA9A0"/>
                </a:solidFill>
                <a:latin typeface="Segoe UI" pitchFamily="34" charset="0"/>
                <a:ea typeface="Segoe UI" pitchFamily="34" charset="-122"/>
                <a:cs typeface="Segoe UI" pitchFamily="34" charset="-120"/>
              </a:rPr>
              <a:t>Deploy</a:t>
            </a:r>
            <a:endParaRPr lang="en-US" sz="900" dirty="0"/>
          </a:p>
        </p:txBody>
      </p:sp>
      <p:sp>
        <p:nvSpPr>
          <p:cNvPr id="28" name="Text 25"/>
          <p:cNvSpPr/>
          <p:nvPr/>
        </p:nvSpPr>
        <p:spPr>
          <a:xfrm>
            <a:off x="2148840" y="4562856"/>
            <a:ext cx="4023360" cy="530352"/>
          </a:xfrm>
          <a:prstGeom prst="rect">
            <a:avLst/>
          </a:prstGeom>
          <a:noFill/>
          <a:ln/>
        </p:spPr>
        <p:txBody>
          <a:bodyPr wrap="square" rtlCol="0" anchor="t"/>
          <a:lstStyle/>
          <a:p>
            <a:pPr indent="0" marL="0">
              <a:lnSpc>
                <a:spcPct val="108000"/>
              </a:lnSpc>
              <a:buNone/>
            </a:pPr>
            <a:r>
              <a:rPr lang="en-US" sz="950" dirty="0">
                <a:solidFill>
                  <a:srgbClr val="CFE2E1"/>
                </a:solidFill>
                <a:latin typeface="Segoe UI" pitchFamily="34" charset="0"/>
                <a:ea typeface="Segoe UI" pitchFamily="34" charset="-122"/>
                <a:cs typeface="Segoe UI" pitchFamily="34" charset="-120"/>
              </a:rPr>
              <a:t>Docker Compose behind Caddy · Indian region · self-hostable</a:t>
            </a:r>
            <a:endParaRPr lang="en-US" sz="950" dirty="0"/>
          </a:p>
        </p:txBody>
      </p:sp>
      <p:sp>
        <p:nvSpPr>
          <p:cNvPr id="29" name="Shape 26"/>
          <p:cNvSpPr/>
          <p:nvPr/>
        </p:nvSpPr>
        <p:spPr>
          <a:xfrm>
            <a:off x="5943600" y="1755648"/>
            <a:ext cx="5468112" cy="1024128"/>
          </a:xfrm>
          <a:prstGeom prst="roundRect">
            <a:avLst>
              <a:gd name="adj" fmla="val 3571"/>
            </a:avLst>
          </a:prstGeom>
          <a:solidFill>
            <a:srgbClr val="0A3135"/>
          </a:solidFill>
          <a:ln w="12700">
            <a:solidFill>
              <a:srgbClr val="1C5A5F"/>
            </a:solidFill>
            <a:prstDash val="solid"/>
          </a:ln>
        </p:spPr>
      </p:sp>
      <p:sp>
        <p:nvSpPr>
          <p:cNvPr id="30" name="Text 27"/>
          <p:cNvSpPr/>
          <p:nvPr/>
        </p:nvSpPr>
        <p:spPr>
          <a:xfrm>
            <a:off x="6172200" y="1883664"/>
            <a:ext cx="502920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1 · Session and role</a:t>
            </a:r>
            <a:endParaRPr lang="en-US" sz="1050" dirty="0"/>
          </a:p>
        </p:txBody>
      </p:sp>
      <p:sp>
        <p:nvSpPr>
          <p:cNvPr id="31" name="Text 28"/>
          <p:cNvSpPr/>
          <p:nvPr/>
        </p:nvSpPr>
        <p:spPr>
          <a:xfrm>
            <a:off x="6172200" y="2157984"/>
            <a:ext cx="5029200" cy="530352"/>
          </a:xfrm>
          <a:prstGeom prst="rect">
            <a:avLst/>
          </a:prstGeom>
          <a:noFill/>
          <a:ln/>
        </p:spPr>
        <p:txBody>
          <a:bodyPr wrap="square" rtlCol="0" anchor="t"/>
          <a:lstStyle/>
          <a:p>
            <a:pPr indent="0" marL="0">
              <a:lnSpc>
                <a:spcPct val="108000"/>
              </a:lnSpc>
              <a:buNone/>
            </a:pPr>
            <a:r>
              <a:rPr lang="en-US" sz="920" dirty="0">
                <a:solidFill>
                  <a:srgbClr val="8FB6B8"/>
                </a:solidFill>
                <a:latin typeface="Segoe UI" pitchFamily="34" charset="0"/>
                <a:ea typeface="Segoe UI" pitchFamily="34" charset="-122"/>
                <a:cs typeface="Segoe UI" pitchFamily="34" charset="-120"/>
              </a:rPr>
              <a:t>Every server action and route re-reads the session. Hiding a button is never the control.</a:t>
            </a:r>
            <a:endParaRPr lang="en-US" sz="920" dirty="0"/>
          </a:p>
        </p:txBody>
      </p:sp>
      <p:sp>
        <p:nvSpPr>
          <p:cNvPr id="32" name="Shape 29"/>
          <p:cNvSpPr/>
          <p:nvPr/>
        </p:nvSpPr>
        <p:spPr>
          <a:xfrm>
            <a:off x="5943600" y="2889504"/>
            <a:ext cx="5468112" cy="1024128"/>
          </a:xfrm>
          <a:prstGeom prst="roundRect">
            <a:avLst>
              <a:gd name="adj" fmla="val 3571"/>
            </a:avLst>
          </a:prstGeom>
          <a:solidFill>
            <a:srgbClr val="0A3135"/>
          </a:solidFill>
          <a:ln w="12700">
            <a:solidFill>
              <a:srgbClr val="1C5A5F"/>
            </a:solidFill>
            <a:prstDash val="solid"/>
          </a:ln>
        </p:spPr>
      </p:sp>
      <p:sp>
        <p:nvSpPr>
          <p:cNvPr id="33" name="Text 30"/>
          <p:cNvSpPr/>
          <p:nvPr/>
        </p:nvSpPr>
        <p:spPr>
          <a:xfrm>
            <a:off x="6172200" y="3017520"/>
            <a:ext cx="502920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2 · Explicit tenant scope</a:t>
            </a:r>
            <a:endParaRPr lang="en-US" sz="1050" dirty="0"/>
          </a:p>
        </p:txBody>
      </p:sp>
      <p:sp>
        <p:nvSpPr>
          <p:cNvPr id="34" name="Text 31"/>
          <p:cNvSpPr/>
          <p:nvPr/>
        </p:nvSpPr>
        <p:spPr>
          <a:xfrm>
            <a:off x="6172200" y="3291840"/>
            <a:ext cx="5029200" cy="530352"/>
          </a:xfrm>
          <a:prstGeom prst="rect">
            <a:avLst/>
          </a:prstGeom>
          <a:noFill/>
          <a:ln/>
        </p:spPr>
        <p:txBody>
          <a:bodyPr wrap="square" rtlCol="0" anchor="t"/>
          <a:lstStyle/>
          <a:p>
            <a:pPr indent="0" marL="0">
              <a:lnSpc>
                <a:spcPct val="108000"/>
              </a:lnSpc>
              <a:buNone/>
            </a:pPr>
            <a:r>
              <a:rPr lang="en-US" sz="920" dirty="0">
                <a:solidFill>
                  <a:srgbClr val="8FB6B8"/>
                </a:solidFill>
                <a:latin typeface="Segoe UI" pitchFamily="34" charset="0"/>
                <a:ea typeface="Segoe UI" pitchFamily="34" charset="-122"/>
                <a:cs typeface="Segoe UI" pitchFamily="34" charset="-120"/>
              </a:rPr>
              <a:t>All queries run inside withOrg(), which sets the tenant for the transaction.</a:t>
            </a:r>
            <a:endParaRPr lang="en-US" sz="920" dirty="0"/>
          </a:p>
        </p:txBody>
      </p:sp>
      <p:sp>
        <p:nvSpPr>
          <p:cNvPr id="35" name="Shape 32"/>
          <p:cNvSpPr/>
          <p:nvPr/>
        </p:nvSpPr>
        <p:spPr>
          <a:xfrm>
            <a:off x="5943600" y="4023360"/>
            <a:ext cx="5468112" cy="1024128"/>
          </a:xfrm>
          <a:prstGeom prst="roundRect">
            <a:avLst>
              <a:gd name="adj" fmla="val 3571"/>
            </a:avLst>
          </a:prstGeom>
          <a:solidFill>
            <a:srgbClr val="0A3135"/>
          </a:solidFill>
          <a:ln w="12700">
            <a:solidFill>
              <a:srgbClr val="1C5A5F"/>
            </a:solidFill>
            <a:prstDash val="solid"/>
          </a:ln>
        </p:spPr>
      </p:sp>
      <p:sp>
        <p:nvSpPr>
          <p:cNvPr id="36" name="Text 33"/>
          <p:cNvSpPr/>
          <p:nvPr/>
        </p:nvSpPr>
        <p:spPr>
          <a:xfrm>
            <a:off x="6172200" y="4151376"/>
            <a:ext cx="5029200" cy="256032"/>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3 · Row-level security</a:t>
            </a:r>
            <a:endParaRPr lang="en-US" sz="1050" dirty="0"/>
          </a:p>
        </p:txBody>
      </p:sp>
      <p:sp>
        <p:nvSpPr>
          <p:cNvPr id="37" name="Text 34"/>
          <p:cNvSpPr/>
          <p:nvPr/>
        </p:nvSpPr>
        <p:spPr>
          <a:xfrm>
            <a:off x="6172200" y="4425696"/>
            <a:ext cx="5029200" cy="530352"/>
          </a:xfrm>
          <a:prstGeom prst="rect">
            <a:avLst/>
          </a:prstGeom>
          <a:noFill/>
          <a:ln/>
        </p:spPr>
        <p:txBody>
          <a:bodyPr wrap="square" rtlCol="0" anchor="t"/>
          <a:lstStyle/>
          <a:p>
            <a:pPr indent="0" marL="0">
              <a:lnSpc>
                <a:spcPct val="108000"/>
              </a:lnSpc>
              <a:buNone/>
            </a:pPr>
            <a:r>
              <a:rPr lang="en-US" sz="920" dirty="0">
                <a:solidFill>
                  <a:srgbClr val="8FB6B8"/>
                </a:solidFill>
                <a:latin typeface="Segoe UI" pitchFamily="34" charset="0"/>
                <a:ea typeface="Segoe UI" pitchFamily="34" charset="-122"/>
                <a:cs typeface="Segoe UI" pitchFamily="34" charset="-120"/>
              </a:rPr>
              <a:t>Policies compare organization_id to the transaction variable. No context returns nothing.</a:t>
            </a:r>
            <a:endParaRPr lang="en-US" sz="920" dirty="0"/>
          </a:p>
        </p:txBody>
      </p:sp>
      <p:sp>
        <p:nvSpPr>
          <p:cNvPr id="38" name="Text 35"/>
          <p:cNvSpPr/>
          <p:nvPr/>
        </p:nvSpPr>
        <p:spPr>
          <a:xfrm>
            <a:off x="777240" y="5440680"/>
            <a:ext cx="10637215" cy="365760"/>
          </a:xfrm>
          <a:prstGeom prst="rect">
            <a:avLst/>
          </a:prstGeom>
          <a:noFill/>
          <a:ln/>
        </p:spPr>
        <p:txBody>
          <a:bodyPr wrap="square" rtlCol="0" anchor="ctr"/>
          <a:lstStyle/>
          <a:p>
            <a:pPr indent="0" marL="0">
              <a:buNone/>
            </a:pPr>
            <a:r>
              <a:rPr lang="en-US" sz="950" i="1" dirty="0">
                <a:solidFill>
                  <a:srgbClr val="8FB6B8"/>
                </a:solidFill>
                <a:latin typeface="Segoe UI" pitchFamily="34" charset="0"/>
                <a:ea typeface="Segoe UI" pitchFamily="34" charset="-122"/>
                <a:cs typeface="Segoe UI" pitchFamily="34" charset="-120"/>
              </a:rPr>
              <a:t>Deliberately excluded in v1: IoT hardware control · public marketplace · payments · autonomous AI decisions · microservices.</a:t>
            </a:r>
            <a:endParaRPr lang="en-US" sz="950" dirty="0"/>
          </a:p>
        </p:txBody>
      </p:sp>
      <p:sp>
        <p:nvSpPr>
          <p:cNvPr id="39" name="Text 36"/>
          <p:cNvSpPr/>
          <p:nvPr/>
        </p:nvSpPr>
        <p:spPr>
          <a:xfrm>
            <a:off x="777240" y="5833872"/>
            <a:ext cx="10637215" cy="274320"/>
          </a:xfrm>
          <a:prstGeom prst="rect">
            <a:avLst/>
          </a:prstGeom>
          <a:noFill/>
          <a:ln/>
        </p:spPr>
        <p:txBody>
          <a:bodyPr wrap="square" rtlCol="0" anchor="ctr"/>
          <a:lstStyle/>
          <a:p>
            <a:pPr indent="0" marL="0">
              <a:buNone/>
            </a:pPr>
            <a:r>
              <a:rPr lang="en-US" sz="1000" b="1" dirty="0">
                <a:solidFill>
                  <a:srgbClr val="8FE0D2"/>
                </a:solidFill>
                <a:latin typeface="Segoe UI" pitchFamily="34" charset="0"/>
                <a:ea typeface="Segoe UI" pitchFamily="34" charset="-122"/>
                <a:cs typeface="Segoe UI" pitchFamily="34" charset="-120"/>
              </a:rPr>
              <a:t>40 tests · conflict race · cross-tenant read · append-only audit · credential sealing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12</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BUSINESS IMPACT</a:t>
            </a:r>
            <a:endParaRPr lang="en-US" sz="950" dirty="0"/>
          </a:p>
        </p:txBody>
      </p:sp>
      <p:sp>
        <p:nvSpPr>
          <p:cNvPr id="16" name="Text 14"/>
          <p:cNvSpPr/>
          <p:nvPr/>
        </p:nvSpPr>
        <p:spPr>
          <a:xfrm>
            <a:off x="777240" y="749808"/>
            <a:ext cx="9692640" cy="960120"/>
          </a:xfrm>
          <a:prstGeom prst="rect">
            <a:avLst/>
          </a:prstGeom>
          <a:noFill/>
          <a:ln/>
        </p:spPr>
        <p:txBody>
          <a:bodyPr wrap="square" rtlCol="0" anchor="t"/>
          <a:lstStyle/>
          <a:p>
            <a:pPr indent="0" marL="0">
              <a:lnSpc>
                <a:spcPct val="95000"/>
              </a:lnSpc>
              <a:buNone/>
            </a:pPr>
            <a:r>
              <a:rPr lang="en-US" sz="2700" b="1" dirty="0">
                <a:solidFill>
                  <a:srgbClr val="FFFFFF"/>
                </a:solidFill>
                <a:latin typeface="Georgia" pitchFamily="34" charset="0"/>
                <a:ea typeface="Georgia" pitchFamily="34" charset="-122"/>
                <a:cs typeface="Georgia" pitchFamily="34" charset="-120"/>
              </a:rPr>
              <a:t>The buyer saves a crore; we charge ₹3,500 a month</a:t>
            </a:r>
            <a:endParaRPr lang="en-US" sz="2700" dirty="0"/>
          </a:p>
        </p:txBody>
      </p:sp>
      <p:sp>
        <p:nvSpPr>
          <p:cNvPr id="18" name="Shape 15"/>
          <p:cNvSpPr/>
          <p:nvPr/>
        </p:nvSpPr>
        <p:spPr>
          <a:xfrm>
            <a:off x="777240" y="1783080"/>
            <a:ext cx="4754880" cy="640080"/>
          </a:xfrm>
          <a:prstGeom prst="roundRect">
            <a:avLst>
              <a:gd name="adj" fmla="val 5714"/>
            </a:avLst>
          </a:prstGeom>
          <a:solidFill>
            <a:srgbClr val="0A3135"/>
          </a:solidFill>
          <a:ln w="12700">
            <a:solidFill>
              <a:srgbClr val="1C5A5F"/>
            </a:solidFill>
            <a:prstDash val="solid"/>
          </a:ln>
        </p:spPr>
      </p:sp>
      <p:sp>
        <p:nvSpPr>
          <p:cNvPr id="19" name="Text 16"/>
          <p:cNvSpPr/>
          <p:nvPr/>
        </p:nvSpPr>
        <p:spPr>
          <a:xfrm>
            <a:off x="960120" y="1856232"/>
            <a:ext cx="1737360" cy="237744"/>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Paid pilot</a:t>
            </a:r>
            <a:endParaRPr lang="en-US" sz="950" dirty="0"/>
          </a:p>
        </p:txBody>
      </p:sp>
      <p:sp>
        <p:nvSpPr>
          <p:cNvPr id="20" name="Text 17"/>
          <p:cNvSpPr/>
          <p:nvPr/>
        </p:nvSpPr>
        <p:spPr>
          <a:xfrm>
            <a:off x="960120" y="2093976"/>
            <a:ext cx="1828800" cy="237744"/>
          </a:xfrm>
          <a:prstGeom prst="rect">
            <a:avLst/>
          </a:prstGeom>
          <a:noFill/>
          <a:ln/>
        </p:spPr>
        <p:txBody>
          <a:bodyPr wrap="square" rtlCol="0" anchor="ctr"/>
          <a:lstStyle/>
          <a:p>
            <a:pPr indent="0" marL="0">
              <a:buNone/>
            </a:pPr>
            <a:r>
              <a:rPr lang="en-US" sz="1000" b="1" dirty="0">
                <a:solidFill>
                  <a:srgbClr val="8FE0D2"/>
                </a:solidFill>
                <a:latin typeface="Segoe UI" pitchFamily="34" charset="0"/>
                <a:ea typeface="Segoe UI" pitchFamily="34" charset="-122"/>
                <a:cs typeface="Segoe UI" pitchFamily="34" charset="-120"/>
              </a:rPr>
              <a:t>₹10–25k</a:t>
            </a:r>
            <a:endParaRPr lang="en-US" sz="1000" dirty="0"/>
          </a:p>
        </p:txBody>
      </p:sp>
      <p:sp>
        <p:nvSpPr>
          <p:cNvPr id="21" name="Text 18"/>
          <p:cNvSpPr/>
          <p:nvPr/>
        </p:nvSpPr>
        <p:spPr>
          <a:xfrm>
            <a:off x="2834640" y="1984248"/>
            <a:ext cx="2560320" cy="365760"/>
          </a:xfrm>
          <a:prstGeom prst="rect">
            <a:avLst/>
          </a:prstGeom>
          <a:noFill/>
          <a:ln/>
        </p:spPr>
        <p:txBody>
          <a:bodyPr wrap="square" rtlCol="0" anchor="t"/>
          <a:lstStyle/>
          <a:p>
            <a:pPr indent="0" marL="0">
              <a:lnSpc>
                <a:spcPct val="102000"/>
              </a:lnSpc>
              <a:buNone/>
            </a:pPr>
            <a:r>
              <a:rPr lang="en-US" sz="820" dirty="0">
                <a:solidFill>
                  <a:srgbClr val="8FB6B8"/>
                </a:solidFill>
                <a:latin typeface="Segoe UI" pitchFamily="34" charset="0"/>
                <a:ea typeface="Segoe UI" pitchFamily="34" charset="-122"/>
                <a:cs typeface="Segoe UI" pitchFamily="34" charset="-120"/>
              </a:rPr>
              <a:t>one-off · 60–90 days · one facility</a:t>
            </a:r>
            <a:endParaRPr lang="en-US" sz="820" dirty="0"/>
          </a:p>
        </p:txBody>
      </p:sp>
      <p:sp>
        <p:nvSpPr>
          <p:cNvPr id="22" name="Shape 19"/>
          <p:cNvSpPr/>
          <p:nvPr/>
        </p:nvSpPr>
        <p:spPr>
          <a:xfrm>
            <a:off x="777240" y="2532888"/>
            <a:ext cx="4754880" cy="640080"/>
          </a:xfrm>
          <a:prstGeom prst="roundRect">
            <a:avLst>
              <a:gd name="adj" fmla="val 5714"/>
            </a:avLst>
          </a:prstGeom>
          <a:solidFill>
            <a:srgbClr val="0A3135"/>
          </a:solidFill>
          <a:ln w="12700">
            <a:solidFill>
              <a:srgbClr val="1C5A5F"/>
            </a:solidFill>
            <a:prstDash val="solid"/>
          </a:ln>
        </p:spPr>
      </p:sp>
      <p:sp>
        <p:nvSpPr>
          <p:cNvPr id="23" name="Text 20"/>
          <p:cNvSpPr/>
          <p:nvPr/>
        </p:nvSpPr>
        <p:spPr>
          <a:xfrm>
            <a:off x="960120" y="2606040"/>
            <a:ext cx="1737360" cy="237744"/>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Starter</a:t>
            </a:r>
            <a:endParaRPr lang="en-US" sz="950" dirty="0"/>
          </a:p>
        </p:txBody>
      </p:sp>
      <p:sp>
        <p:nvSpPr>
          <p:cNvPr id="24" name="Text 21"/>
          <p:cNvSpPr/>
          <p:nvPr/>
        </p:nvSpPr>
        <p:spPr>
          <a:xfrm>
            <a:off x="960120" y="2843784"/>
            <a:ext cx="1828800" cy="237744"/>
          </a:xfrm>
          <a:prstGeom prst="rect">
            <a:avLst/>
          </a:prstGeom>
          <a:noFill/>
          <a:ln/>
        </p:spPr>
        <p:txBody>
          <a:bodyPr wrap="square" rtlCol="0" anchor="ctr"/>
          <a:lstStyle/>
          <a:p>
            <a:pPr indent="0" marL="0">
              <a:buNone/>
            </a:pPr>
            <a:r>
              <a:rPr lang="en-US" sz="1000" b="1" dirty="0">
                <a:solidFill>
                  <a:srgbClr val="8FE0D2"/>
                </a:solidFill>
                <a:latin typeface="Segoe UI" pitchFamily="34" charset="0"/>
                <a:ea typeface="Segoe UI" pitchFamily="34" charset="-122"/>
                <a:cs typeface="Segoe UI" pitchFamily="34" charset="-120"/>
              </a:rPr>
              <a:t>₹3,500 / month</a:t>
            </a:r>
            <a:endParaRPr lang="en-US" sz="1000" dirty="0"/>
          </a:p>
        </p:txBody>
      </p:sp>
      <p:sp>
        <p:nvSpPr>
          <p:cNvPr id="25" name="Text 22"/>
          <p:cNvSpPr/>
          <p:nvPr/>
        </p:nvSpPr>
        <p:spPr>
          <a:xfrm>
            <a:off x="2834640" y="2734056"/>
            <a:ext cx="2560320" cy="365760"/>
          </a:xfrm>
          <a:prstGeom prst="rect">
            <a:avLst/>
          </a:prstGeom>
          <a:noFill/>
          <a:ln/>
        </p:spPr>
        <p:txBody>
          <a:bodyPr wrap="square" rtlCol="0" anchor="t"/>
          <a:lstStyle/>
          <a:p>
            <a:pPr indent="0" marL="0">
              <a:lnSpc>
                <a:spcPct val="102000"/>
              </a:lnSpc>
              <a:buNone/>
            </a:pPr>
            <a:r>
              <a:rPr lang="en-US" sz="820" dirty="0">
                <a:solidFill>
                  <a:srgbClr val="8FB6B8"/>
                </a:solidFill>
                <a:latin typeface="Segoe UI" pitchFamily="34" charset="0"/>
                <a:ea typeface="Segoe UI" pitchFamily="34" charset="-122"/>
                <a:cs typeface="Segoe UI" pitchFamily="34" charset="-120"/>
              </a:rPr>
              <a:t>1 facility · 25 resources · 100 users</a:t>
            </a:r>
            <a:endParaRPr lang="en-US" sz="820" dirty="0"/>
          </a:p>
        </p:txBody>
      </p:sp>
      <p:sp>
        <p:nvSpPr>
          <p:cNvPr id="26" name="Shape 23"/>
          <p:cNvSpPr/>
          <p:nvPr/>
        </p:nvSpPr>
        <p:spPr>
          <a:xfrm>
            <a:off x="777240" y="3282696"/>
            <a:ext cx="4754880" cy="640080"/>
          </a:xfrm>
          <a:prstGeom prst="roundRect">
            <a:avLst>
              <a:gd name="adj" fmla="val 5714"/>
            </a:avLst>
          </a:prstGeom>
          <a:solidFill>
            <a:srgbClr val="0A3135"/>
          </a:solidFill>
          <a:ln w="12700">
            <a:solidFill>
              <a:srgbClr val="1C5A5F"/>
            </a:solidFill>
            <a:prstDash val="solid"/>
          </a:ln>
        </p:spPr>
      </p:sp>
      <p:sp>
        <p:nvSpPr>
          <p:cNvPr id="27" name="Text 24"/>
          <p:cNvSpPr/>
          <p:nvPr/>
        </p:nvSpPr>
        <p:spPr>
          <a:xfrm>
            <a:off x="960120" y="3355848"/>
            <a:ext cx="1737360" cy="237744"/>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Campus</a:t>
            </a:r>
            <a:endParaRPr lang="en-US" sz="950" dirty="0"/>
          </a:p>
        </p:txBody>
      </p:sp>
      <p:sp>
        <p:nvSpPr>
          <p:cNvPr id="28" name="Text 25"/>
          <p:cNvSpPr/>
          <p:nvPr/>
        </p:nvSpPr>
        <p:spPr>
          <a:xfrm>
            <a:off x="960120" y="3593592"/>
            <a:ext cx="1828800" cy="237744"/>
          </a:xfrm>
          <a:prstGeom prst="rect">
            <a:avLst/>
          </a:prstGeom>
          <a:noFill/>
          <a:ln/>
        </p:spPr>
        <p:txBody>
          <a:bodyPr wrap="square" rtlCol="0" anchor="ctr"/>
          <a:lstStyle/>
          <a:p>
            <a:pPr indent="0" marL="0">
              <a:buNone/>
            </a:pPr>
            <a:r>
              <a:rPr lang="en-US" sz="1000" b="1" dirty="0">
                <a:solidFill>
                  <a:srgbClr val="8FE0D2"/>
                </a:solidFill>
                <a:latin typeface="Segoe UI" pitchFamily="34" charset="0"/>
                <a:ea typeface="Segoe UI" pitchFamily="34" charset="-122"/>
                <a:cs typeface="Segoe UI" pitchFamily="34" charset="-120"/>
              </a:rPr>
              <a:t>₹9,000 / month</a:t>
            </a:r>
            <a:endParaRPr lang="en-US" sz="1000" dirty="0"/>
          </a:p>
        </p:txBody>
      </p:sp>
      <p:sp>
        <p:nvSpPr>
          <p:cNvPr id="29" name="Text 26"/>
          <p:cNvSpPr/>
          <p:nvPr/>
        </p:nvSpPr>
        <p:spPr>
          <a:xfrm>
            <a:off x="2834640" y="3483864"/>
            <a:ext cx="2560320" cy="365760"/>
          </a:xfrm>
          <a:prstGeom prst="rect">
            <a:avLst/>
          </a:prstGeom>
          <a:noFill/>
          <a:ln/>
        </p:spPr>
        <p:txBody>
          <a:bodyPr wrap="square" rtlCol="0" anchor="t"/>
          <a:lstStyle/>
          <a:p>
            <a:pPr indent="0" marL="0">
              <a:lnSpc>
                <a:spcPct val="102000"/>
              </a:lnSpc>
              <a:buNone/>
            </a:pPr>
            <a:r>
              <a:rPr lang="en-US" sz="820" dirty="0">
                <a:solidFill>
                  <a:srgbClr val="8FB6B8"/>
                </a:solidFill>
                <a:latin typeface="Segoe UI" pitchFamily="34" charset="0"/>
                <a:ea typeface="Segoe UI" pitchFamily="34" charset="-122"/>
                <a:cs typeface="Segoe UI" pitchFamily="34" charset="-120"/>
              </a:rPr>
              <a:t>5 facilities · 150 resources</a:t>
            </a:r>
            <a:endParaRPr lang="en-US" sz="820" dirty="0"/>
          </a:p>
        </p:txBody>
      </p:sp>
      <p:sp>
        <p:nvSpPr>
          <p:cNvPr id="30" name="Shape 27"/>
          <p:cNvSpPr/>
          <p:nvPr/>
        </p:nvSpPr>
        <p:spPr>
          <a:xfrm>
            <a:off x="777240" y="4032504"/>
            <a:ext cx="4754880" cy="640080"/>
          </a:xfrm>
          <a:prstGeom prst="roundRect">
            <a:avLst>
              <a:gd name="adj" fmla="val 5714"/>
            </a:avLst>
          </a:prstGeom>
          <a:solidFill>
            <a:srgbClr val="0A3135"/>
          </a:solidFill>
          <a:ln w="12700">
            <a:solidFill>
              <a:srgbClr val="1C5A5F"/>
            </a:solidFill>
            <a:prstDash val="solid"/>
          </a:ln>
        </p:spPr>
      </p:sp>
      <p:sp>
        <p:nvSpPr>
          <p:cNvPr id="31" name="Text 28"/>
          <p:cNvSpPr/>
          <p:nvPr/>
        </p:nvSpPr>
        <p:spPr>
          <a:xfrm>
            <a:off x="960120" y="4105656"/>
            <a:ext cx="1737360" cy="237744"/>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Institution</a:t>
            </a:r>
            <a:endParaRPr lang="en-US" sz="950" dirty="0"/>
          </a:p>
        </p:txBody>
      </p:sp>
      <p:sp>
        <p:nvSpPr>
          <p:cNvPr id="32" name="Text 29"/>
          <p:cNvSpPr/>
          <p:nvPr/>
        </p:nvSpPr>
        <p:spPr>
          <a:xfrm>
            <a:off x="960120" y="4343400"/>
            <a:ext cx="1828800" cy="237744"/>
          </a:xfrm>
          <a:prstGeom prst="rect">
            <a:avLst/>
          </a:prstGeom>
          <a:noFill/>
          <a:ln/>
        </p:spPr>
        <p:txBody>
          <a:bodyPr wrap="square" rtlCol="0" anchor="ctr"/>
          <a:lstStyle/>
          <a:p>
            <a:pPr indent="0" marL="0">
              <a:buNone/>
            </a:pPr>
            <a:r>
              <a:rPr lang="en-US" sz="1000" b="1" dirty="0">
                <a:solidFill>
                  <a:srgbClr val="8FE0D2"/>
                </a:solidFill>
                <a:latin typeface="Segoe UI" pitchFamily="34" charset="0"/>
                <a:ea typeface="Segoe UI" pitchFamily="34" charset="-122"/>
                <a:cs typeface="Segoe UI" pitchFamily="34" charset="-120"/>
              </a:rPr>
              <a:t>from ₹20,000</a:t>
            </a:r>
            <a:endParaRPr lang="en-US" sz="1000" dirty="0"/>
          </a:p>
        </p:txBody>
      </p:sp>
      <p:sp>
        <p:nvSpPr>
          <p:cNvPr id="33" name="Text 30"/>
          <p:cNvSpPr/>
          <p:nvPr/>
        </p:nvSpPr>
        <p:spPr>
          <a:xfrm>
            <a:off x="2834640" y="4233672"/>
            <a:ext cx="2560320" cy="365760"/>
          </a:xfrm>
          <a:prstGeom prst="rect">
            <a:avLst/>
          </a:prstGeom>
          <a:noFill/>
          <a:ln/>
        </p:spPr>
        <p:txBody>
          <a:bodyPr wrap="square" rtlCol="0" anchor="t"/>
          <a:lstStyle/>
          <a:p>
            <a:pPr indent="0" marL="0">
              <a:lnSpc>
                <a:spcPct val="102000"/>
              </a:lnSpc>
              <a:buNone/>
            </a:pPr>
            <a:r>
              <a:rPr lang="en-US" sz="820" dirty="0">
                <a:solidFill>
                  <a:srgbClr val="8FB6B8"/>
                </a:solidFill>
                <a:latin typeface="Segoe UI" pitchFamily="34" charset="0"/>
                <a:ea typeface="Segoe UI" pitchFamily="34" charset="-122"/>
                <a:cs typeface="Segoe UI" pitchFamily="34" charset="-120"/>
              </a:rPr>
              <a:t>multi-facility · audit exports · SSO</a:t>
            </a:r>
            <a:endParaRPr lang="en-US" sz="820" dirty="0"/>
          </a:p>
        </p:txBody>
      </p:sp>
      <p:sp>
        <p:nvSpPr>
          <p:cNvPr id="34" name="Text 31"/>
          <p:cNvSpPr/>
          <p:nvPr/>
        </p:nvSpPr>
        <p:spPr>
          <a:xfrm>
            <a:off x="777240" y="4846320"/>
            <a:ext cx="4754880" cy="365760"/>
          </a:xfrm>
          <a:prstGeom prst="rect">
            <a:avLst/>
          </a:prstGeom>
          <a:noFill/>
          <a:ln/>
        </p:spPr>
        <p:txBody>
          <a:bodyPr wrap="square" rtlCol="0" anchor="ctr"/>
          <a:lstStyle/>
          <a:p>
            <a:pPr indent="0" marL="0">
              <a:lnSpc>
                <a:spcPct val="108000"/>
              </a:lnSpc>
              <a:buNone/>
            </a:pPr>
            <a:r>
              <a:rPr lang="en-US" sz="850" i="1" dirty="0">
                <a:solidFill>
                  <a:srgbClr val="8FB6B8"/>
                </a:solidFill>
                <a:latin typeface="Segoe UI" pitchFamily="34" charset="0"/>
                <a:ea typeface="Segoe UI" pitchFamily="34" charset="-122"/>
                <a:cs typeface="Segoe UI" pitchFamily="34" charset="-120"/>
              </a:rPr>
              <a:t>Pricing is a validation-stage hypothesis, not proven market pricing.</a:t>
            </a:r>
            <a:endParaRPr lang="en-US" sz="850" dirty="0"/>
          </a:p>
        </p:txBody>
      </p:sp>
      <p:sp>
        <p:nvSpPr>
          <p:cNvPr id="35" name="Shape 32"/>
          <p:cNvSpPr/>
          <p:nvPr/>
        </p:nvSpPr>
        <p:spPr>
          <a:xfrm>
            <a:off x="777240" y="5349240"/>
            <a:ext cx="4754880" cy="749808"/>
          </a:xfrm>
          <a:prstGeom prst="roundRect">
            <a:avLst>
              <a:gd name="adj" fmla="val 4878"/>
            </a:avLst>
          </a:prstGeom>
          <a:solidFill>
            <a:srgbClr val="0F474D"/>
          </a:solidFill>
          <a:ln w="12700">
            <a:solidFill>
              <a:srgbClr val="5FA9A0"/>
            </a:solidFill>
            <a:prstDash val="solid"/>
          </a:ln>
        </p:spPr>
      </p:sp>
      <p:sp>
        <p:nvSpPr>
          <p:cNvPr id="36" name="Text 33"/>
          <p:cNvSpPr/>
          <p:nvPr/>
        </p:nvSpPr>
        <p:spPr>
          <a:xfrm>
            <a:off x="960120" y="5477256"/>
            <a:ext cx="4389120" cy="548640"/>
          </a:xfrm>
          <a:prstGeom prst="rect">
            <a:avLst/>
          </a:prstGeom>
          <a:noFill/>
          <a:ln/>
        </p:spPr>
        <p:txBody>
          <a:bodyPr wrap="square" rtlCol="0" anchor="t"/>
          <a:lstStyle/>
          <a:p>
            <a:pPr indent="0" marL="0">
              <a:lnSpc>
                <a:spcPct val="110000"/>
              </a:lnSpc>
              <a:buNone/>
            </a:pPr>
            <a:r>
              <a:rPr lang="en-US" sz="1050" b="1" dirty="0">
                <a:solidFill>
                  <a:srgbClr val="FFFFFF"/>
                </a:solidFill>
                <a:latin typeface="Segoe UI" pitchFamily="34" charset="0"/>
                <a:ea typeface="Segoe UI" pitchFamily="34" charset="-122"/>
                <a:cs typeface="Segoe UI" pitchFamily="34" charset="-120"/>
              </a:rPr>
              <a:t>One avoided duplicate instrument ≈ a decade of subscription.</a:t>
            </a:r>
            <a:endParaRPr lang="en-US" sz="1050" dirty="0"/>
          </a:p>
        </p:txBody>
      </p:sp>
      <p:sp>
        <p:nvSpPr>
          <p:cNvPr id="37" name="Text 34"/>
          <p:cNvSpPr/>
          <p:nvPr/>
        </p:nvSpPr>
        <p:spPr>
          <a:xfrm>
            <a:off x="5852160" y="1755648"/>
            <a:ext cx="3657600" cy="237744"/>
          </a:xfrm>
          <a:prstGeom prst="rect">
            <a:avLst/>
          </a:prstGeom>
          <a:noFill/>
          <a:ln/>
        </p:spPr>
        <p:txBody>
          <a:bodyPr wrap="square" rtlCol="0" anchor="ctr"/>
          <a:lstStyle/>
          <a:p>
            <a:pPr indent="0" marL="0">
              <a:buNone/>
            </a:pPr>
            <a:r>
              <a:rPr lang="en-US" sz="850" b="1" spc="130" kern="0" dirty="0">
                <a:solidFill>
                  <a:srgbClr val="8FE0D2"/>
                </a:solidFill>
                <a:latin typeface="Segoe UI" pitchFamily="34" charset="0"/>
                <a:ea typeface="Segoe UI" pitchFamily="34" charset="-122"/>
                <a:cs typeface="Segoe UI" pitchFamily="34" charset="-120"/>
              </a:rPr>
              <a:t>UNIT ECONOMICS</a:t>
            </a:r>
            <a:endParaRPr lang="en-US" sz="850" dirty="0"/>
          </a:p>
        </p:txBody>
      </p:sp>
      <p:sp>
        <p:nvSpPr>
          <p:cNvPr id="38" name="Text 35"/>
          <p:cNvSpPr/>
          <p:nvPr/>
        </p:nvSpPr>
        <p:spPr>
          <a:xfrm>
            <a:off x="5852160" y="2048256"/>
            <a:ext cx="1737360" cy="274320"/>
          </a:xfrm>
          <a:prstGeom prst="rect">
            <a:avLst/>
          </a:prstGeom>
          <a:noFill/>
          <a:ln/>
        </p:spPr>
        <p:txBody>
          <a:bodyPr wrap="square" rtlCol="0" anchor="ctr"/>
          <a:lstStyle/>
          <a:p>
            <a:pPr indent="0" marL="0">
              <a:buNone/>
            </a:pPr>
            <a:r>
              <a:rPr lang="en-US" sz="1200" b="1" dirty="0">
                <a:solidFill>
                  <a:srgbClr val="8FE0D2"/>
                </a:solidFill>
                <a:latin typeface="Segoe UI" pitchFamily="34" charset="0"/>
                <a:ea typeface="Segoe UI" pitchFamily="34" charset="-122"/>
                <a:cs typeface="Segoe UI" pitchFamily="34" charset="-120"/>
              </a:rPr>
              <a:t>₹60,000</a:t>
            </a:r>
            <a:endParaRPr lang="en-US" sz="1200" dirty="0"/>
          </a:p>
        </p:txBody>
      </p:sp>
      <p:sp>
        <p:nvSpPr>
          <p:cNvPr id="39" name="Text 36"/>
          <p:cNvSpPr/>
          <p:nvPr/>
        </p:nvSpPr>
        <p:spPr>
          <a:xfrm>
            <a:off x="7680960" y="2084832"/>
            <a:ext cx="3703320" cy="36576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base annual contract value</a:t>
            </a:r>
            <a:endParaRPr lang="en-US" sz="900" dirty="0"/>
          </a:p>
        </p:txBody>
      </p:sp>
      <p:sp>
        <p:nvSpPr>
          <p:cNvPr id="40" name="Text 37"/>
          <p:cNvSpPr/>
          <p:nvPr/>
        </p:nvSpPr>
        <p:spPr>
          <a:xfrm>
            <a:off x="5852160" y="2596896"/>
            <a:ext cx="1737360" cy="274320"/>
          </a:xfrm>
          <a:prstGeom prst="rect">
            <a:avLst/>
          </a:prstGeom>
          <a:noFill/>
          <a:ln/>
        </p:spPr>
        <p:txBody>
          <a:bodyPr wrap="square" rtlCol="0" anchor="ctr"/>
          <a:lstStyle/>
          <a:p>
            <a:pPr indent="0" marL="0">
              <a:buNone/>
            </a:pPr>
            <a:r>
              <a:rPr lang="en-US" sz="1200" b="1" dirty="0">
                <a:solidFill>
                  <a:srgbClr val="8FE0D2"/>
                </a:solidFill>
                <a:latin typeface="Segoe UI" pitchFamily="34" charset="0"/>
                <a:ea typeface="Segoe UI" pitchFamily="34" charset="-122"/>
                <a:cs typeface="Segoe UI" pitchFamily="34" charset="-120"/>
              </a:rPr>
              <a:t>&gt;85%</a:t>
            </a:r>
            <a:endParaRPr lang="en-US" sz="1200" dirty="0"/>
          </a:p>
        </p:txBody>
      </p:sp>
      <p:sp>
        <p:nvSpPr>
          <p:cNvPr id="41" name="Text 38"/>
          <p:cNvSpPr/>
          <p:nvPr/>
        </p:nvSpPr>
        <p:spPr>
          <a:xfrm>
            <a:off x="7680960" y="2633472"/>
            <a:ext cx="3703320" cy="36576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gross margin — no per-seat cost, no inference bill</a:t>
            </a:r>
            <a:endParaRPr lang="en-US" sz="900" dirty="0"/>
          </a:p>
        </p:txBody>
      </p:sp>
      <p:sp>
        <p:nvSpPr>
          <p:cNvPr id="42" name="Text 39"/>
          <p:cNvSpPr/>
          <p:nvPr/>
        </p:nvSpPr>
        <p:spPr>
          <a:xfrm>
            <a:off x="5852160" y="3145536"/>
            <a:ext cx="1737360" cy="274320"/>
          </a:xfrm>
          <a:prstGeom prst="rect">
            <a:avLst/>
          </a:prstGeom>
          <a:noFill/>
          <a:ln/>
        </p:spPr>
        <p:txBody>
          <a:bodyPr wrap="square" rtlCol="0" anchor="ctr"/>
          <a:lstStyle/>
          <a:p>
            <a:pPr indent="0" marL="0">
              <a:buNone/>
            </a:pPr>
            <a:r>
              <a:rPr lang="en-US" sz="1200" b="1" dirty="0">
                <a:solidFill>
                  <a:srgbClr val="8FE0D2"/>
                </a:solidFill>
                <a:latin typeface="Segoe UI" pitchFamily="34" charset="0"/>
                <a:ea typeface="Segoe UI" pitchFamily="34" charset="-122"/>
                <a:cs typeface="Segoe UI" pitchFamily="34" charset="-120"/>
              </a:rPr>
              <a:t>Month 18–24</a:t>
            </a:r>
            <a:endParaRPr lang="en-US" sz="1200" dirty="0"/>
          </a:p>
        </p:txBody>
      </p:sp>
      <p:sp>
        <p:nvSpPr>
          <p:cNvPr id="43" name="Text 40"/>
          <p:cNvSpPr/>
          <p:nvPr/>
        </p:nvSpPr>
        <p:spPr>
          <a:xfrm>
            <a:off x="7680960" y="3182112"/>
            <a:ext cx="3703320" cy="36576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break-even in the base case</a:t>
            </a:r>
            <a:endParaRPr lang="en-US" sz="900" dirty="0"/>
          </a:p>
        </p:txBody>
      </p:sp>
      <p:sp>
        <p:nvSpPr>
          <p:cNvPr id="44" name="Text 41"/>
          <p:cNvSpPr/>
          <p:nvPr/>
        </p:nvSpPr>
        <p:spPr>
          <a:xfrm>
            <a:off x="5852160" y="3694176"/>
            <a:ext cx="1737360" cy="274320"/>
          </a:xfrm>
          <a:prstGeom prst="rect">
            <a:avLst/>
          </a:prstGeom>
          <a:noFill/>
          <a:ln/>
        </p:spPr>
        <p:txBody>
          <a:bodyPr wrap="square" rtlCol="0" anchor="ctr"/>
          <a:lstStyle/>
          <a:p>
            <a:pPr indent="0" marL="0">
              <a:buNone/>
            </a:pPr>
            <a:r>
              <a:rPr lang="en-US" sz="1200" b="1" dirty="0">
                <a:solidFill>
                  <a:srgbClr val="8FE0D2"/>
                </a:solidFill>
                <a:latin typeface="Segoe UI" pitchFamily="34" charset="0"/>
                <a:ea typeface="Segoe UI" pitchFamily="34" charset="-122"/>
                <a:cs typeface="Segoe UI" pitchFamily="34" charset="-120"/>
              </a:rPr>
              <a:t>₹0</a:t>
            </a:r>
            <a:endParaRPr lang="en-US" sz="1200" dirty="0"/>
          </a:p>
        </p:txBody>
      </p:sp>
      <p:sp>
        <p:nvSpPr>
          <p:cNvPr id="45" name="Text 42"/>
          <p:cNvSpPr/>
          <p:nvPr/>
        </p:nvSpPr>
        <p:spPr>
          <a:xfrm>
            <a:off x="7680960" y="3730752"/>
            <a:ext cx="3703320" cy="36576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counted for avoided capex; only cash is revenue</a:t>
            </a:r>
            <a:endParaRPr lang="en-US" sz="900" dirty="0"/>
          </a:p>
        </p:txBody>
      </p:sp>
      <p:sp>
        <p:nvSpPr>
          <p:cNvPr id="46" name="Text 43"/>
          <p:cNvSpPr/>
          <p:nvPr/>
        </p:nvSpPr>
        <p:spPr>
          <a:xfrm>
            <a:off x="5852160" y="4343400"/>
            <a:ext cx="4114800" cy="237744"/>
          </a:xfrm>
          <a:prstGeom prst="rect">
            <a:avLst/>
          </a:prstGeom>
          <a:noFill/>
          <a:ln/>
        </p:spPr>
        <p:txBody>
          <a:bodyPr wrap="square" rtlCol="0" anchor="ctr"/>
          <a:lstStyle/>
          <a:p>
            <a:pPr indent="0" marL="0">
              <a:buNone/>
            </a:pPr>
            <a:r>
              <a:rPr lang="en-US" sz="850" b="1" spc="130" kern="0" dirty="0">
                <a:solidFill>
                  <a:srgbClr val="8FE0D2"/>
                </a:solidFill>
                <a:latin typeface="Segoe UI" pitchFamily="34" charset="0"/>
                <a:ea typeface="Segoe UI" pitchFamily="34" charset="-122"/>
                <a:cs typeface="Segoe UI" pitchFamily="34" charset="-120"/>
              </a:rPr>
              <a:t>REVENUE, CASH ONLY (₹ Lakh)</a:t>
            </a:r>
            <a:endParaRPr lang="en-US" sz="850" dirty="0"/>
          </a:p>
        </p:txBody>
      </p:sp>
      <p:sp>
        <p:nvSpPr>
          <p:cNvPr id="47" name="Text 44"/>
          <p:cNvSpPr/>
          <p:nvPr/>
        </p:nvSpPr>
        <p:spPr>
          <a:xfrm>
            <a:off x="5852160" y="4626864"/>
            <a:ext cx="1417320" cy="256032"/>
          </a:xfrm>
          <a:prstGeom prst="rect">
            <a:avLst/>
          </a:prstGeom>
          <a:noFill/>
          <a:ln/>
        </p:spPr>
        <p:txBody>
          <a:bodyPr wrap="square" rtlCol="0" anchor="ctr"/>
          <a:lstStyle/>
          <a:p>
            <a:pPr algn="l" indent="0" marL="0">
              <a:buNone/>
            </a:pPr>
            <a:endParaRPr lang="en-US" sz="800" dirty="0"/>
          </a:p>
        </p:txBody>
      </p:sp>
      <p:sp>
        <p:nvSpPr>
          <p:cNvPr id="48" name="Text 45"/>
          <p:cNvSpPr/>
          <p:nvPr/>
        </p:nvSpPr>
        <p:spPr>
          <a:xfrm>
            <a:off x="7315200" y="4626864"/>
            <a:ext cx="1417320" cy="256032"/>
          </a:xfrm>
          <a:prstGeom prst="rect">
            <a:avLst/>
          </a:prstGeom>
          <a:noFill/>
          <a:ln/>
        </p:spPr>
        <p:txBody>
          <a:bodyPr wrap="square" rtlCol="0" anchor="ctr"/>
          <a:lstStyle/>
          <a:p>
            <a:pPr algn="r" indent="0" marL="0">
              <a:buNone/>
            </a:pPr>
            <a:r>
              <a:rPr lang="en-US" sz="800" b="1" dirty="0">
                <a:solidFill>
                  <a:srgbClr val="5FA9A0"/>
                </a:solidFill>
                <a:latin typeface="Segoe UI" pitchFamily="34" charset="0"/>
                <a:ea typeface="Segoe UI" pitchFamily="34" charset="-122"/>
                <a:cs typeface="Segoe UI" pitchFamily="34" charset="-120"/>
              </a:rPr>
              <a:t>Conservative</a:t>
            </a:r>
            <a:endParaRPr lang="en-US" sz="800" dirty="0"/>
          </a:p>
        </p:txBody>
      </p:sp>
      <p:sp>
        <p:nvSpPr>
          <p:cNvPr id="49" name="Text 46"/>
          <p:cNvSpPr/>
          <p:nvPr/>
        </p:nvSpPr>
        <p:spPr>
          <a:xfrm>
            <a:off x="8778240" y="4626864"/>
            <a:ext cx="1417320" cy="256032"/>
          </a:xfrm>
          <a:prstGeom prst="rect">
            <a:avLst/>
          </a:prstGeom>
          <a:noFill/>
          <a:ln/>
        </p:spPr>
        <p:txBody>
          <a:bodyPr wrap="square" rtlCol="0" anchor="ctr"/>
          <a:lstStyle/>
          <a:p>
            <a:pPr algn="r" indent="0" marL="0">
              <a:buNone/>
            </a:pPr>
            <a:r>
              <a:rPr lang="en-US" sz="800" b="1" dirty="0">
                <a:solidFill>
                  <a:srgbClr val="5FA9A0"/>
                </a:solidFill>
                <a:latin typeface="Segoe UI" pitchFamily="34" charset="0"/>
                <a:ea typeface="Segoe UI" pitchFamily="34" charset="-122"/>
                <a:cs typeface="Segoe UI" pitchFamily="34" charset="-120"/>
              </a:rPr>
              <a:t>Base</a:t>
            </a:r>
            <a:endParaRPr lang="en-US" sz="800" dirty="0"/>
          </a:p>
        </p:txBody>
      </p:sp>
      <p:sp>
        <p:nvSpPr>
          <p:cNvPr id="50" name="Text 47"/>
          <p:cNvSpPr/>
          <p:nvPr/>
        </p:nvSpPr>
        <p:spPr>
          <a:xfrm>
            <a:off x="10241280" y="4626864"/>
            <a:ext cx="1417320" cy="256032"/>
          </a:xfrm>
          <a:prstGeom prst="rect">
            <a:avLst/>
          </a:prstGeom>
          <a:noFill/>
          <a:ln/>
        </p:spPr>
        <p:txBody>
          <a:bodyPr wrap="square" rtlCol="0" anchor="ctr"/>
          <a:lstStyle/>
          <a:p>
            <a:pPr algn="r" indent="0" marL="0">
              <a:buNone/>
            </a:pPr>
            <a:r>
              <a:rPr lang="en-US" sz="800" b="1" dirty="0">
                <a:solidFill>
                  <a:srgbClr val="5FA9A0"/>
                </a:solidFill>
                <a:latin typeface="Segoe UI" pitchFamily="34" charset="0"/>
                <a:ea typeface="Segoe UI" pitchFamily="34" charset="-122"/>
                <a:cs typeface="Segoe UI" pitchFamily="34" charset="-120"/>
              </a:rPr>
              <a:t>Optimistic</a:t>
            </a:r>
            <a:endParaRPr lang="en-US" sz="800" dirty="0"/>
          </a:p>
        </p:txBody>
      </p:sp>
      <p:sp>
        <p:nvSpPr>
          <p:cNvPr id="51" name="Shape 48"/>
          <p:cNvSpPr/>
          <p:nvPr/>
        </p:nvSpPr>
        <p:spPr>
          <a:xfrm>
            <a:off x="5852160" y="4919472"/>
            <a:ext cx="5669280" cy="0"/>
          </a:xfrm>
          <a:prstGeom prst="line">
            <a:avLst/>
          </a:prstGeom>
          <a:noFill/>
          <a:ln w="9525">
            <a:solidFill>
              <a:srgbClr val="1C5A5F"/>
            </a:solidFill>
            <a:prstDash val="solid"/>
          </a:ln>
        </p:spPr>
      </p:sp>
      <p:sp>
        <p:nvSpPr>
          <p:cNvPr id="52" name="Text 49"/>
          <p:cNvSpPr/>
          <p:nvPr/>
        </p:nvSpPr>
        <p:spPr>
          <a:xfrm>
            <a:off x="5852160" y="4992624"/>
            <a:ext cx="1417320" cy="256032"/>
          </a:xfrm>
          <a:prstGeom prst="rect">
            <a:avLst/>
          </a:prstGeom>
          <a:noFill/>
          <a:ln/>
        </p:spPr>
        <p:txBody>
          <a:bodyPr wrap="square"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Year 1</a:t>
            </a:r>
            <a:endParaRPr lang="en-US" sz="950" dirty="0"/>
          </a:p>
        </p:txBody>
      </p:sp>
      <p:sp>
        <p:nvSpPr>
          <p:cNvPr id="53" name="Text 50"/>
          <p:cNvSpPr/>
          <p:nvPr/>
        </p:nvSpPr>
        <p:spPr>
          <a:xfrm>
            <a:off x="7315200" y="499262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1.0–1.5</a:t>
            </a:r>
            <a:endParaRPr lang="en-US" sz="950" dirty="0"/>
          </a:p>
        </p:txBody>
      </p:sp>
      <p:sp>
        <p:nvSpPr>
          <p:cNvPr id="54" name="Text 51"/>
          <p:cNvSpPr/>
          <p:nvPr/>
        </p:nvSpPr>
        <p:spPr>
          <a:xfrm>
            <a:off x="8778240" y="499262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3–4</a:t>
            </a:r>
            <a:endParaRPr lang="en-US" sz="950" dirty="0"/>
          </a:p>
        </p:txBody>
      </p:sp>
      <p:sp>
        <p:nvSpPr>
          <p:cNvPr id="55" name="Text 52"/>
          <p:cNvSpPr/>
          <p:nvPr/>
        </p:nvSpPr>
        <p:spPr>
          <a:xfrm>
            <a:off x="10241280" y="499262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8–12</a:t>
            </a:r>
            <a:endParaRPr lang="en-US" sz="950" dirty="0"/>
          </a:p>
        </p:txBody>
      </p:sp>
      <p:sp>
        <p:nvSpPr>
          <p:cNvPr id="56" name="Shape 53"/>
          <p:cNvSpPr/>
          <p:nvPr/>
        </p:nvSpPr>
        <p:spPr>
          <a:xfrm>
            <a:off x="5852160" y="5285232"/>
            <a:ext cx="5669280" cy="0"/>
          </a:xfrm>
          <a:prstGeom prst="line">
            <a:avLst/>
          </a:prstGeom>
          <a:noFill/>
          <a:ln w="9525">
            <a:solidFill>
              <a:srgbClr val="1C5A5F"/>
            </a:solidFill>
            <a:prstDash val="solid"/>
          </a:ln>
        </p:spPr>
      </p:sp>
      <p:sp>
        <p:nvSpPr>
          <p:cNvPr id="57" name="Text 54"/>
          <p:cNvSpPr/>
          <p:nvPr/>
        </p:nvSpPr>
        <p:spPr>
          <a:xfrm>
            <a:off x="5852160" y="5358384"/>
            <a:ext cx="1417320" cy="256032"/>
          </a:xfrm>
          <a:prstGeom prst="rect">
            <a:avLst/>
          </a:prstGeom>
          <a:noFill/>
          <a:ln/>
        </p:spPr>
        <p:txBody>
          <a:bodyPr wrap="square"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Year 2</a:t>
            </a:r>
            <a:endParaRPr lang="en-US" sz="950" dirty="0"/>
          </a:p>
        </p:txBody>
      </p:sp>
      <p:sp>
        <p:nvSpPr>
          <p:cNvPr id="58" name="Text 55"/>
          <p:cNvSpPr/>
          <p:nvPr/>
        </p:nvSpPr>
        <p:spPr>
          <a:xfrm>
            <a:off x="7315200" y="535838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6–9</a:t>
            </a:r>
            <a:endParaRPr lang="en-US" sz="950" dirty="0"/>
          </a:p>
        </p:txBody>
      </p:sp>
      <p:sp>
        <p:nvSpPr>
          <p:cNvPr id="59" name="Text 56"/>
          <p:cNvSpPr/>
          <p:nvPr/>
        </p:nvSpPr>
        <p:spPr>
          <a:xfrm>
            <a:off x="8778240" y="535838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18–25</a:t>
            </a:r>
            <a:endParaRPr lang="en-US" sz="950" dirty="0"/>
          </a:p>
        </p:txBody>
      </p:sp>
      <p:sp>
        <p:nvSpPr>
          <p:cNvPr id="60" name="Text 57"/>
          <p:cNvSpPr/>
          <p:nvPr/>
        </p:nvSpPr>
        <p:spPr>
          <a:xfrm>
            <a:off x="10241280" y="535838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45–70</a:t>
            </a:r>
            <a:endParaRPr lang="en-US" sz="950" dirty="0"/>
          </a:p>
        </p:txBody>
      </p:sp>
      <p:sp>
        <p:nvSpPr>
          <p:cNvPr id="61" name="Shape 58"/>
          <p:cNvSpPr/>
          <p:nvPr/>
        </p:nvSpPr>
        <p:spPr>
          <a:xfrm>
            <a:off x="5852160" y="5650992"/>
            <a:ext cx="5669280" cy="0"/>
          </a:xfrm>
          <a:prstGeom prst="line">
            <a:avLst/>
          </a:prstGeom>
          <a:noFill/>
          <a:ln w="9525">
            <a:solidFill>
              <a:srgbClr val="1C5A5F"/>
            </a:solidFill>
            <a:prstDash val="solid"/>
          </a:ln>
        </p:spPr>
      </p:sp>
      <p:sp>
        <p:nvSpPr>
          <p:cNvPr id="62" name="Text 59"/>
          <p:cNvSpPr/>
          <p:nvPr/>
        </p:nvSpPr>
        <p:spPr>
          <a:xfrm>
            <a:off x="5852160" y="5724144"/>
            <a:ext cx="1417320" cy="256032"/>
          </a:xfrm>
          <a:prstGeom prst="rect">
            <a:avLst/>
          </a:prstGeom>
          <a:noFill/>
          <a:ln/>
        </p:spPr>
        <p:txBody>
          <a:bodyPr wrap="square" rtlCol="0" anchor="ctr"/>
          <a:lstStyle/>
          <a:p>
            <a:pPr algn="l" indent="0" marL="0">
              <a:buNone/>
            </a:pPr>
            <a:r>
              <a:rPr lang="en-US" sz="950" b="1" dirty="0">
                <a:solidFill>
                  <a:srgbClr val="FFFFFF"/>
                </a:solidFill>
                <a:latin typeface="Segoe UI" pitchFamily="34" charset="0"/>
                <a:ea typeface="Segoe UI" pitchFamily="34" charset="-122"/>
                <a:cs typeface="Segoe UI" pitchFamily="34" charset="-120"/>
              </a:rPr>
              <a:t>Year 3</a:t>
            </a:r>
            <a:endParaRPr lang="en-US" sz="950" dirty="0"/>
          </a:p>
        </p:txBody>
      </p:sp>
      <p:sp>
        <p:nvSpPr>
          <p:cNvPr id="63" name="Text 60"/>
          <p:cNvSpPr/>
          <p:nvPr/>
        </p:nvSpPr>
        <p:spPr>
          <a:xfrm>
            <a:off x="7315200" y="572414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18–25</a:t>
            </a:r>
            <a:endParaRPr lang="en-US" sz="950" dirty="0"/>
          </a:p>
        </p:txBody>
      </p:sp>
      <p:sp>
        <p:nvSpPr>
          <p:cNvPr id="64" name="Text 61"/>
          <p:cNvSpPr/>
          <p:nvPr/>
        </p:nvSpPr>
        <p:spPr>
          <a:xfrm>
            <a:off x="8778240" y="572414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55–80</a:t>
            </a:r>
            <a:endParaRPr lang="en-US" sz="950" dirty="0"/>
          </a:p>
        </p:txBody>
      </p:sp>
      <p:sp>
        <p:nvSpPr>
          <p:cNvPr id="65" name="Text 62"/>
          <p:cNvSpPr/>
          <p:nvPr/>
        </p:nvSpPr>
        <p:spPr>
          <a:xfrm>
            <a:off x="10241280" y="5724144"/>
            <a:ext cx="1417320" cy="256032"/>
          </a:xfrm>
          <a:prstGeom prst="rect">
            <a:avLst/>
          </a:prstGeom>
          <a:noFill/>
          <a:ln/>
        </p:spPr>
        <p:txBody>
          <a:bodyPr wrap="square" rtlCol="0" anchor="ctr"/>
          <a:lstStyle/>
          <a:p>
            <a:pPr algn="r" indent="0" marL="0">
              <a:buNone/>
            </a:pPr>
            <a:r>
              <a:rPr lang="en-US" sz="950" dirty="0">
                <a:solidFill>
                  <a:srgbClr val="CFE2E1"/>
                </a:solidFill>
                <a:latin typeface="Segoe UI" pitchFamily="34" charset="0"/>
                <a:ea typeface="Segoe UI" pitchFamily="34" charset="-122"/>
                <a:cs typeface="Segoe UI" pitchFamily="34" charset="-120"/>
              </a:rPr>
              <a:t>130–200</a:t>
            </a:r>
            <a:endParaRPr lang="en-US" sz="950" dirty="0"/>
          </a:p>
        </p:txBody>
      </p:sp>
      <p:sp>
        <p:nvSpPr>
          <p:cNvPr id="66" name="Shape 63"/>
          <p:cNvSpPr/>
          <p:nvPr/>
        </p:nvSpPr>
        <p:spPr>
          <a:xfrm>
            <a:off x="5852160" y="6016752"/>
            <a:ext cx="5669280" cy="0"/>
          </a:xfrm>
          <a:prstGeom prst="line">
            <a:avLst/>
          </a:prstGeom>
          <a:noFill/>
          <a:ln w="9525">
            <a:solidFill>
              <a:srgbClr val="1C5A5F"/>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13</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POSITION</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Where we sit among the tools a Dean will name</a:t>
            </a:r>
            <a:endParaRPr lang="en-US" sz="2800" dirty="0"/>
          </a:p>
        </p:txBody>
      </p:sp>
      <p:sp>
        <p:nvSpPr>
          <p:cNvPr id="18" name="Shape 15"/>
          <p:cNvSpPr/>
          <p:nvPr/>
        </p:nvSpPr>
        <p:spPr>
          <a:xfrm>
            <a:off x="777240" y="1755648"/>
            <a:ext cx="10637215" cy="676656"/>
          </a:xfrm>
          <a:prstGeom prst="roundRect">
            <a:avLst>
              <a:gd name="adj" fmla="val 5405"/>
            </a:avLst>
          </a:prstGeom>
          <a:solidFill>
            <a:srgbClr val="0A3135"/>
          </a:solidFill>
          <a:ln w="12700">
            <a:solidFill>
              <a:srgbClr val="1C5A5F"/>
            </a:solidFill>
            <a:prstDash val="solid"/>
          </a:ln>
        </p:spPr>
      </p:sp>
      <p:sp>
        <p:nvSpPr>
          <p:cNvPr id="19" name="Text 16"/>
          <p:cNvSpPr/>
          <p:nvPr/>
        </p:nvSpPr>
        <p:spPr>
          <a:xfrm>
            <a:off x="996696" y="1865376"/>
            <a:ext cx="3200400" cy="27432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I-STEM</a:t>
            </a:r>
            <a:endParaRPr lang="en-US" sz="950" dirty="0"/>
          </a:p>
        </p:txBody>
      </p:sp>
      <p:sp>
        <p:nvSpPr>
          <p:cNvPr id="20" name="Text 17"/>
          <p:cNvSpPr/>
          <p:nvPr/>
        </p:nvSpPr>
        <p:spPr>
          <a:xfrm>
            <a:off x="4297680" y="1847088"/>
            <a:ext cx="4480560" cy="54864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National discovery and booking of publicly funded research facilities.</a:t>
            </a:r>
            <a:endParaRPr lang="en-US" sz="900" dirty="0"/>
          </a:p>
        </p:txBody>
      </p:sp>
      <p:sp>
        <p:nvSpPr>
          <p:cNvPr id="21" name="Text 18"/>
          <p:cNvSpPr/>
          <p:nvPr/>
        </p:nvSpPr>
        <p:spPr>
          <a:xfrm>
            <a:off x="8915400" y="1865376"/>
            <a:ext cx="2286000" cy="502920"/>
          </a:xfrm>
          <a:prstGeom prst="rect">
            <a:avLst/>
          </a:prstGeom>
          <a:noFill/>
          <a:ln/>
        </p:spPr>
        <p:txBody>
          <a:bodyPr wrap="square" rtlCol="0" anchor="t"/>
          <a:lstStyle/>
          <a:p>
            <a:pPr algn="r" indent="0" marL="0">
              <a:lnSpc>
                <a:spcPct val="105000"/>
              </a:lnSpc>
              <a:buNone/>
            </a:pPr>
            <a:r>
              <a:rPr lang="en-US" sz="900" i="1" dirty="0">
                <a:solidFill>
                  <a:srgbClr val="5FA9A0"/>
                </a:solidFill>
                <a:latin typeface="Segoe UI" pitchFamily="34" charset="0"/>
                <a:ea typeface="Segoe UI" pitchFamily="34" charset="-122"/>
                <a:cs typeface="Segoe UI" pitchFamily="34" charset="-120"/>
              </a:rPr>
              <a:t>Public discovery, not internal operations</a:t>
            </a:r>
            <a:endParaRPr lang="en-US" sz="900" dirty="0"/>
          </a:p>
        </p:txBody>
      </p:sp>
      <p:sp>
        <p:nvSpPr>
          <p:cNvPr id="22" name="Shape 19"/>
          <p:cNvSpPr/>
          <p:nvPr/>
        </p:nvSpPr>
        <p:spPr>
          <a:xfrm>
            <a:off x="777240" y="2542032"/>
            <a:ext cx="10637215" cy="676656"/>
          </a:xfrm>
          <a:prstGeom prst="roundRect">
            <a:avLst>
              <a:gd name="adj" fmla="val 5405"/>
            </a:avLst>
          </a:prstGeom>
          <a:solidFill>
            <a:srgbClr val="0A3135"/>
          </a:solidFill>
          <a:ln w="12700">
            <a:solidFill>
              <a:srgbClr val="1C5A5F"/>
            </a:solidFill>
            <a:prstDash val="solid"/>
          </a:ln>
        </p:spPr>
      </p:sp>
      <p:sp>
        <p:nvSpPr>
          <p:cNvPr id="23" name="Text 20"/>
          <p:cNvSpPr/>
          <p:nvPr/>
        </p:nvSpPr>
        <p:spPr>
          <a:xfrm>
            <a:off x="996696" y="2651760"/>
            <a:ext cx="3200400" cy="27432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BookitLab · Stratocore · Clustermarket</a:t>
            </a:r>
            <a:endParaRPr lang="en-US" sz="950" dirty="0"/>
          </a:p>
        </p:txBody>
      </p:sp>
      <p:sp>
        <p:nvSpPr>
          <p:cNvPr id="24" name="Text 21"/>
          <p:cNvSpPr/>
          <p:nvPr/>
        </p:nvSpPr>
        <p:spPr>
          <a:xfrm>
            <a:off x="4297680" y="2633472"/>
            <a:ext cx="4480560" cy="54864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Scheduling, billing, training, access control for funded core facilities.</a:t>
            </a:r>
            <a:endParaRPr lang="en-US" sz="900" dirty="0"/>
          </a:p>
        </p:txBody>
      </p:sp>
      <p:sp>
        <p:nvSpPr>
          <p:cNvPr id="25" name="Text 22"/>
          <p:cNvSpPr/>
          <p:nvPr/>
        </p:nvSpPr>
        <p:spPr>
          <a:xfrm>
            <a:off x="8915400" y="2651760"/>
            <a:ext cx="2286000" cy="502920"/>
          </a:xfrm>
          <a:prstGeom prst="rect">
            <a:avLst/>
          </a:prstGeom>
          <a:noFill/>
          <a:ln/>
        </p:spPr>
        <p:txBody>
          <a:bodyPr wrap="square" rtlCol="0" anchor="t"/>
          <a:lstStyle/>
          <a:p>
            <a:pPr algn="r" indent="0" marL="0">
              <a:lnSpc>
                <a:spcPct val="105000"/>
              </a:lnSpc>
              <a:buNone/>
            </a:pPr>
            <a:r>
              <a:rPr lang="en-US" sz="900" i="1" dirty="0">
                <a:solidFill>
                  <a:srgbClr val="5FA9A0"/>
                </a:solidFill>
                <a:latin typeface="Segoe UI" pitchFamily="34" charset="0"/>
                <a:ea typeface="Segoe UI" pitchFamily="34" charset="-122"/>
                <a:cs typeface="Segoe UI" pitchFamily="34" charset="-120"/>
              </a:rPr>
              <a:t>Enterprise price and scope</a:t>
            </a:r>
            <a:endParaRPr lang="en-US" sz="900" dirty="0"/>
          </a:p>
        </p:txBody>
      </p:sp>
      <p:sp>
        <p:nvSpPr>
          <p:cNvPr id="26" name="Shape 23"/>
          <p:cNvSpPr/>
          <p:nvPr/>
        </p:nvSpPr>
        <p:spPr>
          <a:xfrm>
            <a:off x="777240" y="3328416"/>
            <a:ext cx="10637215" cy="676656"/>
          </a:xfrm>
          <a:prstGeom prst="roundRect">
            <a:avLst>
              <a:gd name="adj" fmla="val 5405"/>
            </a:avLst>
          </a:prstGeom>
          <a:solidFill>
            <a:srgbClr val="0A3135"/>
          </a:solidFill>
          <a:ln w="12700">
            <a:solidFill>
              <a:srgbClr val="1C5A5F"/>
            </a:solidFill>
            <a:prstDash val="solid"/>
          </a:ln>
        </p:spPr>
      </p:sp>
      <p:sp>
        <p:nvSpPr>
          <p:cNvPr id="27" name="Text 24"/>
          <p:cNvSpPr/>
          <p:nvPr/>
        </p:nvSpPr>
        <p:spPr>
          <a:xfrm>
            <a:off x="996696" y="3438144"/>
            <a:ext cx="3200400" cy="27432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Skedda</a:t>
            </a:r>
            <a:endParaRPr lang="en-US" sz="950" dirty="0"/>
          </a:p>
        </p:txBody>
      </p:sp>
      <p:sp>
        <p:nvSpPr>
          <p:cNvPr id="28" name="Text 25"/>
          <p:cNvSpPr/>
          <p:nvPr/>
        </p:nvSpPr>
        <p:spPr>
          <a:xfrm>
            <a:off x="4297680" y="3419856"/>
            <a:ext cx="4480560" cy="54864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Generic space booking at $99–349 per space per month.</a:t>
            </a:r>
            <a:endParaRPr lang="en-US" sz="900" dirty="0"/>
          </a:p>
        </p:txBody>
      </p:sp>
      <p:sp>
        <p:nvSpPr>
          <p:cNvPr id="29" name="Text 26"/>
          <p:cNvSpPr/>
          <p:nvPr/>
        </p:nvSpPr>
        <p:spPr>
          <a:xfrm>
            <a:off x="8915400" y="3438144"/>
            <a:ext cx="2286000" cy="502920"/>
          </a:xfrm>
          <a:prstGeom prst="rect">
            <a:avLst/>
          </a:prstGeom>
          <a:noFill/>
          <a:ln/>
        </p:spPr>
        <p:txBody>
          <a:bodyPr wrap="square" rtlCol="0" anchor="t"/>
          <a:lstStyle/>
          <a:p>
            <a:pPr algn="r" indent="0" marL="0">
              <a:lnSpc>
                <a:spcPct val="105000"/>
              </a:lnSpc>
              <a:buNone/>
            </a:pPr>
            <a:r>
              <a:rPr lang="en-US" sz="900" i="1" dirty="0">
                <a:solidFill>
                  <a:srgbClr val="5FA9A0"/>
                </a:solidFill>
                <a:latin typeface="Segoe UI" pitchFamily="34" charset="0"/>
                <a:ea typeface="Segoe UI" pitchFamily="34" charset="-122"/>
                <a:cs typeface="Segoe UI" pitchFamily="34" charset="-120"/>
              </a:rPr>
              <a:t>No lab entities, no capex evidence</a:t>
            </a:r>
            <a:endParaRPr lang="en-US" sz="900" dirty="0"/>
          </a:p>
        </p:txBody>
      </p:sp>
      <p:sp>
        <p:nvSpPr>
          <p:cNvPr id="30" name="Shape 27"/>
          <p:cNvSpPr/>
          <p:nvPr/>
        </p:nvSpPr>
        <p:spPr>
          <a:xfrm>
            <a:off x="777240" y="4114800"/>
            <a:ext cx="10637215" cy="676656"/>
          </a:xfrm>
          <a:prstGeom prst="roundRect">
            <a:avLst>
              <a:gd name="adj" fmla="val 5405"/>
            </a:avLst>
          </a:prstGeom>
          <a:solidFill>
            <a:srgbClr val="0A3135"/>
          </a:solidFill>
          <a:ln w="12700">
            <a:solidFill>
              <a:srgbClr val="1C5A5F"/>
            </a:solidFill>
            <a:prstDash val="solid"/>
          </a:ln>
        </p:spPr>
      </p:sp>
      <p:sp>
        <p:nvSpPr>
          <p:cNvPr id="31" name="Text 28"/>
          <p:cNvSpPr/>
          <p:nvPr/>
        </p:nvSpPr>
        <p:spPr>
          <a:xfrm>
            <a:off x="996696" y="4224528"/>
            <a:ext cx="3200400" cy="27432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Spreadsheet + WhatsApp</a:t>
            </a:r>
            <a:endParaRPr lang="en-US" sz="950" dirty="0"/>
          </a:p>
        </p:txBody>
      </p:sp>
      <p:sp>
        <p:nvSpPr>
          <p:cNvPr id="32" name="Text 29"/>
          <p:cNvSpPr/>
          <p:nvPr/>
        </p:nvSpPr>
        <p:spPr>
          <a:xfrm>
            <a:off x="4297680" y="4206240"/>
            <a:ext cx="4480560" cy="54864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Free, familiar, zero training.</a:t>
            </a:r>
            <a:endParaRPr lang="en-US" sz="900" dirty="0"/>
          </a:p>
        </p:txBody>
      </p:sp>
      <p:sp>
        <p:nvSpPr>
          <p:cNvPr id="33" name="Text 30"/>
          <p:cNvSpPr/>
          <p:nvPr/>
        </p:nvSpPr>
        <p:spPr>
          <a:xfrm>
            <a:off x="8915400" y="4224528"/>
            <a:ext cx="2286000" cy="502920"/>
          </a:xfrm>
          <a:prstGeom prst="rect">
            <a:avLst/>
          </a:prstGeom>
          <a:noFill/>
          <a:ln/>
        </p:spPr>
        <p:txBody>
          <a:bodyPr wrap="square" rtlCol="0" anchor="t"/>
          <a:lstStyle/>
          <a:p>
            <a:pPr algn="r" indent="0" marL="0">
              <a:lnSpc>
                <a:spcPct val="105000"/>
              </a:lnSpc>
              <a:buNone/>
            </a:pPr>
            <a:r>
              <a:rPr lang="en-US" sz="900" i="1" dirty="0">
                <a:solidFill>
                  <a:srgbClr val="5FA9A0"/>
                </a:solidFill>
                <a:latin typeface="Segoe UI" pitchFamily="34" charset="0"/>
                <a:ea typeface="Segoe UI" pitchFamily="34" charset="-122"/>
                <a:cs typeface="Segoe UI" pitchFamily="34" charset="-120"/>
              </a:rPr>
              <a:t>No conflict prevention, no record</a:t>
            </a:r>
            <a:endParaRPr lang="en-US" sz="900" dirty="0"/>
          </a:p>
        </p:txBody>
      </p:sp>
      <p:sp>
        <p:nvSpPr>
          <p:cNvPr id="34" name="Shape 31"/>
          <p:cNvSpPr/>
          <p:nvPr/>
        </p:nvSpPr>
        <p:spPr>
          <a:xfrm>
            <a:off x="777240" y="4901184"/>
            <a:ext cx="10637215" cy="676656"/>
          </a:xfrm>
          <a:prstGeom prst="roundRect">
            <a:avLst>
              <a:gd name="adj" fmla="val 5405"/>
            </a:avLst>
          </a:prstGeom>
          <a:solidFill>
            <a:srgbClr val="0F474D"/>
          </a:solidFill>
          <a:ln w="12700">
            <a:solidFill>
              <a:srgbClr val="5FA9A0"/>
            </a:solidFill>
            <a:prstDash val="solid"/>
          </a:ln>
        </p:spPr>
      </p:sp>
      <p:sp>
        <p:nvSpPr>
          <p:cNvPr id="35" name="Text 32"/>
          <p:cNvSpPr/>
          <p:nvPr/>
        </p:nvSpPr>
        <p:spPr>
          <a:xfrm>
            <a:off x="996696" y="5010912"/>
            <a:ext cx="3200400" cy="274320"/>
          </a:xfrm>
          <a:prstGeom prst="rect">
            <a:avLst/>
          </a:prstGeom>
          <a:noFill/>
          <a:ln/>
        </p:spPr>
        <p:txBody>
          <a:bodyPr wrap="square" rtlCol="0" anchor="t"/>
          <a:lstStyle/>
          <a:p>
            <a:pPr indent="0" marL="0">
              <a:buNone/>
            </a:pPr>
            <a:r>
              <a:rPr lang="en-US" sz="1050" b="1" dirty="0">
                <a:solidFill>
                  <a:srgbClr val="8FE0D2"/>
                </a:solidFill>
                <a:latin typeface="Segoe UI" pitchFamily="34" charset="0"/>
                <a:ea typeface="Segoe UI" pitchFamily="34" charset="-122"/>
                <a:cs typeface="Segoe UI" pitchFamily="34" charset="-120"/>
              </a:rPr>
              <a:t>ResourceOS</a:t>
            </a:r>
            <a:endParaRPr lang="en-US" sz="1050" dirty="0"/>
          </a:p>
        </p:txBody>
      </p:sp>
      <p:sp>
        <p:nvSpPr>
          <p:cNvPr id="36" name="Text 33"/>
          <p:cNvSpPr/>
          <p:nvPr/>
        </p:nvSpPr>
        <p:spPr>
          <a:xfrm>
            <a:off x="4297680" y="4992624"/>
            <a:ext cx="4480560" cy="548640"/>
          </a:xfrm>
          <a:prstGeom prst="rect">
            <a:avLst/>
          </a:prstGeom>
          <a:noFill/>
          <a:ln/>
        </p:spPr>
        <p:txBody>
          <a:bodyPr wrap="square" rtlCol="0" anchor="t"/>
          <a:lstStyle/>
          <a:p>
            <a:pPr indent="0" marL="0">
              <a:lnSpc>
                <a:spcPct val="105000"/>
              </a:lnSpc>
              <a:buNone/>
            </a:pPr>
            <a:r>
              <a:rPr lang="en-US" sz="900" dirty="0">
                <a:solidFill>
                  <a:srgbClr val="8FB6B8"/>
                </a:solidFill>
                <a:latin typeface="Segoe UI" pitchFamily="34" charset="0"/>
                <a:ea typeface="Segoe UI" pitchFamily="34" charset="-122"/>
                <a:cs typeface="Segoe UI" pitchFamily="34" charset="-120"/>
              </a:rPr>
              <a:t>Booking loop + evidence + capital decision record, self-hostable, per facility.</a:t>
            </a:r>
            <a:endParaRPr lang="en-US" sz="900" dirty="0"/>
          </a:p>
        </p:txBody>
      </p:sp>
      <p:sp>
        <p:nvSpPr>
          <p:cNvPr id="37" name="Text 34"/>
          <p:cNvSpPr/>
          <p:nvPr/>
        </p:nvSpPr>
        <p:spPr>
          <a:xfrm>
            <a:off x="8915400" y="5010912"/>
            <a:ext cx="2286000" cy="502920"/>
          </a:xfrm>
          <a:prstGeom prst="rect">
            <a:avLst/>
          </a:prstGeom>
          <a:noFill/>
          <a:ln/>
        </p:spPr>
        <p:txBody>
          <a:bodyPr wrap="square" rtlCol="0" anchor="t"/>
          <a:lstStyle/>
          <a:p>
            <a:pPr algn="r" indent="0" marL="0">
              <a:lnSpc>
                <a:spcPct val="105000"/>
              </a:lnSpc>
              <a:buNone/>
            </a:pPr>
            <a:r>
              <a:rPr lang="en-US" sz="900" b="1" dirty="0">
                <a:solidFill>
                  <a:srgbClr val="FFFFFF"/>
                </a:solidFill>
                <a:latin typeface="Segoe UI" pitchFamily="34" charset="0"/>
                <a:ea typeface="Segoe UI" pitchFamily="34" charset="-122"/>
                <a:cs typeface="Segoe UI" pitchFamily="34" charset="-120"/>
              </a:rPr>
              <a:t>₹3,500/month upward</a:t>
            </a:r>
            <a:endParaRPr lang="en-US" sz="900" dirty="0"/>
          </a:p>
        </p:txBody>
      </p:sp>
      <p:sp>
        <p:nvSpPr>
          <p:cNvPr id="38" name="Text 35"/>
          <p:cNvSpPr/>
          <p:nvPr/>
        </p:nvSpPr>
        <p:spPr>
          <a:xfrm>
            <a:off x="777240" y="5760720"/>
            <a:ext cx="10637215" cy="320040"/>
          </a:xfrm>
          <a:prstGeom prst="rect">
            <a:avLst/>
          </a:prstGeom>
          <a:noFill/>
          <a:ln/>
        </p:spPr>
        <p:txBody>
          <a:bodyPr wrap="square" rtlCol="0" anchor="ctr"/>
          <a:lstStyle/>
          <a:p>
            <a:pPr indent="0" marL="0">
              <a:buNone/>
            </a:pPr>
            <a:r>
              <a:rPr lang="en-US" sz="950" i="1" dirty="0">
                <a:solidFill>
                  <a:srgbClr val="8FB6B8"/>
                </a:solidFill>
                <a:latin typeface="Segoe UI" pitchFamily="34" charset="0"/>
                <a:ea typeface="Segoe UI" pitchFamily="34" charset="-122"/>
                <a:cs typeface="Segoe UI" pitchFamily="34" charset="-120"/>
              </a:rPr>
              <a:t>The real competitor is a WhatsApp group and a purchase file — and neither produces a record a Dean can sign.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14</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ROADMAP</a:t>
            </a:r>
            <a:endParaRPr lang="en-US" sz="950" dirty="0"/>
          </a:p>
        </p:txBody>
      </p:sp>
      <p:sp>
        <p:nvSpPr>
          <p:cNvPr id="16" name="Text 14"/>
          <p:cNvSpPr/>
          <p:nvPr/>
        </p:nvSpPr>
        <p:spPr>
          <a:xfrm>
            <a:off x="777240" y="749808"/>
            <a:ext cx="9326880" cy="960120"/>
          </a:xfrm>
          <a:prstGeom prst="rect">
            <a:avLst/>
          </a:prstGeom>
          <a:noFill/>
          <a:ln/>
        </p:spPr>
        <p:txBody>
          <a:bodyPr wrap="square" rtlCol="0" anchor="t"/>
          <a:lstStyle/>
          <a:p>
            <a:pPr indent="0" marL="0">
              <a:lnSpc>
                <a:spcPct val="95000"/>
              </a:lnSpc>
              <a:buNone/>
            </a:pPr>
            <a:r>
              <a:rPr lang="en-US" sz="2800" b="1" dirty="0">
                <a:solidFill>
                  <a:srgbClr val="FFFFFF"/>
                </a:solidFill>
                <a:latin typeface="Georgia" pitchFamily="34" charset="0"/>
                <a:ea typeface="Georgia" pitchFamily="34" charset="-122"/>
                <a:cs typeface="Georgia" pitchFamily="34" charset="-120"/>
              </a:rPr>
              <a:t>Validate in one city, then scale the evidence</a:t>
            </a:r>
            <a:endParaRPr lang="en-US" sz="2800" dirty="0"/>
          </a:p>
        </p:txBody>
      </p:sp>
      <p:sp>
        <p:nvSpPr>
          <p:cNvPr id="18" name="Shape 15"/>
          <p:cNvSpPr/>
          <p:nvPr/>
        </p:nvSpPr>
        <p:spPr>
          <a:xfrm>
            <a:off x="777240" y="1783080"/>
            <a:ext cx="2535860" cy="1874520"/>
          </a:xfrm>
          <a:prstGeom prst="roundRect">
            <a:avLst>
              <a:gd name="adj" fmla="val 1951"/>
            </a:avLst>
          </a:prstGeom>
          <a:solidFill>
            <a:srgbClr val="0A3135"/>
          </a:solidFill>
          <a:ln w="12700">
            <a:solidFill>
              <a:srgbClr val="1C5A5F"/>
            </a:solidFill>
            <a:prstDash val="solid"/>
          </a:ln>
        </p:spPr>
      </p:sp>
      <p:sp>
        <p:nvSpPr>
          <p:cNvPr id="19" name="Shape 16"/>
          <p:cNvSpPr/>
          <p:nvPr/>
        </p:nvSpPr>
        <p:spPr>
          <a:xfrm>
            <a:off x="777240" y="1783080"/>
            <a:ext cx="2535860" cy="45720"/>
          </a:xfrm>
          <a:prstGeom prst="rect">
            <a:avLst/>
          </a:prstGeom>
          <a:solidFill>
            <a:srgbClr val="8FE0D2"/>
          </a:solidFill>
          <a:ln/>
        </p:spPr>
      </p:sp>
      <p:sp>
        <p:nvSpPr>
          <p:cNvPr id="20" name="Text 17"/>
          <p:cNvSpPr/>
          <p:nvPr/>
        </p:nvSpPr>
        <p:spPr>
          <a:xfrm>
            <a:off x="978408" y="1956816"/>
            <a:ext cx="213352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01 · VALIDATE</a:t>
            </a:r>
            <a:endParaRPr lang="en-US" sz="850" dirty="0"/>
          </a:p>
        </p:txBody>
      </p:sp>
      <p:sp>
        <p:nvSpPr>
          <p:cNvPr id="21" name="Text 18"/>
          <p:cNvSpPr/>
          <p:nvPr/>
        </p:nvSpPr>
        <p:spPr>
          <a:xfrm>
            <a:off x="978408" y="2231136"/>
            <a:ext cx="2133524" cy="457200"/>
          </a:xfrm>
          <a:prstGeom prst="rect">
            <a:avLst/>
          </a:prstGeom>
          <a:noFill/>
          <a:ln/>
        </p:spPr>
        <p:txBody>
          <a:bodyPr wrap="square" rtlCol="0" anchor="t"/>
          <a:lstStyle/>
          <a:p>
            <a:pPr indent="0" marL="0">
              <a:lnSpc>
                <a:spcPct val="104000"/>
              </a:lnSpc>
              <a:buNone/>
            </a:pPr>
            <a:r>
              <a:rPr lang="en-US" sz="1150" b="1" dirty="0">
                <a:solidFill>
                  <a:srgbClr val="FFFFFF"/>
                </a:solidFill>
                <a:latin typeface="Segoe UI" pitchFamily="34" charset="0"/>
                <a:ea typeface="Segoe UI" pitchFamily="34" charset="-122"/>
                <a:cs typeface="Segoe UI" pitchFamily="34" charset="-120"/>
              </a:rPr>
              <a:t>25–30 interviews</a:t>
            </a:r>
            <a:endParaRPr lang="en-US" sz="1150" dirty="0"/>
          </a:p>
        </p:txBody>
      </p:sp>
      <p:sp>
        <p:nvSpPr>
          <p:cNvPr id="22" name="Text 19"/>
          <p:cNvSpPr/>
          <p:nvPr/>
        </p:nvSpPr>
        <p:spPr>
          <a:xfrm>
            <a:off x="978408" y="2724912"/>
            <a:ext cx="2133524" cy="1188720"/>
          </a:xfrm>
          <a:prstGeom prst="rect">
            <a:avLst/>
          </a:prstGeom>
          <a:noFill/>
          <a:ln/>
        </p:spPr>
        <p:txBody>
          <a:bodyPr wrap="square" rtlCol="0" anchor="t"/>
          <a:lstStyle/>
          <a:p>
            <a:pPr indent="0" marL="0">
              <a:lnSpc>
                <a:spcPct val="110000"/>
              </a:lnSpc>
              <a:buNone/>
            </a:pPr>
            <a:r>
              <a:rPr lang="en-US" sz="880" dirty="0">
                <a:solidFill>
                  <a:srgbClr val="8FB6B8"/>
                </a:solidFill>
                <a:latin typeface="Segoe UI" pitchFamily="34" charset="0"/>
                <a:ea typeface="Segoe UI" pitchFamily="34" charset="-122"/>
                <a:cs typeface="Segoe UI" pitchFamily="34" charset="-120"/>
              </a:rPr>
              <a:t>Facility managers, technicians, users and budget owners in one city. Baseline conflicts, admin hours, no-shows.</a:t>
            </a:r>
            <a:endParaRPr lang="en-US" sz="880" dirty="0"/>
          </a:p>
        </p:txBody>
      </p:sp>
      <p:sp>
        <p:nvSpPr>
          <p:cNvPr id="23" name="Shape 20"/>
          <p:cNvSpPr/>
          <p:nvPr/>
        </p:nvSpPr>
        <p:spPr>
          <a:xfrm>
            <a:off x="3477692" y="1783080"/>
            <a:ext cx="2535860" cy="1874520"/>
          </a:xfrm>
          <a:prstGeom prst="roundRect">
            <a:avLst>
              <a:gd name="adj" fmla="val 1951"/>
            </a:avLst>
          </a:prstGeom>
          <a:solidFill>
            <a:srgbClr val="0A3135"/>
          </a:solidFill>
          <a:ln w="12700">
            <a:solidFill>
              <a:srgbClr val="1C5A5F"/>
            </a:solidFill>
            <a:prstDash val="solid"/>
          </a:ln>
        </p:spPr>
      </p:sp>
      <p:sp>
        <p:nvSpPr>
          <p:cNvPr id="24" name="Shape 21"/>
          <p:cNvSpPr/>
          <p:nvPr/>
        </p:nvSpPr>
        <p:spPr>
          <a:xfrm>
            <a:off x="3477692" y="1783080"/>
            <a:ext cx="2535860" cy="45720"/>
          </a:xfrm>
          <a:prstGeom prst="rect">
            <a:avLst/>
          </a:prstGeom>
          <a:solidFill>
            <a:srgbClr val="5FA9A0"/>
          </a:solidFill>
          <a:ln/>
        </p:spPr>
      </p:sp>
      <p:sp>
        <p:nvSpPr>
          <p:cNvPr id="25" name="Text 22"/>
          <p:cNvSpPr/>
          <p:nvPr/>
        </p:nvSpPr>
        <p:spPr>
          <a:xfrm>
            <a:off x="3678860" y="1956816"/>
            <a:ext cx="213352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02 · PILOT</a:t>
            </a:r>
            <a:endParaRPr lang="en-US" sz="850" dirty="0"/>
          </a:p>
        </p:txBody>
      </p:sp>
      <p:sp>
        <p:nvSpPr>
          <p:cNvPr id="26" name="Text 23"/>
          <p:cNvSpPr/>
          <p:nvPr/>
        </p:nvSpPr>
        <p:spPr>
          <a:xfrm>
            <a:off x="3678860" y="2231136"/>
            <a:ext cx="2133524" cy="457200"/>
          </a:xfrm>
          <a:prstGeom prst="rect">
            <a:avLst/>
          </a:prstGeom>
          <a:noFill/>
          <a:ln/>
        </p:spPr>
        <p:txBody>
          <a:bodyPr wrap="square" rtlCol="0" anchor="t"/>
          <a:lstStyle/>
          <a:p>
            <a:pPr indent="0" marL="0">
              <a:lnSpc>
                <a:spcPct val="104000"/>
              </a:lnSpc>
              <a:buNone/>
            </a:pPr>
            <a:r>
              <a:rPr lang="en-US" sz="1150" b="1" dirty="0">
                <a:solidFill>
                  <a:srgbClr val="FFFFFF"/>
                </a:solidFill>
                <a:latin typeface="Segoe UI" pitchFamily="34" charset="0"/>
                <a:ea typeface="Segoe UI" pitchFamily="34" charset="-122"/>
                <a:cs typeface="Segoe UI" pitchFamily="34" charset="-120"/>
              </a:rPr>
              <a:t>2–3 facilities</a:t>
            </a:r>
            <a:endParaRPr lang="en-US" sz="1150" dirty="0"/>
          </a:p>
        </p:txBody>
      </p:sp>
      <p:sp>
        <p:nvSpPr>
          <p:cNvPr id="27" name="Text 24"/>
          <p:cNvSpPr/>
          <p:nvPr/>
        </p:nvSpPr>
        <p:spPr>
          <a:xfrm>
            <a:off x="3678860" y="2724912"/>
            <a:ext cx="2133524" cy="1188720"/>
          </a:xfrm>
          <a:prstGeom prst="rect">
            <a:avLst/>
          </a:prstGeom>
          <a:noFill/>
          <a:ln/>
        </p:spPr>
        <p:txBody>
          <a:bodyPr wrap="square" rtlCol="0" anchor="t"/>
          <a:lstStyle/>
          <a:p>
            <a:pPr indent="0" marL="0">
              <a:lnSpc>
                <a:spcPct val="110000"/>
              </a:lnSpc>
              <a:buNone/>
            </a:pPr>
            <a:r>
              <a:rPr lang="en-US" sz="880" dirty="0">
                <a:solidFill>
                  <a:srgbClr val="8FB6B8"/>
                </a:solidFill>
                <a:latin typeface="Segoe UI" pitchFamily="34" charset="0"/>
                <a:ea typeface="Segoe UI" pitchFamily="34" charset="-122"/>
                <a:cs typeface="Segoe UI" pitchFamily="34" charset="-120"/>
              </a:rPr>
              <a:t>One workflow mandated: every confirmed booking starts in ResourceOS. Weekly review for 90 days.</a:t>
            </a:r>
            <a:endParaRPr lang="en-US" sz="880" dirty="0"/>
          </a:p>
        </p:txBody>
      </p:sp>
      <p:sp>
        <p:nvSpPr>
          <p:cNvPr id="28" name="Shape 25"/>
          <p:cNvSpPr/>
          <p:nvPr/>
        </p:nvSpPr>
        <p:spPr>
          <a:xfrm>
            <a:off x="6178144" y="1783080"/>
            <a:ext cx="2535860" cy="1874520"/>
          </a:xfrm>
          <a:prstGeom prst="roundRect">
            <a:avLst>
              <a:gd name="adj" fmla="val 1951"/>
            </a:avLst>
          </a:prstGeom>
          <a:solidFill>
            <a:srgbClr val="0A3135"/>
          </a:solidFill>
          <a:ln w="12700">
            <a:solidFill>
              <a:srgbClr val="1C5A5F"/>
            </a:solidFill>
            <a:prstDash val="solid"/>
          </a:ln>
        </p:spPr>
      </p:sp>
      <p:sp>
        <p:nvSpPr>
          <p:cNvPr id="29" name="Shape 26"/>
          <p:cNvSpPr/>
          <p:nvPr/>
        </p:nvSpPr>
        <p:spPr>
          <a:xfrm>
            <a:off x="6178144" y="1783080"/>
            <a:ext cx="2535860" cy="45720"/>
          </a:xfrm>
          <a:prstGeom prst="rect">
            <a:avLst/>
          </a:prstGeom>
          <a:solidFill>
            <a:srgbClr val="5FA9A0"/>
          </a:solidFill>
          <a:ln/>
        </p:spPr>
      </p:sp>
      <p:sp>
        <p:nvSpPr>
          <p:cNvPr id="30" name="Text 27"/>
          <p:cNvSpPr/>
          <p:nvPr/>
        </p:nvSpPr>
        <p:spPr>
          <a:xfrm>
            <a:off x="6379312" y="1956816"/>
            <a:ext cx="213352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03 · PAID</a:t>
            </a:r>
            <a:endParaRPr lang="en-US" sz="850" dirty="0"/>
          </a:p>
        </p:txBody>
      </p:sp>
      <p:sp>
        <p:nvSpPr>
          <p:cNvPr id="31" name="Text 28"/>
          <p:cNvSpPr/>
          <p:nvPr/>
        </p:nvSpPr>
        <p:spPr>
          <a:xfrm>
            <a:off x="6379312" y="2231136"/>
            <a:ext cx="2133524" cy="457200"/>
          </a:xfrm>
          <a:prstGeom prst="rect">
            <a:avLst/>
          </a:prstGeom>
          <a:noFill/>
          <a:ln/>
        </p:spPr>
        <p:txBody>
          <a:bodyPr wrap="square" rtlCol="0" anchor="t"/>
          <a:lstStyle/>
          <a:p>
            <a:pPr indent="0" marL="0">
              <a:lnSpc>
                <a:spcPct val="104000"/>
              </a:lnSpc>
              <a:buNone/>
            </a:pPr>
            <a:r>
              <a:rPr lang="en-US" sz="1150" b="1" dirty="0">
                <a:solidFill>
                  <a:srgbClr val="FFFFFF"/>
                </a:solidFill>
                <a:latin typeface="Segoe UI" pitchFamily="34" charset="0"/>
                <a:ea typeface="Segoe UI" pitchFamily="34" charset="-122"/>
                <a:cs typeface="Segoe UI" pitchFamily="34" charset="-120"/>
              </a:rPr>
              <a:t>Convert or stop</a:t>
            </a:r>
            <a:endParaRPr lang="en-US" sz="1150" dirty="0"/>
          </a:p>
        </p:txBody>
      </p:sp>
      <p:sp>
        <p:nvSpPr>
          <p:cNvPr id="32" name="Text 29"/>
          <p:cNvSpPr/>
          <p:nvPr/>
        </p:nvSpPr>
        <p:spPr>
          <a:xfrm>
            <a:off x="6379312" y="2724912"/>
            <a:ext cx="2133524" cy="1188720"/>
          </a:xfrm>
          <a:prstGeom prst="rect">
            <a:avLst/>
          </a:prstGeom>
          <a:noFill/>
          <a:ln/>
        </p:spPr>
        <p:txBody>
          <a:bodyPr wrap="square" rtlCol="0" anchor="t"/>
          <a:lstStyle/>
          <a:p>
            <a:pPr indent="0" marL="0">
              <a:lnSpc>
                <a:spcPct val="110000"/>
              </a:lnSpc>
              <a:buNone/>
            </a:pPr>
            <a:r>
              <a:rPr lang="en-US" sz="880" dirty="0">
                <a:solidFill>
                  <a:srgbClr val="8FB6B8"/>
                </a:solidFill>
                <a:latin typeface="Segoe UI" pitchFamily="34" charset="0"/>
                <a:ea typeface="Segoe UI" pitchFamily="34" charset="-122"/>
                <a:cs typeface="Segoe UI" pitchFamily="34" charset="-120"/>
              </a:rPr>
              <a:t>Continue only if 3+ staff use it weekly, 50+ real bookings, near-zero system conflicts, a report leadership uses.</a:t>
            </a:r>
            <a:endParaRPr lang="en-US" sz="880" dirty="0"/>
          </a:p>
        </p:txBody>
      </p:sp>
      <p:sp>
        <p:nvSpPr>
          <p:cNvPr id="33" name="Shape 30"/>
          <p:cNvSpPr/>
          <p:nvPr/>
        </p:nvSpPr>
        <p:spPr>
          <a:xfrm>
            <a:off x="8878595" y="1783080"/>
            <a:ext cx="2535860" cy="1874520"/>
          </a:xfrm>
          <a:prstGeom prst="roundRect">
            <a:avLst>
              <a:gd name="adj" fmla="val 1951"/>
            </a:avLst>
          </a:prstGeom>
          <a:solidFill>
            <a:srgbClr val="0A3135"/>
          </a:solidFill>
          <a:ln w="12700">
            <a:solidFill>
              <a:srgbClr val="1C5A5F"/>
            </a:solidFill>
            <a:prstDash val="solid"/>
          </a:ln>
        </p:spPr>
      </p:sp>
      <p:sp>
        <p:nvSpPr>
          <p:cNvPr id="34" name="Shape 31"/>
          <p:cNvSpPr/>
          <p:nvPr/>
        </p:nvSpPr>
        <p:spPr>
          <a:xfrm>
            <a:off x="8878595" y="1783080"/>
            <a:ext cx="2535860" cy="45720"/>
          </a:xfrm>
          <a:prstGeom prst="rect">
            <a:avLst/>
          </a:prstGeom>
          <a:solidFill>
            <a:srgbClr val="5FA9A0"/>
          </a:solidFill>
          <a:ln/>
        </p:spPr>
      </p:sp>
      <p:sp>
        <p:nvSpPr>
          <p:cNvPr id="35" name="Text 32"/>
          <p:cNvSpPr/>
          <p:nvPr/>
        </p:nvSpPr>
        <p:spPr>
          <a:xfrm>
            <a:off x="9079763" y="1956816"/>
            <a:ext cx="2133524" cy="219456"/>
          </a:xfrm>
          <a:prstGeom prst="rect">
            <a:avLst/>
          </a:prstGeom>
          <a:noFill/>
          <a:ln/>
        </p:spPr>
        <p:txBody>
          <a:bodyPr wrap="square" rtlCol="0" anchor="ctr"/>
          <a:lstStyle/>
          <a:p>
            <a:pPr indent="0" marL="0">
              <a:buNone/>
            </a:pPr>
            <a:r>
              <a:rPr lang="en-US" sz="850" b="1" spc="120" kern="0" dirty="0">
                <a:solidFill>
                  <a:srgbClr val="8FE0D2"/>
                </a:solidFill>
                <a:latin typeface="Segoe UI" pitchFamily="34" charset="0"/>
                <a:ea typeface="Segoe UI" pitchFamily="34" charset="-122"/>
                <a:cs typeface="Segoe UI" pitchFamily="34" charset="-120"/>
              </a:rPr>
              <a:t>04 · EXPAND</a:t>
            </a:r>
            <a:endParaRPr lang="en-US" sz="850" dirty="0"/>
          </a:p>
        </p:txBody>
      </p:sp>
      <p:sp>
        <p:nvSpPr>
          <p:cNvPr id="36" name="Text 33"/>
          <p:cNvSpPr/>
          <p:nvPr/>
        </p:nvSpPr>
        <p:spPr>
          <a:xfrm>
            <a:off x="9079763" y="2231136"/>
            <a:ext cx="2133524" cy="457200"/>
          </a:xfrm>
          <a:prstGeom prst="rect">
            <a:avLst/>
          </a:prstGeom>
          <a:noFill/>
          <a:ln/>
        </p:spPr>
        <p:txBody>
          <a:bodyPr wrap="square" rtlCol="0" anchor="t"/>
          <a:lstStyle/>
          <a:p>
            <a:pPr indent="0" marL="0">
              <a:lnSpc>
                <a:spcPct val="104000"/>
              </a:lnSpc>
              <a:buNone/>
            </a:pPr>
            <a:r>
              <a:rPr lang="en-US" sz="1150" b="1" dirty="0">
                <a:solidFill>
                  <a:srgbClr val="FFFFFF"/>
                </a:solidFill>
                <a:latin typeface="Segoe UI" pitchFamily="34" charset="0"/>
                <a:ea typeface="Segoe UI" pitchFamily="34" charset="-122"/>
                <a:cs typeface="Segoe UI" pitchFamily="34" charset="-120"/>
              </a:rPr>
              <a:t>Billing, SSO, connectors</a:t>
            </a:r>
            <a:endParaRPr lang="en-US" sz="1150" dirty="0"/>
          </a:p>
        </p:txBody>
      </p:sp>
      <p:sp>
        <p:nvSpPr>
          <p:cNvPr id="37" name="Text 34"/>
          <p:cNvSpPr/>
          <p:nvPr/>
        </p:nvSpPr>
        <p:spPr>
          <a:xfrm>
            <a:off x="9079763" y="2724912"/>
            <a:ext cx="2133524" cy="1188720"/>
          </a:xfrm>
          <a:prstGeom prst="rect">
            <a:avLst/>
          </a:prstGeom>
          <a:noFill/>
          <a:ln/>
        </p:spPr>
        <p:txBody>
          <a:bodyPr wrap="square" rtlCol="0" anchor="t"/>
          <a:lstStyle/>
          <a:p>
            <a:pPr indent="0" marL="0">
              <a:lnSpc>
                <a:spcPct val="110000"/>
              </a:lnSpc>
              <a:buNone/>
            </a:pPr>
            <a:r>
              <a:rPr lang="en-US" sz="880" dirty="0">
                <a:solidFill>
                  <a:srgbClr val="8FB6B8"/>
                </a:solidFill>
                <a:latin typeface="Segoe UI" pitchFamily="34" charset="0"/>
                <a:ea typeface="Segoe UI" pitchFamily="34" charset="-122"/>
                <a:cs typeface="Segoe UI" pitchFamily="34" charset="-120"/>
              </a:rPr>
              <a:t>Subscription billing, onboarding playbook, CMMS and finance connectors against documented APIs, cost allocation.</a:t>
            </a:r>
            <a:endParaRPr lang="en-US" sz="880" dirty="0"/>
          </a:p>
        </p:txBody>
      </p:sp>
      <p:sp>
        <p:nvSpPr>
          <p:cNvPr id="38" name="Text 35"/>
          <p:cNvSpPr/>
          <p:nvPr/>
        </p:nvSpPr>
        <p:spPr>
          <a:xfrm>
            <a:off x="777240" y="3977640"/>
            <a:ext cx="3657600" cy="237744"/>
          </a:xfrm>
          <a:prstGeom prst="rect">
            <a:avLst/>
          </a:prstGeom>
          <a:noFill/>
          <a:ln/>
        </p:spPr>
        <p:txBody>
          <a:bodyPr wrap="square" rtlCol="0" anchor="ctr"/>
          <a:lstStyle/>
          <a:p>
            <a:pPr indent="0" marL="0">
              <a:buNone/>
            </a:pPr>
            <a:r>
              <a:rPr lang="en-US" sz="850" b="1" spc="130" kern="0" dirty="0">
                <a:solidFill>
                  <a:srgbClr val="F2B36B"/>
                </a:solidFill>
                <a:latin typeface="Segoe UI" pitchFamily="34" charset="0"/>
                <a:ea typeface="Segoe UI" pitchFamily="34" charset="-122"/>
                <a:cs typeface="Segoe UI" pitchFamily="34" charset="-120"/>
              </a:rPr>
              <a:t>STOP CONDITIONS</a:t>
            </a:r>
            <a:endParaRPr lang="en-US" sz="850" dirty="0"/>
          </a:p>
        </p:txBody>
      </p:sp>
      <p:sp>
        <p:nvSpPr>
          <p:cNvPr id="39" name="Text 36"/>
          <p:cNvSpPr/>
          <p:nvPr/>
        </p:nvSpPr>
        <p:spPr>
          <a:xfrm>
            <a:off x="777240" y="4279392"/>
            <a:ext cx="10637215" cy="1280160"/>
          </a:xfrm>
          <a:prstGeom prst="rect">
            <a:avLst/>
          </a:prstGeom>
          <a:noFill/>
          <a:ln/>
        </p:spPr>
        <p:txBody>
          <a:bodyPr wrap="square" rtlCol="0" anchor="t"/>
          <a:lstStyle/>
          <a:p>
            <a:pPr marL="342900" indent="-342900">
              <a:lnSpc>
                <a:spcPct val="110000"/>
              </a:lnSpc>
              <a:spcAft>
                <a:spcPts val="400"/>
              </a:spcAft>
              <a:buSzPct val="100000"/>
              <a:buChar char="•"/>
            </a:pPr>
            <a:r>
              <a:rPr lang="en-US" sz="950" dirty="0">
                <a:solidFill>
                  <a:srgbClr val="CFE2E1"/>
                </a:solidFill>
                <a:latin typeface="Segoe UI" pitchFamily="34" charset="0"/>
                <a:ea typeface="Segoe UI" pitchFamily="34" charset="-122"/>
                <a:cs typeface="Segoe UI" pitchFamily="34" charset="-120"/>
              </a:rPr>
              <a:t>Fewer than 3 of 10 facility managers rank this in their top operational problems.</a:t>
            </a:r>
            <a:endParaRPr lang="en-US" sz="950" dirty="0"/>
          </a:p>
          <a:p>
            <a:pPr marL="342900" indent="-342900">
              <a:lnSpc>
                <a:spcPct val="110000"/>
              </a:lnSpc>
              <a:spcAft>
                <a:spcPts val="400"/>
              </a:spcAft>
              <a:buSzPct val="100000"/>
              <a:buChar char="•"/>
            </a:pPr>
            <a:r>
              <a:rPr lang="en-US" sz="950" dirty="0">
                <a:solidFill>
                  <a:srgbClr val="CFE2E1"/>
                </a:solidFill>
                <a:latin typeface="Segoe UI" pitchFamily="34" charset="0"/>
                <a:ea typeface="Segoe UI" pitchFamily="34" charset="-122"/>
                <a:cs typeface="Segoe UI" pitchFamily="34" charset="-120"/>
              </a:rPr>
              <a:t>No facility grants access to its real workflow, or users return to WhatsApp after the pilot.</a:t>
            </a:r>
            <a:endParaRPr lang="en-US" sz="950" dirty="0"/>
          </a:p>
          <a:p>
            <a:pPr marL="342900" indent="-342900">
              <a:lnSpc>
                <a:spcPct val="110000"/>
              </a:lnSpc>
              <a:spcAft>
                <a:spcPts val="400"/>
              </a:spcAft>
              <a:buSzPct val="100000"/>
              <a:buChar char="•"/>
            </a:pPr>
            <a:r>
              <a:rPr lang="en-US" sz="950" dirty="0">
                <a:solidFill>
                  <a:srgbClr val="CFE2E1"/>
                </a:solidFill>
                <a:latin typeface="Segoe UI" pitchFamily="34" charset="0"/>
                <a:ea typeface="Segoe UI" pitchFamily="34" charset="-122"/>
                <a:cs typeface="Segoe UI" pitchFamily="34" charset="-120"/>
              </a:rPr>
              <a:t>Pilots will not convert to a paid annual contract by the agreed decision date.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15</a:t>
            </a:r>
            <a:endParaRPr lang="en-US" sz="850" dirty="0"/>
          </a:p>
        </p:txBody>
      </p:sp>
      <p:sp>
        <p:nvSpPr>
          <p:cNvPr id="15" name="Text 13"/>
          <p:cNvSpPr/>
          <p:nvPr/>
        </p:nvSpPr>
        <p:spPr>
          <a:xfrm>
            <a:off x="777240" y="475488"/>
            <a:ext cx="8229600" cy="237744"/>
          </a:xfrm>
          <a:prstGeom prst="rect">
            <a:avLst/>
          </a:prstGeom>
          <a:noFill/>
          <a:ln/>
        </p:spPr>
        <p:txBody>
          <a:bodyPr wrap="square" rtlCol="0" anchor="ctr"/>
          <a:lstStyle/>
          <a:p>
            <a:pPr indent="0" marL="0">
              <a:buNone/>
            </a:pPr>
            <a:r>
              <a:rPr lang="en-US" sz="950" b="1" spc="170" kern="0" dirty="0">
                <a:solidFill>
                  <a:srgbClr val="8FE0D2"/>
                </a:solidFill>
                <a:latin typeface="Segoe UI" pitchFamily="34" charset="0"/>
                <a:ea typeface="Segoe UI" pitchFamily="34" charset="-122"/>
                <a:cs typeface="Segoe UI" pitchFamily="34" charset="-120"/>
              </a:rPr>
              <a:t>FUTURE SCOPE</a:t>
            </a:r>
            <a:endParaRPr lang="en-US" sz="950" dirty="0"/>
          </a:p>
        </p:txBody>
      </p:sp>
      <p:sp>
        <p:nvSpPr>
          <p:cNvPr id="16" name="Text 14"/>
          <p:cNvSpPr/>
          <p:nvPr/>
        </p:nvSpPr>
        <p:spPr>
          <a:xfrm>
            <a:off x="777240" y="749808"/>
            <a:ext cx="9875520" cy="960120"/>
          </a:xfrm>
          <a:prstGeom prst="rect">
            <a:avLst/>
          </a:prstGeom>
          <a:noFill/>
          <a:ln/>
        </p:spPr>
        <p:txBody>
          <a:bodyPr wrap="square" rtlCol="0" anchor="t"/>
          <a:lstStyle/>
          <a:p>
            <a:pPr indent="0" marL="0">
              <a:lnSpc>
                <a:spcPct val="95000"/>
              </a:lnSpc>
              <a:buNone/>
            </a:pPr>
            <a:r>
              <a:rPr lang="en-US" sz="2700" b="1" dirty="0">
                <a:solidFill>
                  <a:srgbClr val="FFFFFF"/>
                </a:solidFill>
                <a:latin typeface="Georgia" pitchFamily="34" charset="0"/>
                <a:ea typeface="Georgia" pitchFamily="34" charset="-122"/>
                <a:cs typeface="Georgia" pitchFamily="34" charset="-120"/>
              </a:rPr>
              <a:t>Where this goes — gated by evidence, not enthusiasm</a:t>
            </a:r>
            <a:endParaRPr lang="en-US" sz="2700" dirty="0"/>
          </a:p>
        </p:txBody>
      </p:sp>
      <p:sp>
        <p:nvSpPr>
          <p:cNvPr id="18" name="Text 15"/>
          <p:cNvSpPr/>
          <p:nvPr/>
        </p:nvSpPr>
        <p:spPr>
          <a:xfrm>
            <a:off x="777240" y="1801368"/>
            <a:ext cx="1234440" cy="256032"/>
          </a:xfrm>
          <a:prstGeom prst="rect">
            <a:avLst/>
          </a:prstGeom>
          <a:noFill/>
          <a:ln/>
        </p:spPr>
        <p:txBody>
          <a:bodyPr wrap="square" rtlCol="0" anchor="ctr"/>
          <a:lstStyle/>
          <a:p>
            <a:pPr indent="0" marL="0">
              <a:buNone/>
            </a:pPr>
            <a:r>
              <a:rPr lang="en-US" sz="950" b="1" dirty="0">
                <a:solidFill>
                  <a:srgbClr val="8FE0D2"/>
                </a:solidFill>
                <a:latin typeface="Segoe UI" pitchFamily="34" charset="0"/>
                <a:ea typeface="Segoe UI" pitchFamily="34" charset="-122"/>
                <a:cs typeface="Segoe UI" pitchFamily="34" charset="-120"/>
              </a:rPr>
              <a:t>2026–27</a:t>
            </a:r>
            <a:endParaRPr lang="en-US" sz="950" dirty="0"/>
          </a:p>
        </p:txBody>
      </p:sp>
      <p:sp>
        <p:nvSpPr>
          <p:cNvPr id="19" name="Text 16"/>
          <p:cNvSpPr/>
          <p:nvPr/>
        </p:nvSpPr>
        <p:spPr>
          <a:xfrm>
            <a:off x="2103120" y="1801368"/>
            <a:ext cx="2651760" cy="256032"/>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Real connectors</a:t>
            </a:r>
            <a:endParaRPr lang="en-US" sz="1000" dirty="0"/>
          </a:p>
        </p:txBody>
      </p:sp>
      <p:sp>
        <p:nvSpPr>
          <p:cNvPr id="20" name="Text 17"/>
          <p:cNvSpPr/>
          <p:nvPr/>
        </p:nvSpPr>
        <p:spPr>
          <a:xfrm>
            <a:off x="4846320" y="1783080"/>
            <a:ext cx="6537960" cy="713232"/>
          </a:xfrm>
          <a:prstGeom prst="rect">
            <a:avLst/>
          </a:prstGeom>
          <a:noFill/>
          <a:ln/>
        </p:spPr>
        <p:txBody>
          <a:bodyPr wrap="square" rtlCol="0" anchor="t"/>
          <a:lstStyle/>
          <a:p>
            <a:pPr indent="0" marL="0">
              <a:lnSpc>
                <a:spcPct val="110000"/>
              </a:lnSpc>
              <a:buNone/>
            </a:pPr>
            <a:r>
              <a:rPr lang="en-US" sz="900" dirty="0">
                <a:solidFill>
                  <a:srgbClr val="8FB6B8"/>
                </a:solidFill>
                <a:latin typeface="Segoe UI" pitchFamily="34" charset="0"/>
                <a:ea typeface="Segoe UI" pitchFamily="34" charset="-122"/>
                <a:cs typeface="Segoe UI" pitchFamily="34" charset="-120"/>
              </a:rPr>
              <a:t>A CMMS or finance register against its documented sandbox API, email delivery, incident photo evidence in object storage, cost allocation exports.</a:t>
            </a:r>
            <a:endParaRPr lang="en-US" sz="900" dirty="0"/>
          </a:p>
        </p:txBody>
      </p:sp>
      <p:sp>
        <p:nvSpPr>
          <p:cNvPr id="21" name="Text 18"/>
          <p:cNvSpPr/>
          <p:nvPr/>
        </p:nvSpPr>
        <p:spPr>
          <a:xfrm>
            <a:off x="777240" y="2660904"/>
            <a:ext cx="1234440" cy="256032"/>
          </a:xfrm>
          <a:prstGeom prst="rect">
            <a:avLst/>
          </a:prstGeom>
          <a:noFill/>
          <a:ln/>
        </p:spPr>
        <p:txBody>
          <a:bodyPr wrap="square" rtlCol="0" anchor="ctr"/>
          <a:lstStyle/>
          <a:p>
            <a:pPr indent="0" marL="0">
              <a:buNone/>
            </a:pPr>
            <a:r>
              <a:rPr lang="en-US" sz="950" b="1" dirty="0">
                <a:solidFill>
                  <a:srgbClr val="8FE0D2"/>
                </a:solidFill>
                <a:latin typeface="Segoe UI" pitchFamily="34" charset="0"/>
                <a:ea typeface="Segoe UI" pitchFamily="34" charset="-122"/>
                <a:cs typeface="Segoe UI" pitchFamily="34" charset="-120"/>
              </a:rPr>
              <a:t>2027</a:t>
            </a:r>
            <a:endParaRPr lang="en-US" sz="950" dirty="0"/>
          </a:p>
        </p:txBody>
      </p:sp>
      <p:sp>
        <p:nvSpPr>
          <p:cNvPr id="22" name="Text 19"/>
          <p:cNvSpPr/>
          <p:nvPr/>
        </p:nvSpPr>
        <p:spPr>
          <a:xfrm>
            <a:off x="2103120" y="2660904"/>
            <a:ext cx="2651760" cy="256032"/>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Forecasting, with data</a:t>
            </a:r>
            <a:endParaRPr lang="en-US" sz="1000" dirty="0"/>
          </a:p>
        </p:txBody>
      </p:sp>
      <p:sp>
        <p:nvSpPr>
          <p:cNvPr id="23" name="Text 20"/>
          <p:cNvSpPr/>
          <p:nvPr/>
        </p:nvSpPr>
        <p:spPr>
          <a:xfrm>
            <a:off x="4846320" y="2642616"/>
            <a:ext cx="6537960" cy="713232"/>
          </a:xfrm>
          <a:prstGeom prst="rect">
            <a:avLst/>
          </a:prstGeom>
          <a:noFill/>
          <a:ln/>
        </p:spPr>
        <p:txBody>
          <a:bodyPr wrap="square" rtlCol="0" anchor="t"/>
          <a:lstStyle/>
          <a:p>
            <a:pPr indent="0" marL="0">
              <a:lnSpc>
                <a:spcPct val="110000"/>
              </a:lnSpc>
              <a:buNone/>
            </a:pPr>
            <a:r>
              <a:rPr lang="en-US" sz="900" dirty="0">
                <a:solidFill>
                  <a:srgbClr val="8FB6B8"/>
                </a:solidFill>
                <a:latin typeface="Segoe UI" pitchFamily="34" charset="0"/>
                <a:ea typeface="Segoe UI" pitchFamily="34" charset="-122"/>
                <a:cs typeface="Segoe UI" pitchFamily="34" charset="-120"/>
              </a:rPr>
              <a:t>Demand and no-show forecasting once a tenant has 12+ months of clean history. Classical models first; no deep learning, no decisions taken by the model.</a:t>
            </a:r>
            <a:endParaRPr lang="en-US" sz="900" dirty="0"/>
          </a:p>
        </p:txBody>
      </p:sp>
      <p:sp>
        <p:nvSpPr>
          <p:cNvPr id="24" name="Text 21"/>
          <p:cNvSpPr/>
          <p:nvPr/>
        </p:nvSpPr>
        <p:spPr>
          <a:xfrm>
            <a:off x="777240" y="3520440"/>
            <a:ext cx="1234440" cy="256032"/>
          </a:xfrm>
          <a:prstGeom prst="rect">
            <a:avLst/>
          </a:prstGeom>
          <a:noFill/>
          <a:ln/>
        </p:spPr>
        <p:txBody>
          <a:bodyPr wrap="square" rtlCol="0" anchor="ctr"/>
          <a:lstStyle/>
          <a:p>
            <a:pPr indent="0" marL="0">
              <a:buNone/>
            </a:pPr>
            <a:r>
              <a:rPr lang="en-US" sz="950" b="1" dirty="0">
                <a:solidFill>
                  <a:srgbClr val="8FE0D2"/>
                </a:solidFill>
                <a:latin typeface="Segoe UI" pitchFamily="34" charset="0"/>
                <a:ea typeface="Segoe UI" pitchFamily="34" charset="-122"/>
                <a:cs typeface="Segoe UI" pitchFamily="34" charset="-120"/>
              </a:rPr>
              <a:t>2028</a:t>
            </a:r>
            <a:endParaRPr lang="en-US" sz="950" dirty="0"/>
          </a:p>
        </p:txBody>
      </p:sp>
      <p:sp>
        <p:nvSpPr>
          <p:cNvPr id="25" name="Text 22"/>
          <p:cNvSpPr/>
          <p:nvPr/>
        </p:nvSpPr>
        <p:spPr>
          <a:xfrm>
            <a:off x="2103120" y="3520440"/>
            <a:ext cx="2651760" cy="256032"/>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Read-only telemetry</a:t>
            </a:r>
            <a:endParaRPr lang="en-US" sz="1000" dirty="0"/>
          </a:p>
        </p:txBody>
      </p:sp>
      <p:sp>
        <p:nvSpPr>
          <p:cNvPr id="26" name="Text 23"/>
          <p:cNvSpPr/>
          <p:nvPr/>
        </p:nvSpPr>
        <p:spPr>
          <a:xfrm>
            <a:off x="4846320" y="3502152"/>
            <a:ext cx="6537960" cy="713232"/>
          </a:xfrm>
          <a:prstGeom prst="rect">
            <a:avLst/>
          </a:prstGeom>
          <a:noFill/>
          <a:ln/>
        </p:spPr>
        <p:txBody>
          <a:bodyPr wrap="square" rtlCol="0" anchor="t"/>
          <a:lstStyle/>
          <a:p>
            <a:pPr indent="0" marL="0">
              <a:lnSpc>
                <a:spcPct val="110000"/>
              </a:lnSpc>
              <a:buNone/>
            </a:pPr>
            <a:r>
              <a:rPr lang="en-US" sz="900" dirty="0">
                <a:solidFill>
                  <a:srgbClr val="8FB6B8"/>
                </a:solidFill>
                <a:latin typeface="Segoe UI" pitchFamily="34" charset="0"/>
                <a:ea typeface="Segoe UI" pitchFamily="34" charset="-122"/>
                <a:cs typeface="Segoe UI" pitchFamily="34" charset="-120"/>
              </a:rPr>
              <a:t>Instrument run-hours and error codes ingested for evidence. Read-only by design — never power, locks or interlocks.</a:t>
            </a:r>
            <a:endParaRPr lang="en-US" sz="900" dirty="0"/>
          </a:p>
        </p:txBody>
      </p:sp>
      <p:sp>
        <p:nvSpPr>
          <p:cNvPr id="27" name="Text 24"/>
          <p:cNvSpPr/>
          <p:nvPr/>
        </p:nvSpPr>
        <p:spPr>
          <a:xfrm>
            <a:off x="777240" y="4379976"/>
            <a:ext cx="1234440" cy="256032"/>
          </a:xfrm>
          <a:prstGeom prst="rect">
            <a:avLst/>
          </a:prstGeom>
          <a:noFill/>
          <a:ln/>
        </p:spPr>
        <p:txBody>
          <a:bodyPr wrap="square" rtlCol="0" anchor="ctr"/>
          <a:lstStyle/>
          <a:p>
            <a:pPr indent="0" marL="0">
              <a:buNone/>
            </a:pPr>
            <a:r>
              <a:rPr lang="en-US" sz="950" b="1" dirty="0">
                <a:solidFill>
                  <a:srgbClr val="8FE0D2"/>
                </a:solidFill>
                <a:latin typeface="Segoe UI" pitchFamily="34" charset="0"/>
                <a:ea typeface="Segoe UI" pitchFamily="34" charset="-122"/>
                <a:cs typeface="Segoe UI" pitchFamily="34" charset="-120"/>
              </a:rPr>
              <a:t>2028–29</a:t>
            </a:r>
            <a:endParaRPr lang="en-US" sz="950" dirty="0"/>
          </a:p>
        </p:txBody>
      </p:sp>
      <p:sp>
        <p:nvSpPr>
          <p:cNvPr id="28" name="Text 25"/>
          <p:cNvSpPr/>
          <p:nvPr/>
        </p:nvSpPr>
        <p:spPr>
          <a:xfrm>
            <a:off x="2103120" y="4379976"/>
            <a:ext cx="2651760" cy="256032"/>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Multi-campus sharing</a:t>
            </a:r>
            <a:endParaRPr lang="en-US" sz="1000" dirty="0"/>
          </a:p>
        </p:txBody>
      </p:sp>
      <p:sp>
        <p:nvSpPr>
          <p:cNvPr id="29" name="Text 26"/>
          <p:cNvSpPr/>
          <p:nvPr/>
        </p:nvSpPr>
        <p:spPr>
          <a:xfrm>
            <a:off x="4846320" y="4361688"/>
            <a:ext cx="6537960" cy="713232"/>
          </a:xfrm>
          <a:prstGeom prst="rect">
            <a:avLst/>
          </a:prstGeom>
          <a:noFill/>
          <a:ln/>
        </p:spPr>
        <p:txBody>
          <a:bodyPr wrap="square" rtlCol="0" anchor="t"/>
          <a:lstStyle/>
          <a:p>
            <a:pPr indent="0" marL="0">
              <a:lnSpc>
                <a:spcPct val="110000"/>
              </a:lnSpc>
              <a:buNone/>
            </a:pPr>
            <a:r>
              <a:rPr lang="en-US" sz="900" dirty="0">
                <a:solidFill>
                  <a:srgbClr val="8FB6B8"/>
                </a:solidFill>
                <a:latin typeface="Segoe UI" pitchFamily="34" charset="0"/>
                <a:ea typeface="Segoe UI" pitchFamily="34" charset="-122"/>
                <a:cs typeface="Segoe UI" pitchFamily="34" charset="-120"/>
              </a:rPr>
              <a:t>Explicit sharing permissions, insurer and liability model, then cross-institution booking within a city network.</a:t>
            </a:r>
            <a:endParaRPr lang="en-US" sz="900" dirty="0"/>
          </a:p>
        </p:txBody>
      </p:sp>
      <p:sp>
        <p:nvSpPr>
          <p:cNvPr id="30" name="Text 27"/>
          <p:cNvSpPr/>
          <p:nvPr/>
        </p:nvSpPr>
        <p:spPr>
          <a:xfrm>
            <a:off x="777240" y="5239512"/>
            <a:ext cx="1234440" cy="256032"/>
          </a:xfrm>
          <a:prstGeom prst="rect">
            <a:avLst/>
          </a:prstGeom>
          <a:noFill/>
          <a:ln/>
        </p:spPr>
        <p:txBody>
          <a:bodyPr wrap="square" rtlCol="0" anchor="ctr"/>
          <a:lstStyle/>
          <a:p>
            <a:pPr indent="0" marL="0">
              <a:buNone/>
            </a:pPr>
            <a:r>
              <a:rPr lang="en-US" sz="950" b="1" dirty="0">
                <a:solidFill>
                  <a:srgbClr val="8FE0D2"/>
                </a:solidFill>
                <a:latin typeface="Segoe UI" pitchFamily="34" charset="0"/>
                <a:ea typeface="Segoe UI" pitchFamily="34" charset="-122"/>
                <a:cs typeface="Segoe UI" pitchFamily="34" charset="-120"/>
              </a:rPr>
              <a:t>2029–30</a:t>
            </a:r>
            <a:endParaRPr lang="en-US" sz="950" dirty="0"/>
          </a:p>
        </p:txBody>
      </p:sp>
      <p:sp>
        <p:nvSpPr>
          <p:cNvPr id="31" name="Text 28"/>
          <p:cNvSpPr/>
          <p:nvPr/>
        </p:nvSpPr>
        <p:spPr>
          <a:xfrm>
            <a:off x="2103120" y="5239512"/>
            <a:ext cx="2651760" cy="256032"/>
          </a:xfrm>
          <a:prstGeom prst="rect">
            <a:avLst/>
          </a:prstGeom>
          <a:noFill/>
          <a:ln/>
        </p:spPr>
        <p:txBody>
          <a:bodyPr wrap="square" rtlCol="0" anchor="ctr"/>
          <a:lstStyle/>
          <a:p>
            <a:pPr indent="0" marL="0">
              <a:buNone/>
            </a:pPr>
            <a:r>
              <a:rPr lang="en-US" sz="1000" b="1" dirty="0">
                <a:solidFill>
                  <a:srgbClr val="FFFFFF"/>
                </a:solidFill>
                <a:latin typeface="Segoe UI" pitchFamily="34" charset="0"/>
                <a:ea typeface="Segoe UI" pitchFamily="34" charset="-122"/>
                <a:cs typeface="Segoe UI" pitchFamily="34" charset="-120"/>
              </a:rPr>
              <a:t>Institutional infrastructure</a:t>
            </a:r>
            <a:endParaRPr lang="en-US" sz="1000" dirty="0"/>
          </a:p>
        </p:txBody>
      </p:sp>
      <p:sp>
        <p:nvSpPr>
          <p:cNvPr id="32" name="Text 29"/>
          <p:cNvSpPr/>
          <p:nvPr/>
        </p:nvSpPr>
        <p:spPr>
          <a:xfrm>
            <a:off x="4846320" y="5221224"/>
            <a:ext cx="6537960" cy="713232"/>
          </a:xfrm>
          <a:prstGeom prst="rect">
            <a:avLst/>
          </a:prstGeom>
          <a:noFill/>
          <a:ln/>
        </p:spPr>
        <p:txBody>
          <a:bodyPr wrap="square" rtlCol="0" anchor="t"/>
          <a:lstStyle/>
          <a:p>
            <a:pPr indent="0" marL="0">
              <a:lnSpc>
                <a:spcPct val="110000"/>
              </a:lnSpc>
              <a:buNone/>
            </a:pPr>
            <a:r>
              <a:rPr lang="en-US" sz="900" dirty="0">
                <a:solidFill>
                  <a:srgbClr val="8FB6B8"/>
                </a:solidFill>
                <a:latin typeface="Segoe UI" pitchFamily="34" charset="0"/>
                <a:ea typeface="Segoe UI" pitchFamily="34" charset="-122"/>
                <a:cs typeface="Segoe UI" pitchFamily="34" charset="-120"/>
              </a:rPr>
              <a:t>Grant-utilisation and audit packs, DPDP retention tooling, public API for integrators, Tamil and Hindi interfaces.</a:t>
            </a:r>
            <a:endParaRPr lang="en-US" sz="900" dirty="0"/>
          </a:p>
        </p:txBody>
      </p:sp>
      <p:sp>
        <p:nvSpPr>
          <p:cNvPr id="33" name="Text 30"/>
          <p:cNvSpPr/>
          <p:nvPr/>
        </p:nvSpPr>
        <p:spPr>
          <a:xfrm>
            <a:off x="777240" y="6035040"/>
            <a:ext cx="10637215" cy="292608"/>
          </a:xfrm>
          <a:prstGeom prst="rect">
            <a:avLst/>
          </a:prstGeom>
          <a:noFill/>
          <a:ln/>
        </p:spPr>
        <p:txBody>
          <a:bodyPr wrap="square" rtlCol="0" anchor="ctr"/>
          <a:lstStyle/>
          <a:p>
            <a:pPr indent="0" marL="0">
              <a:buNone/>
            </a:pPr>
            <a:r>
              <a:rPr lang="en-US" sz="950" i="1" dirty="0">
                <a:solidFill>
                  <a:srgbClr val="CFE2E1"/>
                </a:solidFill>
                <a:latin typeface="Segoe UI" pitchFamily="34" charset="0"/>
                <a:ea typeface="Segoe UI" pitchFamily="34" charset="-122"/>
                <a:cs typeface="Segoe UI" pitchFamily="34" charset="-120"/>
              </a:rPr>
              <a:t>Each step is gated by the previous one — and every gate is a measurement, not a date.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3A3F"/>
        </a:solidFill>
      </p:bgPr>
    </p:bg>
    <p:spTree>
      <p:nvGrpSpPr>
        <p:cNvPr id="1" name=""/>
        <p:cNvGrpSpPr/>
        <p:nvPr/>
      </p:nvGrpSpPr>
      <p:grpSpPr>
        <a:xfrm>
          <a:off x="0" y="0"/>
          <a:ext cx="0" cy="0"/>
          <a:chOff x="0" y="0"/>
          <a:chExt cx="0" cy="0"/>
        </a:xfrm>
      </p:grpSpPr>
      <p:sp>
        <p:nvSpPr>
          <p:cNvPr id="2" name="Shape 0"/>
          <p:cNvSpPr/>
          <p:nvPr/>
        </p:nvSpPr>
        <p:spPr>
          <a:xfrm>
            <a:off x="8641080" y="-2377440"/>
            <a:ext cx="5669280" cy="5669280"/>
          </a:xfrm>
          <a:prstGeom prst="ellipse">
            <a:avLst/>
          </a:prstGeom>
          <a:solidFill>
            <a:srgbClr val="0F474D"/>
          </a:solidFill>
          <a:ln w="13970">
            <a:solidFill>
              <a:srgbClr val="17565B"/>
            </a:solidFill>
            <a:prstDash val="solid"/>
          </a:ln>
        </p:spPr>
      </p:sp>
      <p:sp>
        <p:nvSpPr>
          <p:cNvPr id="3" name="Shape 1"/>
          <p:cNvSpPr/>
          <p:nvPr/>
        </p:nvSpPr>
        <p:spPr>
          <a:xfrm>
            <a:off x="9235440" y="-1783080"/>
            <a:ext cx="4480560" cy="4480560"/>
          </a:xfrm>
          <a:prstGeom prst="ellipse">
            <a:avLst/>
          </a:prstGeom>
          <a:solidFill>
            <a:srgbClr val="0F474D"/>
          </a:solidFill>
          <a:ln w="13970">
            <a:solidFill>
              <a:srgbClr val="17565B"/>
            </a:solidFill>
            <a:prstDash val="solid"/>
          </a:ln>
        </p:spPr>
      </p:sp>
      <p:sp>
        <p:nvSpPr>
          <p:cNvPr id="4" name="Shape 2"/>
          <p:cNvSpPr/>
          <p:nvPr/>
        </p:nvSpPr>
        <p:spPr>
          <a:xfrm>
            <a:off x="9784080" y="-1234440"/>
            <a:ext cx="3383280" cy="3383280"/>
          </a:xfrm>
          <a:prstGeom prst="ellipse">
            <a:avLst/>
          </a:prstGeom>
          <a:solidFill>
            <a:srgbClr val="0F474D"/>
          </a:solidFill>
          <a:ln w="13970">
            <a:solidFill>
              <a:srgbClr val="17565B"/>
            </a:solidFill>
            <a:prstDash val="solid"/>
          </a:ln>
        </p:spPr>
      </p:sp>
      <p:sp>
        <p:nvSpPr>
          <p:cNvPr id="5" name="Shape 3"/>
          <p:cNvSpPr/>
          <p:nvPr/>
        </p:nvSpPr>
        <p:spPr>
          <a:xfrm>
            <a:off x="10287000" y="-731520"/>
            <a:ext cx="2377440" cy="2377440"/>
          </a:xfrm>
          <a:prstGeom prst="ellipse">
            <a:avLst/>
          </a:prstGeom>
          <a:solidFill>
            <a:srgbClr val="0F474D"/>
          </a:solidFill>
          <a:ln w="13970">
            <a:solidFill>
              <a:srgbClr val="17565B"/>
            </a:solidFill>
            <a:prstDash val="solid"/>
          </a:ln>
        </p:spPr>
      </p:sp>
      <p:sp>
        <p:nvSpPr>
          <p:cNvPr id="6" name="Shape 4"/>
          <p:cNvSpPr/>
          <p:nvPr/>
        </p:nvSpPr>
        <p:spPr>
          <a:xfrm>
            <a:off x="10744200" y="-274320"/>
            <a:ext cx="1463040" cy="1463040"/>
          </a:xfrm>
          <a:prstGeom prst="ellipse">
            <a:avLst/>
          </a:prstGeom>
          <a:solidFill>
            <a:srgbClr val="0F474D"/>
          </a:solidFill>
          <a:ln w="13970">
            <a:solidFill>
              <a:srgbClr val="17565B"/>
            </a:solidFill>
            <a:prstDash val="solid"/>
          </a:ln>
        </p:spPr>
      </p:sp>
      <p:sp>
        <p:nvSpPr>
          <p:cNvPr id="7" name="Shape 5"/>
          <p:cNvSpPr/>
          <p:nvPr/>
        </p:nvSpPr>
        <p:spPr>
          <a:xfrm>
            <a:off x="11237976" y="219456"/>
            <a:ext cx="475488" cy="475488"/>
          </a:xfrm>
          <a:prstGeom prst="ellipse">
            <a:avLst/>
          </a:prstGeom>
          <a:solidFill>
            <a:srgbClr val="17565B"/>
          </a:solidFill>
          <a:ln w="6350">
            <a:solidFill>
              <a:srgbClr val="17565B"/>
            </a:solidFill>
            <a:prstDash val="solid"/>
          </a:ln>
        </p:spPr>
      </p:sp>
      <p:sp>
        <p:nvSpPr>
          <p:cNvPr id="8" name="Shape 6"/>
          <p:cNvSpPr/>
          <p:nvPr/>
        </p:nvSpPr>
        <p:spPr>
          <a:xfrm>
            <a:off x="-3474720" y="4069080"/>
            <a:ext cx="6035040" cy="6035040"/>
          </a:xfrm>
          <a:prstGeom prst="ellipse">
            <a:avLst/>
          </a:prstGeom>
          <a:solidFill>
            <a:srgbClr val="0F474D"/>
          </a:solidFill>
          <a:ln w="13970">
            <a:solidFill>
              <a:srgbClr val="17565B"/>
            </a:solidFill>
            <a:prstDash val="solid"/>
          </a:ln>
        </p:spPr>
      </p:sp>
      <p:sp>
        <p:nvSpPr>
          <p:cNvPr id="9" name="Shape 7"/>
          <p:cNvSpPr/>
          <p:nvPr/>
        </p:nvSpPr>
        <p:spPr>
          <a:xfrm>
            <a:off x="-2834640" y="4709160"/>
            <a:ext cx="4754880" cy="4754880"/>
          </a:xfrm>
          <a:prstGeom prst="ellipse">
            <a:avLst/>
          </a:prstGeom>
          <a:solidFill>
            <a:srgbClr val="0F474D"/>
          </a:solidFill>
          <a:ln w="13970">
            <a:solidFill>
              <a:srgbClr val="17565B"/>
            </a:solidFill>
            <a:prstDash val="solid"/>
          </a:ln>
        </p:spPr>
      </p:sp>
      <p:sp>
        <p:nvSpPr>
          <p:cNvPr id="10" name="Shape 8"/>
          <p:cNvSpPr/>
          <p:nvPr/>
        </p:nvSpPr>
        <p:spPr>
          <a:xfrm>
            <a:off x="-2240280" y="5303520"/>
            <a:ext cx="3566160" cy="3566160"/>
          </a:xfrm>
          <a:prstGeom prst="ellipse">
            <a:avLst/>
          </a:prstGeom>
          <a:solidFill>
            <a:srgbClr val="0F474D"/>
          </a:solidFill>
          <a:ln w="13970">
            <a:solidFill>
              <a:srgbClr val="17565B"/>
            </a:solidFill>
            <a:prstDash val="solid"/>
          </a:ln>
        </p:spPr>
      </p:sp>
      <p:sp>
        <p:nvSpPr>
          <p:cNvPr id="11" name="Shape 9"/>
          <p:cNvSpPr/>
          <p:nvPr/>
        </p:nvSpPr>
        <p:spPr>
          <a:xfrm>
            <a:off x="-1691640" y="5852160"/>
            <a:ext cx="2468880" cy="2468880"/>
          </a:xfrm>
          <a:prstGeom prst="ellipse">
            <a:avLst/>
          </a:prstGeom>
          <a:solidFill>
            <a:srgbClr val="0F474D"/>
          </a:solidFill>
          <a:ln w="13970">
            <a:solidFill>
              <a:srgbClr val="17565B"/>
            </a:solidFill>
            <a:prstDash val="solid"/>
          </a:ln>
        </p:spPr>
      </p:sp>
      <p:sp>
        <p:nvSpPr>
          <p:cNvPr id="12" name="Shape 10"/>
          <p:cNvSpPr/>
          <p:nvPr/>
        </p:nvSpPr>
        <p:spPr>
          <a:xfrm>
            <a:off x="-694944" y="6848856"/>
            <a:ext cx="475488" cy="475488"/>
          </a:xfrm>
          <a:prstGeom prst="ellipse">
            <a:avLst/>
          </a:prstGeom>
          <a:solidFill>
            <a:srgbClr val="17565B"/>
          </a:solidFill>
          <a:ln w="6350">
            <a:solidFill>
              <a:srgbClr val="17565B"/>
            </a:solidFill>
            <a:prstDash val="solid"/>
          </a:ln>
        </p:spPr>
      </p:sp>
      <p:sp>
        <p:nvSpPr>
          <p:cNvPr id="13" name="Text 11"/>
          <p:cNvSpPr/>
          <p:nvPr/>
        </p:nvSpPr>
        <p:spPr>
          <a:xfrm>
            <a:off x="777240" y="6419088"/>
            <a:ext cx="6400800" cy="219456"/>
          </a:xfrm>
          <a:prstGeom prst="rect">
            <a:avLst/>
          </a:prstGeom>
          <a:noFill/>
          <a:ln/>
        </p:spPr>
        <p:txBody>
          <a:bodyPr wrap="square" rtlCol="0" anchor="ctr"/>
          <a:lstStyle/>
          <a:p>
            <a:pPr indent="0" marL="0">
              <a:buNone/>
            </a:pPr>
            <a:r>
              <a:rPr lang="en-US" sz="850" dirty="0">
                <a:solidFill>
                  <a:srgbClr val="5FA9A0"/>
                </a:solidFill>
                <a:latin typeface="Segoe UI" pitchFamily="34" charset="0"/>
                <a:ea typeface="Segoe UI" pitchFamily="34" charset="-122"/>
                <a:cs typeface="Segoe UI" pitchFamily="34" charset="-120"/>
              </a:rPr>
              <a:t>Vijesh S · Nisha M · Sanjay S   ·   ResourceOS</a:t>
            </a:r>
            <a:endParaRPr lang="en-US" sz="850" dirty="0"/>
          </a:p>
        </p:txBody>
      </p:sp>
      <p:sp>
        <p:nvSpPr>
          <p:cNvPr id="14" name="Text 12"/>
          <p:cNvSpPr/>
          <p:nvPr/>
        </p:nvSpPr>
        <p:spPr>
          <a:xfrm>
            <a:off x="10865815" y="6419088"/>
            <a:ext cx="548640" cy="219456"/>
          </a:xfrm>
          <a:prstGeom prst="rect">
            <a:avLst/>
          </a:prstGeom>
          <a:noFill/>
          <a:ln/>
        </p:spPr>
        <p:txBody>
          <a:bodyPr wrap="square" rtlCol="0" anchor="ctr"/>
          <a:lstStyle/>
          <a:p>
            <a:pPr algn="r" indent="0" marL="0">
              <a:buNone/>
            </a:pPr>
            <a:r>
              <a:rPr lang="en-US" sz="850" dirty="0">
                <a:solidFill>
                  <a:srgbClr val="5FA9A0"/>
                </a:solidFill>
                <a:latin typeface="Segoe UI" pitchFamily="34" charset="0"/>
                <a:ea typeface="Segoe UI" pitchFamily="34" charset="-122"/>
                <a:cs typeface="Segoe UI" pitchFamily="34" charset="-120"/>
              </a:rPr>
              <a:t>16</a:t>
            </a:r>
            <a:endParaRPr lang="en-US" sz="850" dirty="0"/>
          </a:p>
        </p:txBody>
      </p:sp>
      <p:sp>
        <p:nvSpPr>
          <p:cNvPr id="15" name="Text 13"/>
          <p:cNvSpPr/>
          <p:nvPr/>
        </p:nvSpPr>
        <p:spPr>
          <a:xfrm>
            <a:off x="777240" y="1051560"/>
            <a:ext cx="8229600" cy="256032"/>
          </a:xfrm>
          <a:prstGeom prst="rect">
            <a:avLst/>
          </a:prstGeom>
          <a:noFill/>
          <a:ln/>
        </p:spPr>
        <p:txBody>
          <a:bodyPr wrap="square" rtlCol="0" anchor="ctr"/>
          <a:lstStyle/>
          <a:p>
            <a:pPr indent="0" marL="0">
              <a:buNone/>
            </a:pPr>
            <a:r>
              <a:rPr lang="en-US" sz="950" b="1" spc="180" kern="0" dirty="0">
                <a:solidFill>
                  <a:srgbClr val="8FE0D2"/>
                </a:solidFill>
                <a:latin typeface="Segoe UI" pitchFamily="34" charset="0"/>
                <a:ea typeface="Segoe UI" pitchFamily="34" charset="-122"/>
                <a:cs typeface="Segoe UI" pitchFamily="34" charset="-120"/>
              </a:rPr>
              <a:t>THE LINE TO REMEMBER</a:t>
            </a:r>
            <a:endParaRPr lang="en-US" sz="950" dirty="0"/>
          </a:p>
        </p:txBody>
      </p:sp>
      <p:sp>
        <p:nvSpPr>
          <p:cNvPr id="16" name="Text 14"/>
          <p:cNvSpPr/>
          <p:nvPr/>
        </p:nvSpPr>
        <p:spPr>
          <a:xfrm>
            <a:off x="777240" y="1417320"/>
            <a:ext cx="7955280" cy="2103120"/>
          </a:xfrm>
          <a:prstGeom prst="rect">
            <a:avLst/>
          </a:prstGeom>
          <a:noFill/>
          <a:ln/>
        </p:spPr>
        <p:txBody>
          <a:bodyPr wrap="square" rtlCol="0" anchor="t"/>
          <a:lstStyle/>
          <a:p>
            <a:pPr indent="0" marL="0">
              <a:lnSpc>
                <a:spcPct val="106000"/>
              </a:lnSpc>
              <a:buNone/>
            </a:pPr>
            <a:r>
              <a:rPr lang="en-US" sz="2300" b="1" dirty="0">
                <a:solidFill>
                  <a:srgbClr val="FFFFFF"/>
                </a:solidFill>
                <a:latin typeface="Georgia" pitchFamily="34" charset="0"/>
                <a:ea typeface="Georgia" pitchFamily="34" charset="-122"/>
                <a:cs typeface="Georgia" pitchFamily="34" charset="-120"/>
              </a:rPr>
              <a:t>ResourceOS can prove who used a ₹1.1 crore instrument, what it cost to keep alive, and why a named human decided to replace it — and it refuses to sign that page without the evidence.</a:t>
            </a:r>
            <a:endParaRPr lang="en-US" sz="2300" dirty="0"/>
          </a:p>
        </p:txBody>
      </p:sp>
      <p:sp>
        <p:nvSpPr>
          <p:cNvPr id="17" name="Shape 15"/>
          <p:cNvSpPr/>
          <p:nvPr/>
        </p:nvSpPr>
        <p:spPr>
          <a:xfrm>
            <a:off x="777240" y="3611880"/>
            <a:ext cx="3048000" cy="1097280"/>
          </a:xfrm>
          <a:prstGeom prst="roundRect">
            <a:avLst>
              <a:gd name="adj" fmla="val 3333"/>
            </a:avLst>
          </a:prstGeom>
          <a:solidFill>
            <a:srgbClr val="0A3135"/>
          </a:solidFill>
          <a:ln w="12700">
            <a:solidFill>
              <a:srgbClr val="5FA9A0"/>
            </a:solidFill>
            <a:prstDash val="solid"/>
          </a:ln>
        </p:spPr>
      </p:sp>
      <p:sp>
        <p:nvSpPr>
          <p:cNvPr id="18" name="Text 16"/>
          <p:cNvSpPr/>
          <p:nvPr/>
        </p:nvSpPr>
        <p:spPr>
          <a:xfrm>
            <a:off x="978408" y="3749040"/>
            <a:ext cx="2645664" cy="256032"/>
          </a:xfrm>
          <a:prstGeom prst="rect">
            <a:avLst/>
          </a:prstGeom>
          <a:noFill/>
          <a:ln/>
        </p:spPr>
        <p:txBody>
          <a:bodyPr wrap="square"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No vendor connector is claimed</a:t>
            </a:r>
            <a:endParaRPr lang="en-US" sz="1000" dirty="0"/>
          </a:p>
        </p:txBody>
      </p:sp>
      <p:sp>
        <p:nvSpPr>
          <p:cNvPr id="19" name="Text 17"/>
          <p:cNvSpPr/>
          <p:nvPr/>
        </p:nvSpPr>
        <p:spPr>
          <a:xfrm>
            <a:off x="978408" y="4023360"/>
            <a:ext cx="2645664" cy="685800"/>
          </a:xfrm>
          <a:prstGeom prst="rect">
            <a:avLst/>
          </a:prstGeom>
          <a:noFill/>
          <a:ln/>
        </p:spPr>
        <p:txBody>
          <a:bodyPr wrap="square" rtlCol="0" anchor="t"/>
          <a:lstStyle/>
          <a:p>
            <a:pPr indent="0" marL="0">
              <a:lnSpc>
                <a:spcPct val="110000"/>
              </a:lnSpc>
              <a:buNone/>
            </a:pPr>
            <a:r>
              <a:rPr lang="en-US" sz="850" dirty="0">
                <a:solidFill>
                  <a:srgbClr val="8FB6B8"/>
                </a:solidFill>
                <a:latin typeface="Segoe UI" pitchFamily="34" charset="0"/>
                <a:ea typeface="Segoe UI" pitchFamily="34" charset="-122"/>
                <a:cs typeface="Segoe UI" pitchFamily="34" charset="-120"/>
              </a:rPr>
              <a:t>A tested foundation exists; no provider is connected.</a:t>
            </a:r>
            <a:endParaRPr lang="en-US" sz="850" dirty="0"/>
          </a:p>
        </p:txBody>
      </p:sp>
      <p:sp>
        <p:nvSpPr>
          <p:cNvPr id="20" name="Shape 18"/>
          <p:cNvSpPr/>
          <p:nvPr/>
        </p:nvSpPr>
        <p:spPr>
          <a:xfrm>
            <a:off x="4008120" y="3611880"/>
            <a:ext cx="3048000" cy="1097280"/>
          </a:xfrm>
          <a:prstGeom prst="roundRect">
            <a:avLst>
              <a:gd name="adj" fmla="val 3333"/>
            </a:avLst>
          </a:prstGeom>
          <a:solidFill>
            <a:srgbClr val="0A3135"/>
          </a:solidFill>
          <a:ln w="12700">
            <a:solidFill>
              <a:srgbClr val="5FA9A0"/>
            </a:solidFill>
            <a:prstDash val="solid"/>
          </a:ln>
        </p:spPr>
      </p:sp>
      <p:sp>
        <p:nvSpPr>
          <p:cNvPr id="21" name="Text 19"/>
          <p:cNvSpPr/>
          <p:nvPr/>
        </p:nvSpPr>
        <p:spPr>
          <a:xfrm>
            <a:off x="4209288" y="3749040"/>
            <a:ext cx="2645664" cy="256032"/>
          </a:xfrm>
          <a:prstGeom prst="rect">
            <a:avLst/>
          </a:prstGeom>
          <a:noFill/>
          <a:ln/>
        </p:spPr>
        <p:txBody>
          <a:bodyPr wrap="square"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No failure prediction</a:t>
            </a:r>
            <a:endParaRPr lang="en-US" sz="1000" dirty="0"/>
          </a:p>
        </p:txBody>
      </p:sp>
      <p:sp>
        <p:nvSpPr>
          <p:cNvPr id="22" name="Text 20"/>
          <p:cNvSpPr/>
          <p:nvPr/>
        </p:nvSpPr>
        <p:spPr>
          <a:xfrm>
            <a:off x="4209288" y="4023360"/>
            <a:ext cx="2645664" cy="685800"/>
          </a:xfrm>
          <a:prstGeom prst="rect">
            <a:avLst/>
          </a:prstGeom>
          <a:noFill/>
          <a:ln/>
        </p:spPr>
        <p:txBody>
          <a:bodyPr wrap="square" rtlCol="0" anchor="t"/>
          <a:lstStyle/>
          <a:p>
            <a:pPr indent="0" marL="0">
              <a:lnSpc>
                <a:spcPct val="110000"/>
              </a:lnSpc>
              <a:buNone/>
            </a:pPr>
            <a:r>
              <a:rPr lang="en-US" sz="850" dirty="0">
                <a:solidFill>
                  <a:srgbClr val="8FB6B8"/>
                </a:solidFill>
                <a:latin typeface="Segoe UI" pitchFamily="34" charset="0"/>
                <a:ea typeface="Segoe UI" pitchFamily="34" charset="-122"/>
                <a:cs typeface="Segoe UI" pitchFamily="34" charset="-120"/>
              </a:rPr>
              <a:t>We report downtime that happened, not failures we guess.</a:t>
            </a:r>
            <a:endParaRPr lang="en-US" sz="850" dirty="0"/>
          </a:p>
        </p:txBody>
      </p:sp>
      <p:sp>
        <p:nvSpPr>
          <p:cNvPr id="23" name="Shape 21"/>
          <p:cNvSpPr/>
          <p:nvPr/>
        </p:nvSpPr>
        <p:spPr>
          <a:xfrm>
            <a:off x="7239000" y="3611880"/>
            <a:ext cx="3048000" cy="1097280"/>
          </a:xfrm>
          <a:prstGeom prst="roundRect">
            <a:avLst>
              <a:gd name="adj" fmla="val 3333"/>
            </a:avLst>
          </a:prstGeom>
          <a:solidFill>
            <a:srgbClr val="0A3135"/>
          </a:solidFill>
          <a:ln w="12700">
            <a:solidFill>
              <a:srgbClr val="5FA9A0"/>
            </a:solidFill>
            <a:prstDash val="solid"/>
          </a:ln>
        </p:spPr>
      </p:sp>
      <p:sp>
        <p:nvSpPr>
          <p:cNvPr id="24" name="Text 22"/>
          <p:cNvSpPr/>
          <p:nvPr/>
        </p:nvSpPr>
        <p:spPr>
          <a:xfrm>
            <a:off x="7440168" y="3749040"/>
            <a:ext cx="2645664" cy="256032"/>
          </a:xfrm>
          <a:prstGeom prst="rect">
            <a:avLst/>
          </a:prstGeom>
          <a:noFill/>
          <a:ln/>
        </p:spPr>
        <p:txBody>
          <a:bodyPr wrap="square" rtlCol="0" anchor="t"/>
          <a:lstStyle/>
          <a:p>
            <a:pPr indent="0" marL="0">
              <a:buNone/>
            </a:pPr>
            <a:r>
              <a:rPr lang="en-US" sz="1000" b="1" dirty="0">
                <a:solidFill>
                  <a:srgbClr val="FFFFFF"/>
                </a:solidFill>
                <a:latin typeface="Segoe UI" pitchFamily="34" charset="0"/>
                <a:ea typeface="Segoe UI" pitchFamily="34" charset="-122"/>
                <a:cs typeface="Segoe UI" pitchFamily="34" charset="-120"/>
              </a:rPr>
              <a:t>Synthetic demo tenant</a:t>
            </a:r>
            <a:endParaRPr lang="en-US" sz="1000" dirty="0"/>
          </a:p>
        </p:txBody>
      </p:sp>
      <p:sp>
        <p:nvSpPr>
          <p:cNvPr id="25" name="Text 23"/>
          <p:cNvSpPr/>
          <p:nvPr/>
        </p:nvSpPr>
        <p:spPr>
          <a:xfrm>
            <a:off x="7440168" y="4023360"/>
            <a:ext cx="2645664" cy="685800"/>
          </a:xfrm>
          <a:prstGeom prst="rect">
            <a:avLst/>
          </a:prstGeom>
          <a:noFill/>
          <a:ln/>
        </p:spPr>
        <p:txBody>
          <a:bodyPr wrap="square" rtlCol="0" anchor="t"/>
          <a:lstStyle/>
          <a:p>
            <a:pPr indent="0" marL="0">
              <a:lnSpc>
                <a:spcPct val="110000"/>
              </a:lnSpc>
              <a:buNone/>
            </a:pPr>
            <a:r>
              <a:rPr lang="en-US" sz="850" dirty="0">
                <a:solidFill>
                  <a:srgbClr val="8FB6B8"/>
                </a:solidFill>
                <a:latin typeface="Segoe UI" pitchFamily="34" charset="0"/>
                <a:ea typeface="Segoe UI" pitchFamily="34" charset="-122"/>
                <a:cs typeface="Segoe UI" pitchFamily="34" charset="-120"/>
              </a:rPr>
              <a:t>Labelled on every screen. Evidence of workflow, not savings.</a:t>
            </a:r>
            <a:endParaRPr lang="en-US" sz="850" dirty="0"/>
          </a:p>
        </p:txBody>
      </p:sp>
      <p:sp>
        <p:nvSpPr>
          <p:cNvPr id="26" name="Text 24"/>
          <p:cNvSpPr/>
          <p:nvPr/>
        </p:nvSpPr>
        <p:spPr>
          <a:xfrm>
            <a:off x="777240" y="5074920"/>
            <a:ext cx="9509760" cy="320040"/>
          </a:xfrm>
          <a:prstGeom prst="rect">
            <a:avLst/>
          </a:prstGeom>
          <a:noFill/>
          <a:ln/>
        </p:spPr>
        <p:txBody>
          <a:bodyPr wrap="square" rtlCol="0" anchor="ctr"/>
          <a:lstStyle/>
          <a:p>
            <a:pPr indent="0" marL="0">
              <a:buNone/>
            </a:pPr>
            <a:r>
              <a:rPr lang="en-US" sz="1100" b="1" dirty="0">
                <a:solidFill>
                  <a:srgbClr val="8FE0D2"/>
                </a:solidFill>
                <a:latin typeface="Segoe UI" pitchFamily="34" charset="0"/>
                <a:ea typeface="Segoe UI" pitchFamily="34" charset="-122"/>
                <a:cs typeface="Segoe UI" pitchFamily="34" charset="-120"/>
              </a:rPr>
              <a:t>What we need: three pilot facilities in one city, and 90 days of real workflow data.</a:t>
            </a:r>
            <a:endParaRPr lang="en-US" sz="1100" dirty="0"/>
          </a:p>
        </p:txBody>
      </p:sp>
      <p:sp>
        <p:nvSpPr>
          <p:cNvPr id="27" name="Text 25"/>
          <p:cNvSpPr/>
          <p:nvPr/>
        </p:nvSpPr>
        <p:spPr>
          <a:xfrm>
            <a:off x="777240" y="5806440"/>
            <a:ext cx="9144000" cy="274320"/>
          </a:xfrm>
          <a:prstGeom prst="rect">
            <a:avLst/>
          </a:prstGeom>
          <a:noFill/>
          <a:ln/>
        </p:spPr>
        <p:txBody>
          <a:bodyPr wrap="square" rtlCol="0" anchor="ctr"/>
          <a:lstStyle/>
          <a:p>
            <a:pPr indent="0" marL="0">
              <a:buNone/>
            </a:pPr>
            <a:r>
              <a:rPr lang="en-US" sz="1050" b="1" dirty="0">
                <a:solidFill>
                  <a:srgbClr val="CFE2E1"/>
                </a:solidFill>
                <a:latin typeface="Segoe UI" pitchFamily="34" charset="0"/>
                <a:ea typeface="Segoe UI" pitchFamily="34" charset="-122"/>
                <a:cs typeface="Segoe UI" pitchFamily="34" charset="-120"/>
              </a:rPr>
              <a:t>Vijesh S · Nisha M · Sanjay S        CodeHack India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ResourceOS — Equipment Decision OS</dc:title>
  <dc:subject>CodeHack India 2026</dc:subject>
  <dc:creator>Vijesh S, Nisha M, Sanjay S</dc:creator>
  <cp:lastModifiedBy>Vijesh S, Nisha M, Sanjay S</cp:lastModifiedBy>
  <cp:revision>1</cp:revision>
  <dcterms:created xsi:type="dcterms:W3CDTF">2026-10-29T18:15:19Z</dcterms:created>
  <dcterms:modified xsi:type="dcterms:W3CDTF">2026-10-29T18:15:19Z</dcterms:modified>
</cp:coreProperties>
</file>